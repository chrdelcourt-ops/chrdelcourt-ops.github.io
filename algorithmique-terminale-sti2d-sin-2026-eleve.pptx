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Épreuves STI2D à compter de la session 2026, note de service du 10 juin 2025, BO n° 24 du 12 juin 2025. https://www.education.gouv.fr/bo/2025/Hebdo24/MENE2515695N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Mise en situation introductive. Faire formuler oralement la chaîne d'information : acquérir, traiter, communiquer/commander.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Sections 2.4.3 et 4.3.5.</a:t>
            </a:r>
          </a:p>
          <a:p>
            <a:r>
              <a:t>Épreuves STI2D à compter de la session 2026, note de service du 10 juin 2025, BO n° 24 du 12 juin 2025. https://www.education.gouv.fr/bo/2025/Hebdo24/MENE2515695N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Compétence SIN : rechercher et écrire l’algorithme de fonctionnement puis programmer la réponse logicielle.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Correction : ordonnée ; finie ; graphique ; exécutable.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Le programme cite la dualité diagramme d’activités / algorigramme pour simuler un algorithme séquentiel.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A Entrée/Sortie ; B Test ; C Traitement ; D Début/Fin.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Algorithmique : utilisation de variables (type, taille, etc.). Correction : nom, type,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Insister sur la différence entre = (affectation) et == (comparaison), source fréquente d’erreurs en C++ et dans certains pseudo-codes.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comparaison à la liste autorisée introduit en réalité une condition. La diapositive se concentre sur l’enchaînement séquentiel des actions du scénario autorisé.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complète affichée dans la version professeur. Vérifier l’ordre et les temporisations 3 s puis 8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Algorithmique : structures conditionnelles.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condition masse &lt;= 2 ; activer convoyeur_A ; sinon activer convoyeur_B. En Python, ne pas oublier les deux-points et l’indentation.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logique ; ordre ; décisions ; enchaîne ; branche ; nom ; type ; valeur.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Algorithmique : structures itératives et appel de procédures/sous-programmes.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du mot à compléter : répétitions.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Algorithmique : structures itératives. Exemple pédagogique générique, sans procédure de charge réelle.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complète dans la version professeur. Le temps maximal protège le système si l’humidité n’augmente pas ou si la mesure reste bloquée.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lire code ; essais + 1 ; vérifier le code ; jusqu’à code_valide OU essais = 3. En C++, la condition de while exprime la poursuite, donc la négation de codeValide.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Algorithmique : structures itératives et utilisation de variables.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Calcul : somme = 110,0 °C ; moyenne = 22,0 °C. Code : somme = 0 ; parcourir mesures ; somme = somme + mesure ; moyenne = somme / len(mesures).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Algorithmique : appel de procédures/sous-programmes. Correction : temperature, seuil ; temperature &gt;= seuil ; reçues ; produit ; renvoyé.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Conception informationnelle : Python et C++ sont à utiliser.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remplacer &lt; par &gt;= ; ajouter les deux-points après else. Résultat attendu pour 31 °C et seuil 28 °C : Ventilation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25 °C FAUX/OFF ; 28 °C VRAI/ON ; 31 °C VRAI/ON. Le cas limite vérifie l’opérateur &gt;=.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Épreuves STI2D à compter de la session 2026, note de service du 10 juin 2025, BO n° 24 du 12 juin 2025. https://www.education.gouv.fr/bo/2025/Hebdo24/MENE2515695N</a:t>
            </a:r>
          </a:p>
          <a:p>
            <a:r>
              <a:t>Cette activité prépare à la logique de la partie pratique : proposer une solution, simuler/expérimenter, interpréter des résultats et valider un choix technique. Correction complète dans la version professeur.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Correction : indépendante ; opérations ; décisions ; branche ; répètent ; paramètres ; valeur ; logique ; limites.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Réponses : 1 B (FOR) ; 2 B (==) ; 3 B (VRAI/FAUX) ; 4 B (28, valeur limite) ; 5 A (actualiser la condition et éviter une boucle incohérente).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Programme STI2D en vigueur en 2026 : BO spécial n° 1 du 22 janvier 2019. https://eduscol.education.gouv.fr/5856/programmes-et-ressources-en-serie-sti2d</a:t>
            </a:r>
          </a:p>
          <a:p>
            <a:r>
              <a:t>Programme complet : https://eduscol.education.gouv.fr/sites/default/files/document/spe591annexe11063610pdf-84507.pdf</a:t>
            </a:r>
          </a:p>
          <a:p>
            <a:r>
              <a:t>Épreuves STI2D à compter de la session 2026, note de service du 10 juin 2025, BO n° 24 du 12 juin 2025. https://www.education.gouv.fr/bo/2025/Hebdo24/MENE2515695N</a:t>
            </a:r>
          </a:p>
          <a:p>
            <a:r>
              <a:t>Cours reconstruit à partir des fichiers AlgoPartie1.pptx et AlgoPartie2.pptx fournis par l’utilisateur. Logo Marie Rivier conservé depuis les fichiers 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8E46D1C-9831-4FA4-9496-973C95DA88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2C3599-95E5-4715-AEA5-6AD5C978E2A4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95250" cy="6858000"/>
          </a:xfrm>
          <a:prstGeom prst="rect">
            <a:avLst/>
          </a:prstGeom>
          <a:solidFill>
            <a:srgbClr val="82C341"/>
          </a:solidFill>
          <a:ln w="0">
            <a:noFill/>
          </a:ln>
        </p:spPr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10500" y="528306"/>
            <a:ext cx="3571875" cy="791238"/>
          </a:xfrm>
          <a:prstGeom prst="rect">
            <a:avLst/>
          </a:prstGeom>
        </p:spPr>
      </p:pic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A8D99BAE-79E1-486C-A264-00E54F66A20F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2857500" cy="361950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31BB7B-2A57-4E7D-85A6-2FB48128872A}"/>
              </a:ext>
            </a:extLst>
          </p:cNvPr>
          <p:cNvSpPr>
            <a:spLocks noGrp="1"/>
          </p:cNvSpPr>
          <p:nvPr/>
        </p:nvSpPr>
        <p:spPr>
          <a:xfrm>
            <a:off x="666750" y="666750"/>
            <a:ext cx="28575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TERMINALE STI2D / SIN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9055D-3BA6-4D34-BA08-E233CBDE2F52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7239000" cy="1666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4671"/>
          </a:bodyPr>
          <a:lstStyle/>
          <a:p>
            <a:pPr algn="l"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Algorithmique</a:t>
            </a:r>
          </a:p>
          <a:p>
            <a:pPr algn="l">
              <a:def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et programmation embarquée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D66EB1-E3FA-4D88-B86E-2836B52A3791}"/>
              </a:ext>
            </a:extLst>
          </p:cNvPr>
          <p:cNvSpPr>
            <a:spLocks noGrp="1"/>
          </p:cNvSpPr>
          <p:nvPr/>
        </p:nvSpPr>
        <p:spPr>
          <a:xfrm>
            <a:off x="714375" y="3257550"/>
            <a:ext cx="5334000" cy="609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7222"/>
          </a:bodyPr>
          <a:lstStyle/>
          <a:p>
            <a:pPr algn="l">
              <a:defRPr sz="1800" b="1">
                <a:solidFill>
                  <a:srgbClr val="B8D8E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 err="1">
                <a:solidFill>
                  <a:srgbClr val="B8D8E6"/>
                </a:solidFill>
                <a:latin typeface="DejaVu Sans"/>
                <a:ea typeface="DejaVu Sans"/>
                <a:cs typeface="DejaVu Sans"/>
              </a:rPr>
              <a:t>Cours</a:t>
            </a:r>
            <a:endParaRPr sz="1800" b="1" dirty="0">
              <a:solidFill>
                <a:srgbClr val="B8D8E6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800" b="1">
                <a:solidFill>
                  <a:srgbClr val="B8D8E6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 dirty="0">
                <a:solidFill>
                  <a:srgbClr val="B8D8E6"/>
                </a:solidFill>
                <a:latin typeface="DejaVu Sans"/>
                <a:ea typeface="DejaVu Sans"/>
                <a:cs typeface="DejaVu Sans"/>
              </a:rPr>
              <a:t>Parties 1 et 2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EBFEA19-1601-4DE5-9732-9D45A2FFFB21}"/>
              </a:ext>
            </a:extLst>
          </p:cNvPr>
          <p:cNvSpPr>
            <a:spLocks noGrp="1"/>
          </p:cNvSpPr>
          <p:nvPr/>
        </p:nvSpPr>
        <p:spPr>
          <a:xfrm>
            <a:off x="7191375" y="1809750"/>
            <a:ext cx="3905250" cy="3143250"/>
          </a:xfrm>
          <a:prstGeom prst="roundRect">
            <a:avLst>
              <a:gd name="adj" fmla="val 8485"/>
            </a:avLst>
          </a:prstGeom>
          <a:solidFill>
            <a:srgbClr val="0D263B"/>
          </a:solidFill>
          <a:ln w="9525">
            <a:solidFill>
              <a:srgbClr val="28506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E61D01-8EE2-4CA6-A9E0-2BD02C67C5B6}"/>
              </a:ext>
            </a:extLst>
          </p:cNvPr>
          <p:cNvSpPr>
            <a:spLocks noGrp="1"/>
          </p:cNvSpPr>
          <p:nvPr/>
        </p:nvSpPr>
        <p:spPr>
          <a:xfrm>
            <a:off x="7620000" y="2143125"/>
            <a:ext cx="3048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12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CAPTEURS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6CCCC3-8C7B-4959-8CF0-D31EE79CDE7E}"/>
              </a:ext>
            </a:extLst>
          </p:cNvPr>
          <p:cNvSpPr>
            <a:spLocks noGrp="1"/>
          </p:cNvSpPr>
          <p:nvPr/>
        </p:nvSpPr>
        <p:spPr>
          <a:xfrm>
            <a:off x="7477125" y="2857500"/>
            <a:ext cx="3333750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0702"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1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température  →  microcontrôleur  →  ventilation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B617EB-B919-456E-AC79-3C543AE0536E}"/>
              </a:ext>
            </a:extLst>
          </p:cNvPr>
          <p:cNvSpPr>
            <a:spLocks noGrp="1"/>
          </p:cNvSpPr>
          <p:nvPr/>
        </p:nvSpPr>
        <p:spPr>
          <a:xfrm>
            <a:off x="7477125" y="3714750"/>
            <a:ext cx="3333750" cy="762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0">
                <a:solidFill>
                  <a:srgbClr val="DCEAF1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DCEAF1"/>
                </a:solidFill>
                <a:latin typeface="DejaVu Sans"/>
                <a:ea typeface="DejaVu Sans"/>
                <a:cs typeface="DejaVu Sans"/>
              </a:rPr>
              <a:t>Une logique claire, testable et traduisible en Python ou C++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A6B00B-25F4-4698-A2B7-1C50C1DA27EA}"/>
              </a:ext>
            </a:extLst>
          </p:cNvPr>
          <p:cNvSpPr>
            <a:spLocks noGrp="1"/>
          </p:cNvSpPr>
          <p:nvPr/>
        </p:nvSpPr>
        <p:spPr>
          <a:xfrm>
            <a:off x="666750" y="5572125"/>
            <a:ext cx="3143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VERSION ÉLÈVE • À COMPLÉTER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031293-692F-443B-AFE2-A962BD60C8CD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4762500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3750"/>
          </a:bodyPr>
          <a:lstStyle/>
          <a:p>
            <a:pPr algn="l">
              <a:defRPr sz="1200" b="0">
                <a:solidFill>
                  <a:srgbClr val="AEC3CF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EC3CF"/>
                </a:solidFill>
                <a:latin typeface="DejaVu Sans"/>
                <a:ea typeface="DejaVu Sans"/>
                <a:cs typeface="DejaVu Sans"/>
              </a:rPr>
              <a:t>Lycée Marie Rivier • 2026–2027</a:t>
            </a:r>
          </a:p>
        </p:txBody>
      </p:sp>
    </p:spTree>
    <p:extLst>
      <p:ext uri="{BB962C8B-B14F-4D97-AF65-F5344CB8AC3E}">
        <p14:creationId xmlns:p14="http://schemas.microsoft.com/office/powerpoint/2010/main" val="2102836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C4E7838-51FB-4B7B-8849-4C2F27EE5D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94457D-B4E7-4246-AD05-95D08226B14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987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 défi de départ : piloter une serre connectée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1AD5433-D25A-4534-8B06-CDE49BA2518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8A460A-8E82-4875-8DFF-EDD6AC26F83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MISE EN SITUATION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9934B3B6-F7BA-4A1D-BC86-4B2E6CFDDA2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7EC444A-0702-4401-A5BE-6D2C1CDD5772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91553A-E4F1-4B5A-B428-BBE712BD23E5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9D9659-79E1-4C08-AE85-9D02087B59E9}"/>
              </a:ext>
            </a:extLst>
          </p:cNvPr>
          <p:cNvSpPr>
            <a:spLocks noGrp="1"/>
          </p:cNvSpPr>
          <p:nvPr/>
        </p:nvSpPr>
        <p:spPr>
          <a:xfrm>
            <a:off x="666750" y="952500"/>
            <a:ext cx="106680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7878"/>
          </a:bodyPr>
          <a:lstStyle/>
          <a:p>
            <a:pPr algn="ctr">
              <a:defRPr sz="18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Le système doit décider en temps réel à partir de mesures parfois changeantes.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E75BBAF-0EA4-4FEA-90B8-7753E6DA89B0}"/>
              </a:ext>
            </a:extLst>
          </p:cNvPr>
          <p:cNvSpPr>
            <a:spLocks noGrp="1"/>
          </p:cNvSpPr>
          <p:nvPr/>
        </p:nvSpPr>
        <p:spPr>
          <a:xfrm>
            <a:off x="1047750" y="2000250"/>
            <a:ext cx="2619375" cy="1190625"/>
          </a:xfrm>
          <a:prstGeom prst="roundRect">
            <a:avLst>
              <a:gd name="adj" fmla="val 17600"/>
            </a:avLst>
          </a:prstGeom>
          <a:solidFill>
            <a:srgbClr val="DDF6F4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DFD39E0-CCE8-47EB-A1B5-7C56B84D0ACE}"/>
              </a:ext>
            </a:extLst>
          </p:cNvPr>
          <p:cNvSpPr>
            <a:spLocks noGrp="1"/>
          </p:cNvSpPr>
          <p:nvPr/>
        </p:nvSpPr>
        <p:spPr>
          <a:xfrm>
            <a:off x="1238250" y="2143125"/>
            <a:ext cx="223837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CAPTEURS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5BB096-4607-47D0-B280-E5F80DFE44C9}"/>
              </a:ext>
            </a:extLst>
          </p:cNvPr>
          <p:cNvSpPr>
            <a:spLocks noGrp="1"/>
          </p:cNvSpPr>
          <p:nvPr/>
        </p:nvSpPr>
        <p:spPr>
          <a:xfrm>
            <a:off x="1238250" y="2438400"/>
            <a:ext cx="223837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0000"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Humidité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756353-F98D-467E-B367-F525C280DC2D}"/>
              </a:ext>
            </a:extLst>
          </p:cNvPr>
          <p:cNvSpPr>
            <a:spLocks noGrp="1"/>
          </p:cNvSpPr>
          <p:nvPr/>
        </p:nvSpPr>
        <p:spPr>
          <a:xfrm>
            <a:off x="3829050" y="2362200"/>
            <a:ext cx="533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7E020A2-57D8-4FA7-84A9-05210228D9A1}"/>
              </a:ext>
            </a:extLst>
          </p:cNvPr>
          <p:cNvSpPr>
            <a:spLocks noGrp="1"/>
          </p:cNvSpPr>
          <p:nvPr/>
        </p:nvSpPr>
        <p:spPr>
          <a:xfrm>
            <a:off x="4524375" y="2000250"/>
            <a:ext cx="2619375" cy="1190625"/>
          </a:xfrm>
          <a:prstGeom prst="roundRect">
            <a:avLst>
              <a:gd name="adj" fmla="val 17600"/>
            </a:avLst>
          </a:prstGeom>
          <a:solidFill>
            <a:srgbClr val="FFF3C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6AFE5E-20B7-459E-A181-4040AEE3F217}"/>
              </a:ext>
            </a:extLst>
          </p:cNvPr>
          <p:cNvSpPr>
            <a:spLocks noGrp="1"/>
          </p:cNvSpPr>
          <p:nvPr/>
        </p:nvSpPr>
        <p:spPr>
          <a:xfrm>
            <a:off x="4714875" y="2143125"/>
            <a:ext cx="223837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ESP32 / µC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7DA69E-5FC9-416A-BAE9-538915D19A2F}"/>
              </a:ext>
            </a:extLst>
          </p:cNvPr>
          <p:cNvSpPr>
            <a:spLocks noGrp="1"/>
          </p:cNvSpPr>
          <p:nvPr/>
        </p:nvSpPr>
        <p:spPr>
          <a:xfrm>
            <a:off x="4714875" y="2438400"/>
            <a:ext cx="223837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0000"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Algorithme</a:t>
            </a:r>
          </a:p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de décision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A772A5-5F24-4020-AEDB-D38BE280372A}"/>
              </a:ext>
            </a:extLst>
          </p:cNvPr>
          <p:cNvSpPr>
            <a:spLocks noGrp="1"/>
          </p:cNvSpPr>
          <p:nvPr/>
        </p:nvSpPr>
        <p:spPr>
          <a:xfrm>
            <a:off x="7305675" y="2362200"/>
            <a:ext cx="533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95AF7BE-EB29-4F95-B587-617C104F1FAC}"/>
              </a:ext>
            </a:extLst>
          </p:cNvPr>
          <p:cNvSpPr>
            <a:spLocks noGrp="1"/>
          </p:cNvSpPr>
          <p:nvPr/>
        </p:nvSpPr>
        <p:spPr>
          <a:xfrm>
            <a:off x="8001000" y="2000250"/>
            <a:ext cx="2619375" cy="1190625"/>
          </a:xfrm>
          <a:prstGeom prst="roundRect">
            <a:avLst>
              <a:gd name="adj" fmla="val 17600"/>
            </a:avLst>
          </a:prstGeom>
          <a:solidFill>
            <a:srgbClr val="EAF6DC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076B3D-F9FB-42F5-885C-82973980C2A9}"/>
              </a:ext>
            </a:extLst>
          </p:cNvPr>
          <p:cNvSpPr>
            <a:spLocks noGrp="1"/>
          </p:cNvSpPr>
          <p:nvPr/>
        </p:nvSpPr>
        <p:spPr>
          <a:xfrm>
            <a:off x="8191500" y="2143125"/>
            <a:ext cx="223837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rPr>
              <a:t>ACTIONNEURS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8B794C-C207-41B9-B16A-BF5F37588E48}"/>
              </a:ext>
            </a:extLst>
          </p:cNvPr>
          <p:cNvSpPr>
            <a:spLocks noGrp="1"/>
          </p:cNvSpPr>
          <p:nvPr/>
        </p:nvSpPr>
        <p:spPr>
          <a:xfrm>
            <a:off x="8191500" y="2438400"/>
            <a:ext cx="223837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0000"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Ventilateur</a:t>
            </a:r>
          </a:p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Pompe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C0AF85A-7676-41BD-A8E1-80845D96F15F}"/>
              </a:ext>
            </a:extLst>
          </p:cNvPr>
          <p:cNvSpPr>
            <a:spLocks noGrp="1"/>
          </p:cNvSpPr>
          <p:nvPr/>
        </p:nvSpPr>
        <p:spPr>
          <a:xfrm>
            <a:off x="1238250" y="4000500"/>
            <a:ext cx="9715500" cy="1428750"/>
          </a:xfrm>
          <a:prstGeom prst="roundRect">
            <a:avLst>
              <a:gd name="adj" fmla="val 1466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7C935B-BEBD-40F7-B47D-F01A449426C9}"/>
              </a:ext>
            </a:extLst>
          </p:cNvPr>
          <p:cNvSpPr>
            <a:spLocks noGrp="1"/>
          </p:cNvSpPr>
          <p:nvPr/>
        </p:nvSpPr>
        <p:spPr>
          <a:xfrm>
            <a:off x="1524000" y="4210050"/>
            <a:ext cx="23812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Questions à résoudre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91C11D-586A-4DD6-A6CF-89D2A4988722}"/>
              </a:ext>
            </a:extLst>
          </p:cNvPr>
          <p:cNvSpPr>
            <a:spLocks noGrp="1"/>
          </p:cNvSpPr>
          <p:nvPr/>
        </p:nvSpPr>
        <p:spPr>
          <a:xfrm>
            <a:off x="1524000" y="4572000"/>
            <a:ext cx="8858250" cy="723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5859"/>
          </a:bodyPr>
          <a:lstStyle/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Quelles informations entrent dans le programme ?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Quelles règles déclenchent les actionneurs ?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Comment vérifier que le système réagit correctement ?</a:t>
            </a:r>
          </a:p>
        </p:txBody>
      </p:sp>
    </p:spTree>
    <p:extLst>
      <p:ext uri="{BB962C8B-B14F-4D97-AF65-F5344CB8AC3E}">
        <p14:creationId xmlns:p14="http://schemas.microsoft.com/office/powerpoint/2010/main" val="572466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40B050B-E82D-431C-9F88-6FE5E96C40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9AF7F1-5909-4503-A2EE-01BD587EE806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7934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Ce que demande le programme officiel en 2026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A9FE09C-16E5-4C92-9042-B7F678871763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3E7CD1-8B87-46EE-BB0F-B796B101045A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PROGRAMME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6F2BA351-CE10-4E61-867C-8FF8CD9274E8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DC298B-845F-46C9-B4CA-D019710C6CDB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A437C4-404C-495A-8317-028228C841B6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377A38B-C896-41E9-A3D4-2828F68FBDE1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5000625" cy="13811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D4A855-320D-409E-B666-99BEE2B6B39F}"/>
              </a:ext>
            </a:extLst>
          </p:cNvPr>
          <p:cNvSpPr>
            <a:spLocks noGrp="1"/>
          </p:cNvSpPr>
          <p:nvPr/>
        </p:nvSpPr>
        <p:spPr>
          <a:xfrm>
            <a:off x="876300" y="1343025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Algorithmique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9A8245-01B6-4F2E-B6BC-15F356F2047E}"/>
              </a:ext>
            </a:extLst>
          </p:cNvPr>
          <p:cNvSpPr>
            <a:spLocks noGrp="1"/>
          </p:cNvSpPr>
          <p:nvPr/>
        </p:nvSpPr>
        <p:spPr>
          <a:xfrm>
            <a:off x="876300" y="1714500"/>
            <a:ext cx="45720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Conditions, boucles, variables, types et tailles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EEBAF83-D37E-42D8-9209-65A9429BCDB2}"/>
              </a:ext>
            </a:extLst>
          </p:cNvPr>
          <p:cNvSpPr>
            <a:spLocks noGrp="1"/>
          </p:cNvSpPr>
          <p:nvPr/>
        </p:nvSpPr>
        <p:spPr>
          <a:xfrm>
            <a:off x="6096000" y="1190625"/>
            <a:ext cx="5000625" cy="13811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31F19E-9625-4F6A-B96B-EFFABC4CE8FB}"/>
              </a:ext>
            </a:extLst>
          </p:cNvPr>
          <p:cNvSpPr>
            <a:spLocks noGrp="1"/>
          </p:cNvSpPr>
          <p:nvPr/>
        </p:nvSpPr>
        <p:spPr>
          <a:xfrm>
            <a:off x="6305550" y="1343025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Architecture logicielle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1AAC94-9272-4C70-AB18-D61EE2A535A3}"/>
              </a:ext>
            </a:extLst>
          </p:cNvPr>
          <p:cNvSpPr>
            <a:spLocks noGrp="1"/>
          </p:cNvSpPr>
          <p:nvPr/>
        </p:nvSpPr>
        <p:spPr>
          <a:xfrm>
            <a:off x="6305550" y="1714500"/>
            <a:ext cx="45720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Programme principal, entrées/sorties, fonctions et procédures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E7432C27-11C9-41C5-9FD9-283B7783F243}"/>
              </a:ext>
            </a:extLst>
          </p:cNvPr>
          <p:cNvSpPr>
            <a:spLocks noGrp="1"/>
          </p:cNvSpPr>
          <p:nvPr/>
        </p:nvSpPr>
        <p:spPr>
          <a:xfrm>
            <a:off x="666750" y="2905125"/>
            <a:ext cx="5000625" cy="13811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27D240-F0A9-44A7-B050-1A7C0B0BD516}"/>
              </a:ext>
            </a:extLst>
          </p:cNvPr>
          <p:cNvSpPr>
            <a:spLocks noGrp="1"/>
          </p:cNvSpPr>
          <p:nvPr/>
        </p:nvSpPr>
        <p:spPr>
          <a:xfrm>
            <a:off x="876300" y="3057525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Codage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FA8D7CB-2ED1-4B29-A4B9-EC4A11E035BB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45720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Python et C++. Règles d’écriture, commentaires et documentation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A876A34-F9B7-4BB5-B73A-EA90CF9A43DE}"/>
              </a:ext>
            </a:extLst>
          </p:cNvPr>
          <p:cNvSpPr>
            <a:spLocks noGrp="1"/>
          </p:cNvSpPr>
          <p:nvPr/>
        </p:nvSpPr>
        <p:spPr>
          <a:xfrm>
            <a:off x="6096000" y="2905125"/>
            <a:ext cx="5000625" cy="1381125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FEB9D4-B73A-4E46-A0DB-B4810C5FA033}"/>
              </a:ext>
            </a:extLst>
          </p:cNvPr>
          <p:cNvSpPr>
            <a:spLocks noGrp="1"/>
          </p:cNvSpPr>
          <p:nvPr/>
        </p:nvSpPr>
        <p:spPr>
          <a:xfrm>
            <a:off x="6305550" y="3057525"/>
            <a:ext cx="45720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5238"/>
          </a:bodyPr>
          <a:lstStyle/>
          <a:p>
            <a:pPr algn="l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Mise au point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D736DF5-1302-4CC6-B79D-EF824D5B011A}"/>
              </a:ext>
            </a:extLst>
          </p:cNvPr>
          <p:cNvSpPr>
            <a:spLocks noGrp="1"/>
          </p:cNvSpPr>
          <p:nvPr/>
        </p:nvSpPr>
        <p:spPr>
          <a:xfrm>
            <a:off x="6305550" y="3429000"/>
            <a:ext cx="4572000" cy="647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Débogage, pas à pas, points d’arrêt et intégration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0CC674E-992A-4675-9BFB-88122BF4DD17}"/>
              </a:ext>
            </a:extLst>
          </p:cNvPr>
          <p:cNvSpPr>
            <a:spLocks noGrp="1"/>
          </p:cNvSpPr>
          <p:nvPr/>
        </p:nvSpPr>
        <p:spPr>
          <a:xfrm>
            <a:off x="1524000" y="4810125"/>
            <a:ext cx="9144000" cy="1095375"/>
          </a:xfrm>
          <a:prstGeom prst="roundRect">
            <a:avLst>
              <a:gd name="adj" fmla="val 17391"/>
            </a:avLst>
          </a:prstGeom>
          <a:solidFill>
            <a:srgbClr val="FFF3CF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F1C212-DC88-4ABF-B712-A710D73B2137}"/>
              </a:ext>
            </a:extLst>
          </p:cNvPr>
          <p:cNvSpPr>
            <a:spLocks noGrp="1"/>
          </p:cNvSpPr>
          <p:nvPr/>
        </p:nvSpPr>
        <p:spPr>
          <a:xfrm>
            <a:off x="1790700" y="500062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2593"/>
          </a:bodyPr>
          <a:lstStyle/>
          <a:p>
            <a:pPr algn="l">
              <a:defRPr sz="13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Session 2026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CD16290-EA4C-41DD-8A0D-822304E1A782}"/>
              </a:ext>
            </a:extLst>
          </p:cNvPr>
          <p:cNvSpPr>
            <a:spLocks noGrp="1"/>
          </p:cNvSpPr>
          <p:nvPr/>
        </p:nvSpPr>
        <p:spPr>
          <a:xfrm>
            <a:off x="1790700" y="5295900"/>
            <a:ext cx="8429625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7500"/>
          </a:bodyPr>
          <a:lstStyle/>
          <a:p>
            <a:pPr algn="l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La partie pratique de 2I2D dure 2 h et évalue conception, simulation et expérimentation dans l’enseignement spécifique SIN.</a:t>
            </a:r>
          </a:p>
        </p:txBody>
      </p:sp>
    </p:spTree>
    <p:extLst>
      <p:ext uri="{BB962C8B-B14F-4D97-AF65-F5344CB8AC3E}">
        <p14:creationId xmlns:p14="http://schemas.microsoft.com/office/powerpoint/2010/main" val="28104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D123623-9496-4F2A-82A5-A45C58FBF0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1BC1E2-6B39-4258-BFF2-8A276D30FB4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De l’exigence au produit qui fonctionne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7E582AC-8B00-407D-B9E7-7150F335336B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A5D9DD-D22D-4839-B4F9-FF04B660CA49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MÉTHODE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CDF82CF2-E8E3-4B28-A4AC-AA8D4BA81A49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8" name="Image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033A8F3-3906-47D1-9180-6B2A1CC742A7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BD202C-EA37-477C-9ED2-4F1583BD8313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C3364DA-409D-45B9-9EEF-FBF3AC9164CE}"/>
              </a:ext>
            </a:extLst>
          </p:cNvPr>
          <p:cNvSpPr>
            <a:spLocks noGrp="1"/>
          </p:cNvSpPr>
          <p:nvPr/>
        </p:nvSpPr>
        <p:spPr>
          <a:xfrm>
            <a:off x="523875" y="1714500"/>
            <a:ext cx="2428875" cy="2333625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9AC52FFE-7D9C-4D06-AAF5-46B1EDEB915F}"/>
              </a:ext>
            </a:extLst>
          </p:cNvPr>
          <p:cNvSpPr>
            <a:spLocks noGrp="1"/>
          </p:cNvSpPr>
          <p:nvPr/>
        </p:nvSpPr>
        <p:spPr>
          <a:xfrm>
            <a:off x="1362075" y="1952625"/>
            <a:ext cx="742950" cy="742950"/>
          </a:xfrm>
          <a:prstGeom prst="ellipse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428D35-0636-485A-8833-40B9664EB81E}"/>
              </a:ext>
            </a:extLst>
          </p:cNvPr>
          <p:cNvSpPr>
            <a:spLocks noGrp="1"/>
          </p:cNvSpPr>
          <p:nvPr/>
        </p:nvSpPr>
        <p:spPr>
          <a:xfrm>
            <a:off x="1362075" y="1952625"/>
            <a:ext cx="74295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C53863-2074-4A3A-8B03-4B1C3587143D}"/>
              </a:ext>
            </a:extLst>
          </p:cNvPr>
          <p:cNvSpPr>
            <a:spLocks noGrp="1"/>
          </p:cNvSpPr>
          <p:nvPr/>
        </p:nvSpPr>
        <p:spPr>
          <a:xfrm>
            <a:off x="714375" y="28765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EXIGENCE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326C79-318C-42D4-8805-D771139B854B}"/>
              </a:ext>
            </a:extLst>
          </p:cNvPr>
          <p:cNvSpPr>
            <a:spLocks noGrp="1"/>
          </p:cNvSpPr>
          <p:nvPr/>
        </p:nvSpPr>
        <p:spPr>
          <a:xfrm>
            <a:off x="762000" y="3286125"/>
            <a:ext cx="1952625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Ce que le produit doit faire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8074BC-9569-4CA9-8EC6-7FDC4AF299A7}"/>
              </a:ext>
            </a:extLst>
          </p:cNvPr>
          <p:cNvSpPr>
            <a:spLocks noGrp="1"/>
          </p:cNvSpPr>
          <p:nvPr/>
        </p:nvSpPr>
        <p:spPr>
          <a:xfrm>
            <a:off x="3000375" y="2628900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75D9CFDB-4AED-479C-8CE1-A1742A101AC9}"/>
              </a:ext>
            </a:extLst>
          </p:cNvPr>
          <p:cNvSpPr>
            <a:spLocks noGrp="1"/>
          </p:cNvSpPr>
          <p:nvPr/>
        </p:nvSpPr>
        <p:spPr>
          <a:xfrm>
            <a:off x="3381375" y="1714500"/>
            <a:ext cx="2428875" cy="2333625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6DE0C9D4-9A4D-4499-821C-3421923DC924}"/>
              </a:ext>
            </a:extLst>
          </p:cNvPr>
          <p:cNvSpPr>
            <a:spLocks noGrp="1"/>
          </p:cNvSpPr>
          <p:nvPr/>
        </p:nvSpPr>
        <p:spPr>
          <a:xfrm>
            <a:off x="4219575" y="1952625"/>
            <a:ext cx="742950" cy="742950"/>
          </a:xfrm>
          <a:prstGeom prst="ellipse">
            <a:avLst/>
          </a:prstGeom>
          <a:solidFill>
            <a:srgbClr val="176B87"/>
          </a:solidFill>
          <a:ln w="0">
            <a:noFill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F30C3DE-501C-494D-B346-A036C85C29E3}"/>
              </a:ext>
            </a:extLst>
          </p:cNvPr>
          <p:cNvSpPr>
            <a:spLocks noGrp="1"/>
          </p:cNvSpPr>
          <p:nvPr/>
        </p:nvSpPr>
        <p:spPr>
          <a:xfrm>
            <a:off x="4219575" y="1952625"/>
            <a:ext cx="74295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E3FB39-71A7-47A5-9E4E-FF09B4003333}"/>
              </a:ext>
            </a:extLst>
          </p:cNvPr>
          <p:cNvSpPr>
            <a:spLocks noGrp="1"/>
          </p:cNvSpPr>
          <p:nvPr/>
        </p:nvSpPr>
        <p:spPr>
          <a:xfrm>
            <a:off x="3571875" y="28765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ALGORITHME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5CAC0F-7891-48B5-A2ED-FDED20DCE85D}"/>
              </a:ext>
            </a:extLst>
          </p:cNvPr>
          <p:cNvSpPr>
            <a:spLocks noGrp="1"/>
          </p:cNvSpPr>
          <p:nvPr/>
        </p:nvSpPr>
        <p:spPr>
          <a:xfrm>
            <a:off x="3619500" y="3286125"/>
            <a:ext cx="1952625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3942"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La logique, indépendante du langage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1ED4F5-C394-4912-B10B-A27BC0D30461}"/>
              </a:ext>
            </a:extLst>
          </p:cNvPr>
          <p:cNvSpPr>
            <a:spLocks noGrp="1"/>
          </p:cNvSpPr>
          <p:nvPr/>
        </p:nvSpPr>
        <p:spPr>
          <a:xfrm>
            <a:off x="5857875" y="2628900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3DA26682-BD9C-4808-97C7-A14A5F7BC3F6}"/>
              </a:ext>
            </a:extLst>
          </p:cNvPr>
          <p:cNvSpPr>
            <a:spLocks noGrp="1"/>
          </p:cNvSpPr>
          <p:nvPr/>
        </p:nvSpPr>
        <p:spPr>
          <a:xfrm>
            <a:off x="6238875" y="1714500"/>
            <a:ext cx="2428875" cy="2333625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F6E98B6A-BFED-4348-859D-C58CCD364FF3}"/>
              </a:ext>
            </a:extLst>
          </p:cNvPr>
          <p:cNvSpPr>
            <a:spLocks noGrp="1"/>
          </p:cNvSpPr>
          <p:nvPr/>
        </p:nvSpPr>
        <p:spPr>
          <a:xfrm>
            <a:off x="7077075" y="1952625"/>
            <a:ext cx="742950" cy="742950"/>
          </a:xfrm>
          <a:prstGeom prst="ellipse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A09921-6CF0-4B2C-956D-902FBD86B8B0}"/>
              </a:ext>
            </a:extLst>
          </p:cNvPr>
          <p:cNvSpPr>
            <a:spLocks noGrp="1"/>
          </p:cNvSpPr>
          <p:nvPr/>
        </p:nvSpPr>
        <p:spPr>
          <a:xfrm>
            <a:off x="7077075" y="1952625"/>
            <a:ext cx="74295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CA76143-EA0C-47A8-B487-CF4053D54058}"/>
              </a:ext>
            </a:extLst>
          </p:cNvPr>
          <p:cNvSpPr>
            <a:spLocks noGrp="1"/>
          </p:cNvSpPr>
          <p:nvPr/>
        </p:nvSpPr>
        <p:spPr>
          <a:xfrm>
            <a:off x="6429375" y="28765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428CFFD-8BD0-4C63-9BEF-BA76315713A3}"/>
              </a:ext>
            </a:extLst>
          </p:cNvPr>
          <p:cNvSpPr>
            <a:spLocks noGrp="1"/>
          </p:cNvSpPr>
          <p:nvPr/>
        </p:nvSpPr>
        <p:spPr>
          <a:xfrm>
            <a:off x="6477000" y="3286125"/>
            <a:ext cx="1952625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La traduction en Python ou C++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AABF8AA-3D2B-4FA3-AA29-F3C4159C4D90}"/>
              </a:ext>
            </a:extLst>
          </p:cNvPr>
          <p:cNvSpPr>
            <a:spLocks noGrp="1"/>
          </p:cNvSpPr>
          <p:nvPr/>
        </p:nvSpPr>
        <p:spPr>
          <a:xfrm>
            <a:off x="8715375" y="2628900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96A8F1EB-2CEE-4E24-B563-AD4653C01473}"/>
              </a:ext>
            </a:extLst>
          </p:cNvPr>
          <p:cNvSpPr>
            <a:spLocks noGrp="1"/>
          </p:cNvSpPr>
          <p:nvPr/>
        </p:nvSpPr>
        <p:spPr>
          <a:xfrm>
            <a:off x="9096375" y="1714500"/>
            <a:ext cx="2428875" cy="2333625"/>
          </a:xfrm>
          <a:prstGeom prst="roundRect">
            <a:avLst>
              <a:gd name="adj" fmla="val 9796"/>
            </a:avLst>
          </a:prstGeom>
          <a:solidFill>
            <a:srgbClr val="FFFFFF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5DD9A76A-CBDA-445F-87E8-71D50B3488A3}"/>
              </a:ext>
            </a:extLst>
          </p:cNvPr>
          <p:cNvSpPr>
            <a:spLocks noGrp="1"/>
          </p:cNvSpPr>
          <p:nvPr/>
        </p:nvSpPr>
        <p:spPr>
          <a:xfrm>
            <a:off x="9934575" y="1952625"/>
            <a:ext cx="742950" cy="742950"/>
          </a:xfrm>
          <a:prstGeom prst="ellipse">
            <a:avLst/>
          </a:prstGeom>
          <a:solidFill>
            <a:srgbClr val="82C341"/>
          </a:solidFill>
          <a:ln w="0">
            <a:noFill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2D234E-C4EE-4135-9338-1C4E57688138}"/>
              </a:ext>
            </a:extLst>
          </p:cNvPr>
          <p:cNvSpPr>
            <a:spLocks noGrp="1"/>
          </p:cNvSpPr>
          <p:nvPr/>
        </p:nvSpPr>
        <p:spPr>
          <a:xfrm>
            <a:off x="9934575" y="1952625"/>
            <a:ext cx="74295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E6442C2-1464-47D2-96AA-1FCFD6266358}"/>
              </a:ext>
            </a:extLst>
          </p:cNvPr>
          <p:cNvSpPr>
            <a:spLocks noGrp="1"/>
          </p:cNvSpPr>
          <p:nvPr/>
        </p:nvSpPr>
        <p:spPr>
          <a:xfrm>
            <a:off x="9286875" y="2876550"/>
            <a:ext cx="2047875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DBFB64-8F97-424E-81A5-D2A0F154BEC7}"/>
              </a:ext>
            </a:extLst>
          </p:cNvPr>
          <p:cNvSpPr>
            <a:spLocks noGrp="1"/>
          </p:cNvSpPr>
          <p:nvPr/>
        </p:nvSpPr>
        <p:spPr>
          <a:xfrm>
            <a:off x="9334500" y="3286125"/>
            <a:ext cx="1952625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Les cas normaux, limites et erreurs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F66203A3-AD1C-4EA3-A94A-C5EB3A71A230}"/>
              </a:ext>
            </a:extLst>
          </p:cNvPr>
          <p:cNvSpPr>
            <a:spLocks noGrp="1"/>
          </p:cNvSpPr>
          <p:nvPr/>
        </p:nvSpPr>
        <p:spPr>
          <a:xfrm>
            <a:off x="1381125" y="4619625"/>
            <a:ext cx="9429750" cy="685800"/>
          </a:xfrm>
          <a:prstGeom prst="roundRect">
            <a:avLst>
              <a:gd name="adj" fmla="val 25000"/>
            </a:avLst>
          </a:prstGeom>
          <a:solidFill>
            <a:srgbClr val="DDF6F4"/>
          </a:solidFill>
          <a:ln w="9525">
            <a:solidFill>
              <a:srgbClr val="00A6A6"/>
            </a:solidFill>
            <a:prstDash val="solid"/>
          </a:ln>
        </p:spPr>
        <p:txBody>
          <a:bodyPr lIns="57150" tIns="38100" rIns="57150" bIns="38100" anchor="ctr">
            <a:normAutofit fontScale="85667"/>
          </a:bodyPr>
          <a:lstStyle/>
          <a:p>
            <a:pPr algn="ctr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 algorithme reste compréhensible par toute l’équipe avant même de choisir la carte ou le langage.</a:t>
            </a:r>
          </a:p>
        </p:txBody>
      </p:sp>
    </p:spTree>
    <p:extLst>
      <p:ext uri="{BB962C8B-B14F-4D97-AF65-F5344CB8AC3E}">
        <p14:creationId xmlns:p14="http://schemas.microsoft.com/office/powerpoint/2010/main" val="43873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07B2C2E-795D-4521-B6DE-93273B5AD1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BD0458-0987-400C-9683-BEBFC8D727A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Algorithme, algorigramme et programme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8F2066C-6EE2-4990-882A-8E80EE60CC5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2994F9-40CB-488B-8B15-8F624CA6C2F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NOTIONS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E274A9E0-9CFB-484E-A85C-269A0BBE398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48C33B6-933C-4563-8703-53C11A2F7477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6C3A36-F201-4A8E-A618-AB7D99B13F25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9BF45E64-2BD7-4170-934B-C1FD06B73B1F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CCEB11-9A26-4C14-8B4A-7E00EF31FD78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68C2388-4387-430E-A6EA-11814E3B43F9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10477500" cy="1162050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21597E2-F973-4D78-9128-82955759F8FE}"/>
              </a:ext>
            </a:extLst>
          </p:cNvPr>
          <p:cNvSpPr>
            <a:spLocks noGrp="1"/>
          </p:cNvSpPr>
          <p:nvPr/>
        </p:nvSpPr>
        <p:spPr>
          <a:xfrm>
            <a:off x="1095375" y="1552575"/>
            <a:ext cx="2190750" cy="400050"/>
          </a:xfrm>
          <a:prstGeom prst="roundRect">
            <a:avLst>
              <a:gd name="adj" fmla="val 42857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FBF09F-820C-4D10-99C8-B00DAB5EA459}"/>
              </a:ext>
            </a:extLst>
          </p:cNvPr>
          <p:cNvSpPr>
            <a:spLocks noGrp="1"/>
          </p:cNvSpPr>
          <p:nvPr/>
        </p:nvSpPr>
        <p:spPr>
          <a:xfrm>
            <a:off x="1095375" y="155257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4263-CD6E-4638-96B0-7872440F5B7C}"/>
              </a:ext>
            </a:extLst>
          </p:cNvPr>
          <p:cNvSpPr>
            <a:spLocks noGrp="1"/>
          </p:cNvSpPr>
          <p:nvPr/>
        </p:nvSpPr>
        <p:spPr>
          <a:xfrm>
            <a:off x="3619500" y="1495425"/>
            <a:ext cx="723900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Suite ……………………………… et ……………………………… d’instructions qui résout un problème.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606DCDE-B5B0-43AB-A809-247B74B18588}"/>
              </a:ext>
            </a:extLst>
          </p:cNvPr>
          <p:cNvSpPr>
            <a:spLocks noGrp="1"/>
          </p:cNvSpPr>
          <p:nvPr/>
        </p:nvSpPr>
        <p:spPr>
          <a:xfrm>
            <a:off x="857250" y="2762250"/>
            <a:ext cx="10477500" cy="1162050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D4666E1-212D-467C-9FFA-A125CB9304ED}"/>
              </a:ext>
            </a:extLst>
          </p:cNvPr>
          <p:cNvSpPr>
            <a:spLocks noGrp="1"/>
          </p:cNvSpPr>
          <p:nvPr/>
        </p:nvSpPr>
        <p:spPr>
          <a:xfrm>
            <a:off x="1095375" y="3028950"/>
            <a:ext cx="2190750" cy="400050"/>
          </a:xfrm>
          <a:prstGeom prst="roundRect">
            <a:avLst>
              <a:gd name="adj" fmla="val 42857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6335D-6F57-4133-9708-CBB3A044762F}"/>
              </a:ext>
            </a:extLst>
          </p:cNvPr>
          <p:cNvSpPr>
            <a:spLocks noGrp="1"/>
          </p:cNvSpPr>
          <p:nvPr/>
        </p:nvSpPr>
        <p:spPr>
          <a:xfrm>
            <a:off x="1095375" y="30289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ALGORIGRAMME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ED78BE-0AD3-408D-A155-34D7155E1E34}"/>
              </a:ext>
            </a:extLst>
          </p:cNvPr>
          <p:cNvSpPr>
            <a:spLocks noGrp="1"/>
          </p:cNvSpPr>
          <p:nvPr/>
        </p:nvSpPr>
        <p:spPr>
          <a:xfrm>
            <a:off x="3619500" y="2971800"/>
            <a:ext cx="723900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Représentation ……………………………… de l’enchaînement des opérations et décisions.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2536EF8-3856-4D07-9593-66651E7C368B}"/>
              </a:ext>
            </a:extLst>
          </p:cNvPr>
          <p:cNvSpPr>
            <a:spLocks noGrp="1"/>
          </p:cNvSpPr>
          <p:nvPr/>
        </p:nvSpPr>
        <p:spPr>
          <a:xfrm>
            <a:off x="857250" y="4238625"/>
            <a:ext cx="10477500" cy="1162050"/>
          </a:xfrm>
          <a:prstGeom prst="roundRect">
            <a:avLst>
              <a:gd name="adj" fmla="val 16393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B53958D-0E5A-49F9-9B8B-037B881804DD}"/>
              </a:ext>
            </a:extLst>
          </p:cNvPr>
          <p:cNvSpPr>
            <a:spLocks noGrp="1"/>
          </p:cNvSpPr>
          <p:nvPr/>
        </p:nvSpPr>
        <p:spPr>
          <a:xfrm>
            <a:off x="1095375" y="4505325"/>
            <a:ext cx="2190750" cy="400050"/>
          </a:xfrm>
          <a:prstGeom prst="roundRect">
            <a:avLst>
              <a:gd name="adj" fmla="val 42857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7830E9-E315-4FF4-9954-E16E118D9DA1}"/>
              </a:ext>
            </a:extLst>
          </p:cNvPr>
          <p:cNvSpPr>
            <a:spLocks noGrp="1"/>
          </p:cNvSpPr>
          <p:nvPr/>
        </p:nvSpPr>
        <p:spPr>
          <a:xfrm>
            <a:off x="1095375" y="4505325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PROGRAMME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7022E6B-09FD-4E5C-AE0B-7A6C401BA561}"/>
              </a:ext>
            </a:extLst>
          </p:cNvPr>
          <p:cNvSpPr>
            <a:spLocks noGrp="1"/>
          </p:cNvSpPr>
          <p:nvPr/>
        </p:nvSpPr>
        <p:spPr>
          <a:xfrm>
            <a:off x="3619500" y="4448175"/>
            <a:ext cx="723900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Traduction ……………………………… de l’algorithme dans un langage précis.</a:t>
            </a:r>
          </a:p>
        </p:txBody>
      </p:sp>
    </p:spTree>
    <p:extLst>
      <p:ext uri="{BB962C8B-B14F-4D97-AF65-F5344CB8AC3E}">
        <p14:creationId xmlns:p14="http://schemas.microsoft.com/office/powerpoint/2010/main" val="1116706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C4F3C65-BE28-4267-A667-824DAF4D3C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9A3085-EBF8-4BF6-BBEC-72A5992EBD8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Les symboles essentiels d’un algorigramme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80CDF0F-EE12-43F1-A0FE-A7B61D94C4D2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107A6E-714F-44BD-B930-9F44E45265A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REPRÉSENTER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4D14C61D-3E79-416E-B330-D9B388B01606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1" name="Image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E30DB2D-BD23-4BF0-837A-F9F9FFE9BAD1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70955D-6F2E-4CB9-AD1C-488FF56FE2E5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6C5EA31-E0C2-4FE5-B12B-F456BDCDBD7C}"/>
              </a:ext>
            </a:extLst>
          </p:cNvPr>
          <p:cNvSpPr>
            <a:spLocks noGrp="1"/>
          </p:cNvSpPr>
          <p:nvPr/>
        </p:nvSpPr>
        <p:spPr>
          <a:xfrm>
            <a:off x="619125" y="1333500"/>
            <a:ext cx="2428875" cy="371475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75E9D30A-7F59-4E2A-A4F9-3BFC018445B6}"/>
              </a:ext>
            </a:extLst>
          </p:cNvPr>
          <p:cNvSpPr>
            <a:spLocks noGrp="1"/>
          </p:cNvSpPr>
          <p:nvPr/>
        </p:nvSpPr>
        <p:spPr>
          <a:xfrm>
            <a:off x="1076325" y="1762125"/>
            <a:ext cx="1524000" cy="876300"/>
          </a:xfrm>
          <a:prstGeom prst="ellipse">
            <a:avLst/>
          </a:prstGeom>
          <a:solidFill>
            <a:srgbClr val="EFF7FA"/>
          </a:solidFill>
          <a:ln w="28575">
            <a:solidFill>
              <a:srgbClr val="00A6A6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DÉBUT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3CC9CA-D55D-4DFE-A111-565A5D62E880}"/>
              </a:ext>
            </a:extLst>
          </p:cNvPr>
          <p:cNvSpPr>
            <a:spLocks noGrp="1"/>
          </p:cNvSpPr>
          <p:nvPr/>
        </p:nvSpPr>
        <p:spPr>
          <a:xfrm>
            <a:off x="809625" y="3190875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Début / Fin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CC95C5-68F8-4487-8167-5F37E1AB2134}"/>
              </a:ext>
            </a:extLst>
          </p:cNvPr>
          <p:cNvSpPr>
            <a:spLocks noGrp="1"/>
          </p:cNvSpPr>
          <p:nvPr/>
        </p:nvSpPr>
        <p:spPr>
          <a:xfrm>
            <a:off x="838200" y="3676650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point d’entrée ou de sortie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A5FC9C8-BBCD-4F7D-A8BF-8F9F8CB14560}"/>
              </a:ext>
            </a:extLst>
          </p:cNvPr>
          <p:cNvSpPr>
            <a:spLocks noGrp="1"/>
          </p:cNvSpPr>
          <p:nvPr/>
        </p:nvSpPr>
        <p:spPr>
          <a:xfrm>
            <a:off x="3476625" y="1333500"/>
            <a:ext cx="2428875" cy="371475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Parallélogramme 13">
            <a:extLst>
              <a:ext uri="{FF2B5EF4-FFF2-40B4-BE49-F238E27FC236}">
                <a16:creationId xmlns:a16="http://schemas.microsoft.com/office/drawing/2014/main" id="{DBEE827F-23C5-4336-87F0-8BD0B5E18DC6}"/>
              </a:ext>
            </a:extLst>
          </p:cNvPr>
          <p:cNvSpPr>
            <a:spLocks noGrp="1"/>
          </p:cNvSpPr>
          <p:nvPr/>
        </p:nvSpPr>
        <p:spPr>
          <a:xfrm>
            <a:off x="3933825" y="1762125"/>
            <a:ext cx="1524000" cy="876300"/>
          </a:xfrm>
          <a:prstGeom prst="parallelogram">
            <a:avLst/>
          </a:prstGeom>
          <a:solidFill>
            <a:srgbClr val="EFF7FA"/>
          </a:solidFill>
          <a:ln w="28575">
            <a:solidFill>
              <a:srgbClr val="176B87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Lire 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05C8B8-A123-4788-A5C2-AADBF1E977ED}"/>
              </a:ext>
            </a:extLst>
          </p:cNvPr>
          <p:cNvSpPr>
            <a:spLocks noGrp="1"/>
          </p:cNvSpPr>
          <p:nvPr/>
        </p:nvSpPr>
        <p:spPr>
          <a:xfrm>
            <a:off x="3667125" y="3190875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Entrée / Sortie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E7BDF42-C6BB-4F87-96DD-4E769A87A675}"/>
              </a:ext>
            </a:extLst>
          </p:cNvPr>
          <p:cNvSpPr>
            <a:spLocks noGrp="1"/>
          </p:cNvSpPr>
          <p:nvPr/>
        </p:nvSpPr>
        <p:spPr>
          <a:xfrm>
            <a:off x="3695700" y="3676650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lire un capteur, afficher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09DAF00C-1D80-40C1-B086-AA3E2185BC86}"/>
              </a:ext>
            </a:extLst>
          </p:cNvPr>
          <p:cNvSpPr>
            <a:spLocks noGrp="1"/>
          </p:cNvSpPr>
          <p:nvPr/>
        </p:nvSpPr>
        <p:spPr>
          <a:xfrm>
            <a:off x="6334125" y="1333500"/>
            <a:ext cx="2428875" cy="371475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57216B-6F64-4966-BB29-07793E9583D8}"/>
              </a:ext>
            </a:extLst>
          </p:cNvPr>
          <p:cNvSpPr>
            <a:spLocks noGrp="1"/>
          </p:cNvSpPr>
          <p:nvPr/>
        </p:nvSpPr>
        <p:spPr>
          <a:xfrm>
            <a:off x="6791325" y="1762125"/>
            <a:ext cx="1524000" cy="876300"/>
          </a:xfrm>
          <a:prstGeom prst="rect">
            <a:avLst/>
          </a:prstGeom>
          <a:solidFill>
            <a:srgbClr val="EFF7FA"/>
          </a:solidFill>
          <a:ln w="28575">
            <a:solidFill>
              <a:srgbClr val="F7A600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ventilo = 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8F8A85-7D58-425D-98F2-2862243DC195}"/>
              </a:ext>
            </a:extLst>
          </p:cNvPr>
          <p:cNvSpPr>
            <a:spLocks noGrp="1"/>
          </p:cNvSpPr>
          <p:nvPr/>
        </p:nvSpPr>
        <p:spPr>
          <a:xfrm>
            <a:off x="6524625" y="3190875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Traitement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64D2C-3D75-4DAC-8B18-64A65DF1AFB5}"/>
              </a:ext>
            </a:extLst>
          </p:cNvPr>
          <p:cNvSpPr>
            <a:spLocks noGrp="1"/>
          </p:cNvSpPr>
          <p:nvPr/>
        </p:nvSpPr>
        <p:spPr>
          <a:xfrm>
            <a:off x="6553200" y="3676650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calculer, affecter, commander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F11B4FDF-D4ED-4858-8AA4-730EFE7F92E7}"/>
              </a:ext>
            </a:extLst>
          </p:cNvPr>
          <p:cNvSpPr>
            <a:spLocks noGrp="1"/>
          </p:cNvSpPr>
          <p:nvPr/>
        </p:nvSpPr>
        <p:spPr>
          <a:xfrm>
            <a:off x="9191625" y="1333500"/>
            <a:ext cx="2428875" cy="3714750"/>
          </a:xfrm>
          <a:prstGeom prst="roundRect">
            <a:avLst>
              <a:gd name="adj" fmla="val 8627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Losange 21">
            <a:extLst>
              <a:ext uri="{FF2B5EF4-FFF2-40B4-BE49-F238E27FC236}">
                <a16:creationId xmlns:a16="http://schemas.microsoft.com/office/drawing/2014/main" id="{8C223B04-E4C7-4CB4-87B7-F5D224996237}"/>
              </a:ext>
            </a:extLst>
          </p:cNvPr>
          <p:cNvSpPr>
            <a:spLocks noGrp="1"/>
          </p:cNvSpPr>
          <p:nvPr/>
        </p:nvSpPr>
        <p:spPr>
          <a:xfrm>
            <a:off x="9648825" y="1762125"/>
            <a:ext cx="1524000" cy="1190625"/>
          </a:xfrm>
          <a:prstGeom prst="diamond">
            <a:avLst/>
          </a:prstGeom>
          <a:solidFill>
            <a:srgbClr val="EFF7FA"/>
          </a:solidFill>
          <a:ln w="28575">
            <a:solidFill>
              <a:srgbClr val="82C341"/>
            </a:solidFill>
            <a:prstDash val="solid"/>
          </a:ln>
        </p:spPr>
        <p:txBody>
          <a:bodyPr lIns="76200" tIns="47625" rIns="76200" bIns="47625" anchor="ctr">
            <a:normAutofit/>
          </a:bodyPr>
          <a:lstStyle/>
          <a:p>
            <a:pPr algn="ctr">
              <a:def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T ≥ 28 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12B6CB2-5F88-493D-AFB7-D1EA6732F2A2}"/>
              </a:ext>
            </a:extLst>
          </p:cNvPr>
          <p:cNvSpPr>
            <a:spLocks noGrp="1"/>
          </p:cNvSpPr>
          <p:nvPr/>
        </p:nvSpPr>
        <p:spPr>
          <a:xfrm>
            <a:off x="9382125" y="3190875"/>
            <a:ext cx="2047875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575" b="1">
                <a:solidFill>
                  <a:srgbClr val="82C341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82C341"/>
                </a:solidFill>
                <a:latin typeface="DejaVu Sans"/>
                <a:ea typeface="DejaVu Sans"/>
                <a:cs typeface="DejaVu Sans"/>
              </a:rPr>
              <a:t>Test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163A028-0031-42C3-ABC5-02F2E831426A}"/>
              </a:ext>
            </a:extLst>
          </p:cNvPr>
          <p:cNvSpPr>
            <a:spLocks noGrp="1"/>
          </p:cNvSpPr>
          <p:nvPr/>
        </p:nvSpPr>
        <p:spPr>
          <a:xfrm>
            <a:off x="9410700" y="3676650"/>
            <a:ext cx="2000250" cy="857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condition vraie ou fausse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EC24ADE4-5B1B-40DB-B77D-E36BA7A251DC}"/>
              </a:ext>
            </a:extLst>
          </p:cNvPr>
          <p:cNvSpPr>
            <a:spLocks noGrp="1"/>
          </p:cNvSpPr>
          <p:nvPr/>
        </p:nvSpPr>
        <p:spPr>
          <a:xfrm>
            <a:off x="1524000" y="5429250"/>
            <a:ext cx="9144000" cy="476250"/>
          </a:xfrm>
          <a:prstGeom prst="roundRect">
            <a:avLst>
              <a:gd name="adj" fmla="val 32000"/>
            </a:avLst>
          </a:prstGeom>
          <a:solidFill>
            <a:srgbClr val="DDF6F4"/>
          </a:solidFill>
          <a:ln w="9525">
            <a:solidFill>
              <a:srgbClr val="00A6A6"/>
            </a:solidFill>
            <a:prstDash val="solid"/>
          </a:ln>
        </p:spPr>
        <p:txBody>
          <a:bodyPr lIns="57150" tIns="38100" rIns="57150" bIns="38100" anchor="ctr">
            <a:normAutofit fontScale="86012"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Les flèches indiquent le sens d’exécution. Chaque test possède deux sorties : VRAI et FAUX.</a:t>
            </a:r>
          </a:p>
        </p:txBody>
      </p:sp>
    </p:spTree>
    <p:extLst>
      <p:ext uri="{BB962C8B-B14F-4D97-AF65-F5344CB8AC3E}">
        <p14:creationId xmlns:p14="http://schemas.microsoft.com/office/powerpoint/2010/main" val="1029276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EB4ABE99-525C-46C2-9D9C-6B25990C5C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D938E7-BA2E-41B5-AF2C-FC52DAAD05E6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Activité flash 1 : associer symbole et action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71541C7-847F-4D3D-A88E-B6B76D76429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08CC38-9921-4F21-8509-1F5C37D5F826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EXERCICE 1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97A014AD-4704-43B4-8DCB-08AAF1F3AD2A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7" name="Imag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53DD6A5-5FBA-42D4-980E-5ACC72C5259C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44956E-9B7F-4B67-AE4B-8AFEE90A48C7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82202C4-1379-40EF-A3A5-96582E026E88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44F10E-7C2D-456E-A701-C56BB58BD566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830015C-2FCE-4C92-9DAB-ABDD847CC0EF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10477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287C325-9869-4FE8-A183-1DA045B4EBBB}"/>
              </a:ext>
            </a:extLst>
          </p:cNvPr>
          <p:cNvSpPr>
            <a:spLocks noGrp="1"/>
          </p:cNvSpPr>
          <p:nvPr/>
        </p:nvSpPr>
        <p:spPr>
          <a:xfrm>
            <a:off x="1047750" y="1476375"/>
            <a:ext cx="428625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467662-30F6-43F5-8008-84CF9727439F}"/>
              </a:ext>
            </a:extLst>
          </p:cNvPr>
          <p:cNvSpPr>
            <a:spLocks noGrp="1"/>
          </p:cNvSpPr>
          <p:nvPr/>
        </p:nvSpPr>
        <p:spPr>
          <a:xfrm>
            <a:off x="1047750" y="1476375"/>
            <a:ext cx="4286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EAC81E3-3909-419C-A01E-02C52F2DA2C5}"/>
              </a:ext>
            </a:extLst>
          </p:cNvPr>
          <p:cNvSpPr>
            <a:spLocks noGrp="1"/>
          </p:cNvSpPr>
          <p:nvPr/>
        </p:nvSpPr>
        <p:spPr>
          <a:xfrm>
            <a:off x="1714500" y="1419225"/>
            <a:ext cx="60007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Lire la température du capteur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C762FEF-8435-4BAA-BAE6-C3CD7217B795}"/>
              </a:ext>
            </a:extLst>
          </p:cNvPr>
          <p:cNvSpPr>
            <a:spLocks noGrp="1"/>
          </p:cNvSpPr>
          <p:nvPr/>
        </p:nvSpPr>
        <p:spPr>
          <a:xfrm>
            <a:off x="8048625" y="1419225"/>
            <a:ext cx="2809875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D42063C-CCB2-4186-9409-4F77C7E89A08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10477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0E9403A-8A91-4978-B02F-E35D338D9B90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428625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52969-47C8-4B13-B674-6ED7A0BDCF8E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4286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D411EC-EFCD-4781-8075-F56B4BE7D671}"/>
              </a:ext>
            </a:extLst>
          </p:cNvPr>
          <p:cNvSpPr>
            <a:spLocks noGrp="1"/>
          </p:cNvSpPr>
          <p:nvPr/>
        </p:nvSpPr>
        <p:spPr>
          <a:xfrm>
            <a:off x="1714500" y="2419350"/>
            <a:ext cx="60007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La température dépasse-t-elle 28 °C 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8AF7CE-8EA5-43EB-A7F0-F9AEDCC8B262}"/>
              </a:ext>
            </a:extLst>
          </p:cNvPr>
          <p:cNvSpPr>
            <a:spLocks noGrp="1"/>
          </p:cNvSpPr>
          <p:nvPr/>
        </p:nvSpPr>
        <p:spPr>
          <a:xfrm>
            <a:off x="8048625" y="2419350"/>
            <a:ext cx="2809875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79095DC4-2C62-4049-B8F7-96687D14FE23}"/>
              </a:ext>
            </a:extLst>
          </p:cNvPr>
          <p:cNvSpPr>
            <a:spLocks noGrp="1"/>
          </p:cNvSpPr>
          <p:nvPr/>
        </p:nvSpPr>
        <p:spPr>
          <a:xfrm>
            <a:off x="857250" y="3286125"/>
            <a:ext cx="10477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29B0D5E-3432-4428-AFA0-8D0B288E915A}"/>
              </a:ext>
            </a:extLst>
          </p:cNvPr>
          <p:cNvSpPr>
            <a:spLocks noGrp="1"/>
          </p:cNvSpPr>
          <p:nvPr/>
        </p:nvSpPr>
        <p:spPr>
          <a:xfrm>
            <a:off x="1047750" y="3476625"/>
            <a:ext cx="428625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F0161B-AEBF-4106-9C77-66D5E17F82FD}"/>
              </a:ext>
            </a:extLst>
          </p:cNvPr>
          <p:cNvSpPr>
            <a:spLocks noGrp="1"/>
          </p:cNvSpPr>
          <p:nvPr/>
        </p:nvSpPr>
        <p:spPr>
          <a:xfrm>
            <a:off x="1047750" y="3476625"/>
            <a:ext cx="4286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8ED866-4492-4935-987E-12D9CF5C84F5}"/>
              </a:ext>
            </a:extLst>
          </p:cNvPr>
          <p:cNvSpPr>
            <a:spLocks noGrp="1"/>
          </p:cNvSpPr>
          <p:nvPr/>
        </p:nvSpPr>
        <p:spPr>
          <a:xfrm>
            <a:off x="1714500" y="3419475"/>
            <a:ext cx="60007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Mettre le ventilateur en marche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61C2044-5110-40D9-AED7-5BC88B867892}"/>
              </a:ext>
            </a:extLst>
          </p:cNvPr>
          <p:cNvSpPr>
            <a:spLocks noGrp="1"/>
          </p:cNvSpPr>
          <p:nvPr/>
        </p:nvSpPr>
        <p:spPr>
          <a:xfrm>
            <a:off x="8048625" y="3419475"/>
            <a:ext cx="2809875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7B1DFF5E-4F9B-4740-93AB-062E730E6F19}"/>
              </a:ext>
            </a:extLst>
          </p:cNvPr>
          <p:cNvSpPr>
            <a:spLocks noGrp="1"/>
          </p:cNvSpPr>
          <p:nvPr/>
        </p:nvSpPr>
        <p:spPr>
          <a:xfrm>
            <a:off x="857250" y="4286250"/>
            <a:ext cx="10477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6B045E2-FD39-4634-BF20-57DC09527FC6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428625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D57BFE-1E43-4441-ACCC-F0F871F49A0A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4286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8296BE-3D07-4C20-A0C4-AFB8572ABE7D}"/>
              </a:ext>
            </a:extLst>
          </p:cNvPr>
          <p:cNvSpPr>
            <a:spLocks noGrp="1"/>
          </p:cNvSpPr>
          <p:nvPr/>
        </p:nvSpPr>
        <p:spPr>
          <a:xfrm>
            <a:off x="1714500" y="4419600"/>
            <a:ext cx="600075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Arrêter le programme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D0D246B-18C5-43D2-97A3-8F392570946B}"/>
              </a:ext>
            </a:extLst>
          </p:cNvPr>
          <p:cNvSpPr>
            <a:spLocks noGrp="1"/>
          </p:cNvSpPr>
          <p:nvPr/>
        </p:nvSpPr>
        <p:spPr>
          <a:xfrm>
            <a:off x="8048625" y="4419600"/>
            <a:ext cx="2809875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620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45F8E43-A8E4-46E5-9890-D7F00E172A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ACD57E-6C46-49E5-8572-4B9ABF95921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7657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Variables et types : mémoriser une information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C86612B-1C08-43CA-A04D-69CED73ED73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06F551-F4BE-4ED7-9B73-5EAD0454D902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DONNÉES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42B2491A-0EC0-4B11-BC72-26921B0F761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53" name="Image 5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F96DC8-3EF3-486E-94E5-0AD98DDB7147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66BE89-961A-499F-B20B-EEF51DBA74DD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87E2B00-048F-4066-BD13-F1C865E15EAD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265E7C-ACEC-44DE-8176-D0AE72F84670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EB6159D-4CBA-46A5-9278-2730C9E70D33}"/>
              </a:ext>
            </a:extLst>
          </p:cNvPr>
          <p:cNvSpPr>
            <a:spLocks noGrp="1"/>
          </p:cNvSpPr>
          <p:nvPr/>
        </p:nvSpPr>
        <p:spPr>
          <a:xfrm>
            <a:off x="809625" y="1285875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EE54530-1289-4109-BAA2-F288AD0160DC}"/>
              </a:ext>
            </a:extLst>
          </p:cNvPr>
          <p:cNvSpPr>
            <a:spLocks noGrp="1"/>
          </p:cNvSpPr>
          <p:nvPr/>
        </p:nvSpPr>
        <p:spPr>
          <a:xfrm>
            <a:off x="981075" y="1504950"/>
            <a:ext cx="514350" cy="514350"/>
          </a:xfrm>
          <a:prstGeom prst="ellipse">
            <a:avLst/>
          </a:prstGeom>
          <a:solidFill>
            <a:srgbClr val="00A6A6"/>
          </a:solidFill>
          <a:ln w="0">
            <a:solidFill>
              <a:srgbClr val="00A6A6"/>
            </a:solidFill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4B97DA-0331-4BFB-ACE6-096619EDCDE9}"/>
              </a:ext>
            </a:extLst>
          </p:cNvPr>
          <p:cNvSpPr>
            <a:spLocks noGrp="1"/>
          </p:cNvSpPr>
          <p:nvPr/>
        </p:nvSpPr>
        <p:spPr>
          <a:xfrm>
            <a:off x="1600200" y="14668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154"/>
          </a:bodyPr>
          <a:lstStyle/>
          <a:p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28.4 °C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EE574C-762F-4C55-A7B5-862DD82F8F0D}"/>
              </a:ext>
            </a:extLst>
          </p:cNvPr>
          <p:cNvSpPr>
            <a:spLocks noGrp="1"/>
          </p:cNvSpPr>
          <p:nvPr/>
        </p:nvSpPr>
        <p:spPr>
          <a:xfrm>
            <a:off x="1600200" y="182880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238"/>
          </a:bodyPr>
          <a:lstStyle/>
          <a:p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2104451-948D-4028-A808-3BAD340373D1}"/>
              </a:ext>
            </a:extLst>
          </p:cNvPr>
          <p:cNvSpPr>
            <a:spLocks noGrp="1"/>
          </p:cNvSpPr>
          <p:nvPr/>
        </p:nvSpPr>
        <p:spPr>
          <a:xfrm>
            <a:off x="3476625" y="1285875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3B635670-6611-4CF5-BB3F-3B789EB8A030}"/>
              </a:ext>
            </a:extLst>
          </p:cNvPr>
          <p:cNvSpPr>
            <a:spLocks noGrp="1"/>
          </p:cNvSpPr>
          <p:nvPr/>
        </p:nvSpPr>
        <p:spPr>
          <a:xfrm>
            <a:off x="3648075" y="1504950"/>
            <a:ext cx="514350" cy="514350"/>
          </a:xfrm>
          <a:prstGeom prst="ellipse">
            <a:avLst/>
          </a:prstGeom>
          <a:solidFill>
            <a:srgbClr val="176B87"/>
          </a:solidFill>
          <a:ln w="0">
            <a:solidFill>
              <a:srgbClr val="176B87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4501B4-7226-489F-990F-1E38A59371B2}"/>
              </a:ext>
            </a:extLst>
          </p:cNvPr>
          <p:cNvSpPr>
            <a:spLocks noGrp="1"/>
          </p:cNvSpPr>
          <p:nvPr/>
        </p:nvSpPr>
        <p:spPr>
          <a:xfrm>
            <a:off x="4267200" y="14668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154"/>
          </a:bodyPr>
          <a:lstStyle/>
          <a:p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94A7A3-45C3-4F1B-A973-65F487B855CA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238"/>
          </a:bodyPr>
          <a:lstStyle/>
          <a:p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compteur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DBA6A99-A73A-48D2-B72B-CA6B22FB0E06}"/>
              </a:ext>
            </a:extLst>
          </p:cNvPr>
          <p:cNvSpPr>
            <a:spLocks noGrp="1"/>
          </p:cNvSpPr>
          <p:nvPr/>
        </p:nvSpPr>
        <p:spPr>
          <a:xfrm>
            <a:off x="6143625" y="1285875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3ECE31C-8AF7-41B2-91BB-BA82E627DBD9}"/>
              </a:ext>
            </a:extLst>
          </p:cNvPr>
          <p:cNvSpPr>
            <a:spLocks noGrp="1"/>
          </p:cNvSpPr>
          <p:nvPr/>
        </p:nvSpPr>
        <p:spPr>
          <a:xfrm>
            <a:off x="6315075" y="1504950"/>
            <a:ext cx="514350" cy="514350"/>
          </a:xfrm>
          <a:prstGeom prst="ellipse">
            <a:avLst/>
          </a:prstGeom>
          <a:solidFill>
            <a:srgbClr val="82C341"/>
          </a:solidFill>
          <a:ln w="0">
            <a:solidFill>
              <a:srgbClr val="82C341"/>
            </a:solidFill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C6A560-2DED-4118-BB85-B0AB757DCA20}"/>
              </a:ext>
            </a:extLst>
          </p:cNvPr>
          <p:cNvSpPr>
            <a:spLocks noGrp="1"/>
          </p:cNvSpPr>
          <p:nvPr/>
        </p:nvSpPr>
        <p:spPr>
          <a:xfrm>
            <a:off x="6934200" y="14668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154"/>
          </a:bodyPr>
          <a:lstStyle/>
          <a:p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VRAI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1A949D-567A-448E-AF16-066B878CE489}"/>
              </a:ext>
            </a:extLst>
          </p:cNvPr>
          <p:cNvSpPr>
            <a:spLocks noGrp="1"/>
          </p:cNvSpPr>
          <p:nvPr/>
        </p:nvSpPr>
        <p:spPr>
          <a:xfrm>
            <a:off x="6934200" y="182880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238"/>
          </a:bodyPr>
          <a:lstStyle/>
          <a:p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présence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06F6E5F8-D7DF-4D24-9812-A2788B4DA916}"/>
              </a:ext>
            </a:extLst>
          </p:cNvPr>
          <p:cNvSpPr>
            <a:spLocks noGrp="1"/>
          </p:cNvSpPr>
          <p:nvPr/>
        </p:nvSpPr>
        <p:spPr>
          <a:xfrm>
            <a:off x="8810625" y="1285875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9C4D68F-8914-4902-B5F0-B7CDB4181B8D}"/>
              </a:ext>
            </a:extLst>
          </p:cNvPr>
          <p:cNvSpPr>
            <a:spLocks noGrp="1"/>
          </p:cNvSpPr>
          <p:nvPr/>
        </p:nvSpPr>
        <p:spPr>
          <a:xfrm>
            <a:off x="8982075" y="1504950"/>
            <a:ext cx="514350" cy="514350"/>
          </a:xfrm>
          <a:prstGeom prst="ellipse">
            <a:avLst/>
          </a:prstGeom>
          <a:solidFill>
            <a:srgbClr val="F7A600"/>
          </a:solidFill>
          <a:ln w="0">
            <a:solidFill>
              <a:srgbClr val="F7A600"/>
            </a:solidFill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E1A598-42D7-43ED-B94F-0BC949B081A0}"/>
              </a:ext>
            </a:extLst>
          </p:cNvPr>
          <p:cNvSpPr>
            <a:spLocks noGrp="1"/>
          </p:cNvSpPr>
          <p:nvPr/>
        </p:nvSpPr>
        <p:spPr>
          <a:xfrm>
            <a:off x="9601200" y="14668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154"/>
          </a:bodyPr>
          <a:lstStyle/>
          <a:p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AUTO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5D7FE88-15DC-438A-9DC5-E2BF54B75E76}"/>
              </a:ext>
            </a:extLst>
          </p:cNvPr>
          <p:cNvSpPr>
            <a:spLocks noGrp="1"/>
          </p:cNvSpPr>
          <p:nvPr/>
        </p:nvSpPr>
        <p:spPr>
          <a:xfrm>
            <a:off x="9601200" y="182880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238"/>
          </a:bodyPr>
          <a:lstStyle/>
          <a:p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état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FF53CA96-4F7D-4601-B568-5337791EC84D}"/>
              </a:ext>
            </a:extLst>
          </p:cNvPr>
          <p:cNvSpPr>
            <a:spLocks noGrp="1"/>
          </p:cNvSpPr>
          <p:nvPr/>
        </p:nvSpPr>
        <p:spPr>
          <a:xfrm>
            <a:off x="904875" y="2714625"/>
            <a:ext cx="10382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90694A-480C-4721-8578-DCDAF779ECCB}"/>
              </a:ext>
            </a:extLst>
          </p:cNvPr>
          <p:cNvSpPr>
            <a:spLocks noGrp="1"/>
          </p:cNvSpPr>
          <p:nvPr/>
        </p:nvSpPr>
        <p:spPr>
          <a:xfrm>
            <a:off x="1047750" y="278130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bool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447D6E-81DE-4136-B35B-5FE58DFB329E}"/>
              </a:ext>
            </a:extLst>
          </p:cNvPr>
          <p:cNvSpPr>
            <a:spLocks noGrp="1"/>
          </p:cNvSpPr>
          <p:nvPr/>
        </p:nvSpPr>
        <p:spPr>
          <a:xfrm>
            <a:off x="2524125" y="2781300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logique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EDB7CE6-8E65-4AFF-A106-04C25A043545}"/>
              </a:ext>
            </a:extLst>
          </p:cNvPr>
          <p:cNvSpPr>
            <a:spLocks noGrp="1"/>
          </p:cNvSpPr>
          <p:nvPr/>
        </p:nvSpPr>
        <p:spPr>
          <a:xfrm>
            <a:off x="4238625" y="27813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presence = True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59ED72-C94B-4F9B-8345-524C55E99A3B}"/>
              </a:ext>
            </a:extLst>
          </p:cNvPr>
          <p:cNvSpPr>
            <a:spLocks noGrp="1"/>
          </p:cNvSpPr>
          <p:nvPr/>
        </p:nvSpPr>
        <p:spPr>
          <a:xfrm>
            <a:off x="7429500" y="278130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bool presence = true;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25388A3-72C3-48CD-ACDB-0A55E9F1E0CB}"/>
              </a:ext>
            </a:extLst>
          </p:cNvPr>
          <p:cNvSpPr>
            <a:spLocks noGrp="1"/>
          </p:cNvSpPr>
          <p:nvPr/>
        </p:nvSpPr>
        <p:spPr>
          <a:xfrm>
            <a:off x="904875" y="3381375"/>
            <a:ext cx="10382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B4EF27C-7DF9-4532-9BA5-78308ED2C420}"/>
              </a:ext>
            </a:extLst>
          </p:cNvPr>
          <p:cNvSpPr>
            <a:spLocks noGrp="1"/>
          </p:cNvSpPr>
          <p:nvPr/>
        </p:nvSpPr>
        <p:spPr>
          <a:xfrm>
            <a:off x="1047750" y="34480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int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7D958E-9D2B-4106-A9C1-9F22604277E2}"/>
              </a:ext>
            </a:extLst>
          </p:cNvPr>
          <p:cNvSpPr>
            <a:spLocks noGrp="1"/>
          </p:cNvSpPr>
          <p:nvPr/>
        </p:nvSpPr>
        <p:spPr>
          <a:xfrm>
            <a:off x="2524125" y="3448050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entier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EC720C-A99A-4E9F-AE8F-EF59BFAF87B7}"/>
              </a:ext>
            </a:extLst>
          </p:cNvPr>
          <p:cNvSpPr>
            <a:spLocks noGrp="1"/>
          </p:cNvSpPr>
          <p:nvPr/>
        </p:nvSpPr>
        <p:spPr>
          <a:xfrm>
            <a:off x="4238625" y="34480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compteur = 3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73513F-292C-4524-BFD5-822036E7CB02}"/>
              </a:ext>
            </a:extLst>
          </p:cNvPr>
          <p:cNvSpPr>
            <a:spLocks noGrp="1"/>
          </p:cNvSpPr>
          <p:nvPr/>
        </p:nvSpPr>
        <p:spPr>
          <a:xfrm>
            <a:off x="7429500" y="344805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int compteur = 3;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1D9C76D7-8390-47DB-B211-93CA1376B3B5}"/>
              </a:ext>
            </a:extLst>
          </p:cNvPr>
          <p:cNvSpPr>
            <a:spLocks noGrp="1"/>
          </p:cNvSpPr>
          <p:nvPr/>
        </p:nvSpPr>
        <p:spPr>
          <a:xfrm>
            <a:off x="904875" y="4048125"/>
            <a:ext cx="10382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8374C9-34E7-4DD3-9803-2E37CCE0DEE8}"/>
              </a:ext>
            </a:extLst>
          </p:cNvPr>
          <p:cNvSpPr>
            <a:spLocks noGrp="1"/>
          </p:cNvSpPr>
          <p:nvPr/>
        </p:nvSpPr>
        <p:spPr>
          <a:xfrm>
            <a:off x="1047750" y="411480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float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B9F1FE0-48B8-489C-BDC2-0FCE3B836844}"/>
              </a:ext>
            </a:extLst>
          </p:cNvPr>
          <p:cNvSpPr>
            <a:spLocks noGrp="1"/>
          </p:cNvSpPr>
          <p:nvPr/>
        </p:nvSpPr>
        <p:spPr>
          <a:xfrm>
            <a:off x="2524125" y="4114800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réel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EF633E-296C-4D3C-9B77-A2E991D45C03}"/>
              </a:ext>
            </a:extLst>
          </p:cNvPr>
          <p:cNvSpPr>
            <a:spLocks noGrp="1"/>
          </p:cNvSpPr>
          <p:nvPr/>
        </p:nvSpPr>
        <p:spPr>
          <a:xfrm>
            <a:off x="4238625" y="411480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temperature = 28.4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4BBBEC-52B7-4807-8BFC-8A5E090D4BCB}"/>
              </a:ext>
            </a:extLst>
          </p:cNvPr>
          <p:cNvSpPr>
            <a:spLocks noGrp="1"/>
          </p:cNvSpPr>
          <p:nvPr/>
        </p:nvSpPr>
        <p:spPr>
          <a:xfrm>
            <a:off x="7429500" y="411480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float temperature = 28.4;</a:t>
            </a: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045E212F-B1EC-49B4-A1BB-63F9C5E62179}"/>
              </a:ext>
            </a:extLst>
          </p:cNvPr>
          <p:cNvSpPr>
            <a:spLocks noGrp="1"/>
          </p:cNvSpPr>
          <p:nvPr/>
        </p:nvSpPr>
        <p:spPr>
          <a:xfrm>
            <a:off x="904875" y="4714875"/>
            <a:ext cx="10382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B11278-1C26-45C0-A768-69A650F7BA8A}"/>
              </a:ext>
            </a:extLst>
          </p:cNvPr>
          <p:cNvSpPr>
            <a:spLocks noGrp="1"/>
          </p:cNvSpPr>
          <p:nvPr/>
        </p:nvSpPr>
        <p:spPr>
          <a:xfrm>
            <a:off x="1047750" y="4781550"/>
            <a:ext cx="1428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350" b="1">
                <a:solidFill>
                  <a:srgbClr val="00A6A6"/>
                </a:solidFill>
                <a:latin typeface="DejaVu Sans Mono"/>
                <a:ea typeface="DejaVu Sans Mono"/>
                <a:cs typeface="DejaVu Sans Mono"/>
              </a:rPr>
              <a:t>str / String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C4F423E-544B-440C-B720-5D18CFFCEC0F}"/>
              </a:ext>
            </a:extLst>
          </p:cNvPr>
          <p:cNvSpPr>
            <a:spLocks noGrp="1"/>
          </p:cNvSpPr>
          <p:nvPr/>
        </p:nvSpPr>
        <p:spPr>
          <a:xfrm>
            <a:off x="2524125" y="4781550"/>
            <a:ext cx="1524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texte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4CA3253-702E-4FE7-8774-0AF6419C5BFF}"/>
              </a:ext>
            </a:extLst>
          </p:cNvPr>
          <p:cNvSpPr>
            <a:spLocks noGrp="1"/>
          </p:cNvSpPr>
          <p:nvPr/>
        </p:nvSpPr>
        <p:spPr>
          <a:xfrm>
            <a:off x="4238625" y="4781550"/>
            <a:ext cx="3048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etat = "AUTO"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4F18574-98BC-4465-98BD-800EFA8333B6}"/>
              </a:ext>
            </a:extLst>
          </p:cNvPr>
          <p:cNvSpPr>
            <a:spLocks noGrp="1"/>
          </p:cNvSpPr>
          <p:nvPr/>
        </p:nvSpPr>
        <p:spPr>
          <a:xfrm>
            <a:off x="7429500" y="4781550"/>
            <a:ext cx="357187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75" b="0">
                <a:solidFill>
                  <a:srgbClr val="12304A"/>
                </a:solidFill>
                <a:latin typeface="DejaVu Sans Mono"/>
                <a:ea typeface="DejaVu Sans Mono"/>
                <a:cs typeface="DejaVu Sans Mono"/>
              </a:rPr>
              <a:t>String etat = "AUTO";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C1A0AD1A-6002-4AF8-A3F8-85B7C628B48B}"/>
              </a:ext>
            </a:extLst>
          </p:cNvPr>
          <p:cNvSpPr>
            <a:spLocks noGrp="1"/>
          </p:cNvSpPr>
          <p:nvPr/>
        </p:nvSpPr>
        <p:spPr>
          <a:xfrm>
            <a:off x="2381250" y="5572125"/>
            <a:ext cx="7429500" cy="400050"/>
          </a:xfrm>
          <a:prstGeom prst="roundRect">
            <a:avLst>
              <a:gd name="adj" fmla="val 38095"/>
            </a:avLst>
          </a:prstGeom>
          <a:solidFill>
            <a:srgbClr val="FFF3CF"/>
          </a:solidFill>
          <a:ln w="9525">
            <a:solidFill>
              <a:srgbClr val="F7A600"/>
            </a:solidFill>
            <a:prstDash val="solid"/>
          </a:ln>
        </p:spPr>
        <p:txBody>
          <a:bodyPr lIns="57150" tIns="38100" rIns="57150" bIns="38100" anchor="ctr">
            <a:normAutofit fontScale="97728"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Une variable possède un ……………, un …………… et une …………… .</a:t>
            </a:r>
          </a:p>
        </p:txBody>
      </p:sp>
    </p:spTree>
    <p:extLst>
      <p:ext uri="{BB962C8B-B14F-4D97-AF65-F5344CB8AC3E}">
        <p14:creationId xmlns:p14="http://schemas.microsoft.com/office/powerpoint/2010/main" val="2002816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803914C-3116-490F-95EC-13C2D61295D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B94612-93B5-47B7-8D6C-C50435B0286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Écrire une condition sans ambiguïté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C29F4FF-D670-4486-AE75-D32C491AD5AE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24AE28-E60E-4648-A083-EDBB4584DC50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OPÉRATEURS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62F4A283-823B-424A-AD04-5357A45375B1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9F6C99-87EA-4E20-943C-F4A5A9A2BFBB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887E45-A7D5-4E2A-8BEB-E0F0D4FFFEED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7513FED2-F6D7-47BC-984F-EF55ED6EA1D7}"/>
              </a:ext>
            </a:extLst>
          </p:cNvPr>
          <p:cNvSpPr>
            <a:spLocks noGrp="1"/>
          </p:cNvSpPr>
          <p:nvPr/>
        </p:nvSpPr>
        <p:spPr>
          <a:xfrm>
            <a:off x="666750" y="1333500"/>
            <a:ext cx="3333750" cy="295275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B7544EF-DE80-49DB-B967-D48842C349B3}"/>
              </a:ext>
            </a:extLst>
          </p:cNvPr>
          <p:cNvSpPr>
            <a:spLocks noGrp="1"/>
          </p:cNvSpPr>
          <p:nvPr/>
        </p:nvSpPr>
        <p:spPr>
          <a:xfrm>
            <a:off x="1428750" y="1571625"/>
            <a:ext cx="1809750" cy="361950"/>
          </a:xfrm>
          <a:prstGeom prst="roundRect">
            <a:avLst>
              <a:gd name="adj" fmla="val 47368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956E83-16D5-45B6-985E-0FB30833F3AD}"/>
              </a:ext>
            </a:extLst>
          </p:cNvPr>
          <p:cNvSpPr>
            <a:spLocks noGrp="1"/>
          </p:cNvSpPr>
          <p:nvPr/>
        </p:nvSpPr>
        <p:spPr>
          <a:xfrm>
            <a:off x="1428750" y="157162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COMPARER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299D7F-8408-4734-A36D-5A04B168D56C}"/>
              </a:ext>
            </a:extLst>
          </p:cNvPr>
          <p:cNvSpPr>
            <a:spLocks noGrp="1"/>
          </p:cNvSpPr>
          <p:nvPr/>
        </p:nvSpPr>
        <p:spPr>
          <a:xfrm>
            <a:off x="1000125" y="2190750"/>
            <a:ext cx="2667000" cy="1762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==  égal à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!=  différent de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&gt;  supérieur à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&gt;=  supérieur ou égal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96CE758-243D-423C-A993-8D7BB7988235}"/>
              </a:ext>
            </a:extLst>
          </p:cNvPr>
          <p:cNvSpPr>
            <a:spLocks noGrp="1"/>
          </p:cNvSpPr>
          <p:nvPr/>
        </p:nvSpPr>
        <p:spPr>
          <a:xfrm>
            <a:off x="4429125" y="1333500"/>
            <a:ext cx="3333750" cy="295275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E1B14E9-F416-4902-ABE6-3EDE3F570C5D}"/>
              </a:ext>
            </a:extLst>
          </p:cNvPr>
          <p:cNvSpPr>
            <a:spLocks noGrp="1"/>
          </p:cNvSpPr>
          <p:nvPr/>
        </p:nvSpPr>
        <p:spPr>
          <a:xfrm>
            <a:off x="5191125" y="1571625"/>
            <a:ext cx="1809750" cy="361950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4C09D7-9276-46DB-AC9A-6AD6B40EB2B2}"/>
              </a:ext>
            </a:extLst>
          </p:cNvPr>
          <p:cNvSpPr>
            <a:spLocks noGrp="1"/>
          </p:cNvSpPr>
          <p:nvPr/>
        </p:nvSpPr>
        <p:spPr>
          <a:xfrm>
            <a:off x="5191125" y="157162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COMBINER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862BEE-F7EB-4CFC-A459-7FB3FDE3B558}"/>
              </a:ext>
            </a:extLst>
          </p:cNvPr>
          <p:cNvSpPr>
            <a:spLocks noGrp="1"/>
          </p:cNvSpPr>
          <p:nvPr/>
        </p:nvSpPr>
        <p:spPr>
          <a:xfrm>
            <a:off x="4762500" y="2190750"/>
            <a:ext cx="2667000" cy="1762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and  ET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or  OU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not  NON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F0F9E01-DA26-4DBF-888F-AED986504067}"/>
              </a:ext>
            </a:extLst>
          </p:cNvPr>
          <p:cNvSpPr>
            <a:spLocks noGrp="1"/>
          </p:cNvSpPr>
          <p:nvPr/>
        </p:nvSpPr>
        <p:spPr>
          <a:xfrm>
            <a:off x="8191500" y="1333500"/>
            <a:ext cx="3333750" cy="295275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5028388-2943-4487-80C0-74EDA0C098C5}"/>
              </a:ext>
            </a:extLst>
          </p:cNvPr>
          <p:cNvSpPr>
            <a:spLocks noGrp="1"/>
          </p:cNvSpPr>
          <p:nvPr/>
        </p:nvSpPr>
        <p:spPr>
          <a:xfrm>
            <a:off x="8953500" y="1571625"/>
            <a:ext cx="1809750" cy="361950"/>
          </a:xfrm>
          <a:prstGeom prst="roundRect">
            <a:avLst>
              <a:gd name="adj" fmla="val 47368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14FD7B-C170-4ED2-B796-90446E9D22E7}"/>
              </a:ext>
            </a:extLst>
          </p:cNvPr>
          <p:cNvSpPr>
            <a:spLocks noGrp="1"/>
          </p:cNvSpPr>
          <p:nvPr/>
        </p:nvSpPr>
        <p:spPr>
          <a:xfrm>
            <a:off x="8953500" y="1571625"/>
            <a:ext cx="1809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CALCULER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5B1FC2C-5954-49A1-890E-91BCD3899197}"/>
              </a:ext>
            </a:extLst>
          </p:cNvPr>
          <p:cNvSpPr>
            <a:spLocks noGrp="1"/>
          </p:cNvSpPr>
          <p:nvPr/>
        </p:nvSpPr>
        <p:spPr>
          <a:xfrm>
            <a:off x="8524875" y="2190750"/>
            <a:ext cx="2667000" cy="1762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+  -  *  /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%  reste d’une division</a:t>
            </a:r>
          </a:p>
          <a:p>
            <a:pPr algn="l">
              <a:def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=  affectation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DC13875-5D8A-467C-80BF-CBA66B052D50}"/>
              </a:ext>
            </a:extLst>
          </p:cNvPr>
          <p:cNvSpPr>
            <a:spLocks noGrp="1"/>
          </p:cNvSpPr>
          <p:nvPr/>
        </p:nvSpPr>
        <p:spPr>
          <a:xfrm>
            <a:off x="1571625" y="4762500"/>
            <a:ext cx="9048750" cy="1000125"/>
          </a:xfrm>
          <a:prstGeom prst="roundRect">
            <a:avLst>
              <a:gd name="adj" fmla="val 17143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512E5F-11F3-4525-BA61-68728DE8A420}"/>
              </a:ext>
            </a:extLst>
          </p:cNvPr>
          <p:cNvSpPr>
            <a:spLocks noGrp="1"/>
          </p:cNvSpPr>
          <p:nvPr/>
        </p:nvSpPr>
        <p:spPr>
          <a:xfrm>
            <a:off x="1952625" y="4953000"/>
            <a:ext cx="53340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875" b="1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75" b="1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temperature &gt;= 28 and presence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7DE6C8-017D-404E-84B6-0C1B063D1268}"/>
              </a:ext>
            </a:extLst>
          </p:cNvPr>
          <p:cNvSpPr>
            <a:spLocks noGrp="1"/>
          </p:cNvSpPr>
          <p:nvPr/>
        </p:nvSpPr>
        <p:spPr>
          <a:xfrm>
            <a:off x="7524750" y="4895850"/>
            <a:ext cx="2714625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9047"/>
          </a:bodyPr>
          <a:lstStyle/>
          <a:p>
            <a:pPr algn="ctr">
              <a:defRPr sz="1350" b="1">
                <a:solidFill>
                  <a:srgbClr val="91E6D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91E6D9"/>
                </a:solidFill>
                <a:latin typeface="DejaVu Sans"/>
                <a:ea typeface="DejaVu Sans"/>
                <a:cs typeface="DejaVu Sans"/>
              </a:rPr>
              <a:t>VRAI seulement si les deux conditions sont vraies</a:t>
            </a:r>
          </a:p>
        </p:txBody>
      </p:sp>
    </p:spTree>
    <p:extLst>
      <p:ext uri="{BB962C8B-B14F-4D97-AF65-F5344CB8AC3E}">
        <p14:creationId xmlns:p14="http://schemas.microsoft.com/office/powerpoint/2010/main" val="1807109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74A2F79-30C0-422F-B6A4-609A8FD5D44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0CE222-786F-405A-A09F-DB0BFC4B0EE2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Structure séquentielle : exécuter dans l’ordre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E0035F6-370A-4D68-B67D-0BBBF7B277DA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34A5DF-9975-49DF-96E2-F26E055A25D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SÉQUENCE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4BB3E710-8990-4E07-8E01-DE721DEB871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2" name="Image 3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22C42A0-15BF-40B5-8519-6365C9113EF3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78D950-8CF9-4582-BB1A-291E7D4ED0AE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B1C333-947A-4FE2-B802-4F4214EE085B}"/>
              </a:ext>
            </a:extLst>
          </p:cNvPr>
          <p:cNvSpPr>
            <a:spLocks noGrp="1"/>
          </p:cNvSpPr>
          <p:nvPr/>
        </p:nvSpPr>
        <p:spPr>
          <a:xfrm>
            <a:off x="1190625" y="1047750"/>
            <a:ext cx="9810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Exemple actuel : contrôle d’accès par badge NFC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C3AF26AB-0809-4CF5-A94A-FE9D142380BF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2381250" cy="123825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9B945DD-02F2-4F96-BCD7-57ED76A44C51}"/>
              </a:ext>
            </a:extLst>
          </p:cNvPr>
          <p:cNvSpPr>
            <a:spLocks noGrp="1"/>
          </p:cNvSpPr>
          <p:nvPr/>
        </p:nvSpPr>
        <p:spPr>
          <a:xfrm>
            <a:off x="790575" y="2238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130267-1AD7-4CC7-86F1-EFFFEF592331}"/>
              </a:ext>
            </a:extLst>
          </p:cNvPr>
          <p:cNvSpPr>
            <a:spLocks noGrp="1"/>
          </p:cNvSpPr>
          <p:nvPr/>
        </p:nvSpPr>
        <p:spPr>
          <a:xfrm>
            <a:off x="857250" y="266700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512"/>
          </a:bodyPr>
          <a:lstStyle/>
          <a:p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Lire l’identifiant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214B32-81F0-4FE2-BA71-94E122781E31}"/>
              </a:ext>
            </a:extLst>
          </p:cNvPr>
          <p:cNvSpPr>
            <a:spLocks noGrp="1"/>
          </p:cNvSpPr>
          <p:nvPr/>
        </p:nvSpPr>
        <p:spPr>
          <a:xfrm>
            <a:off x="3076575" y="2428875"/>
            <a:ext cx="333375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437"/>
          </a:bodyPr>
          <a:lstStyle/>
          <a:p>
            <a:pPr algn="ctr">
              <a:def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822ADA92-E770-4C5A-987A-BA060030C31C}"/>
              </a:ext>
            </a:extLst>
          </p:cNvPr>
          <p:cNvSpPr>
            <a:spLocks noGrp="1"/>
          </p:cNvSpPr>
          <p:nvPr/>
        </p:nvSpPr>
        <p:spPr>
          <a:xfrm>
            <a:off x="3476625" y="2095500"/>
            <a:ext cx="2381250" cy="123825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C658942-6CDE-499D-9F0A-7752AFB45620}"/>
              </a:ext>
            </a:extLst>
          </p:cNvPr>
          <p:cNvSpPr>
            <a:spLocks noGrp="1"/>
          </p:cNvSpPr>
          <p:nvPr/>
        </p:nvSpPr>
        <p:spPr>
          <a:xfrm>
            <a:off x="3648075" y="2238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2FEA47-1DB9-498F-B96D-E7B12754100C}"/>
              </a:ext>
            </a:extLst>
          </p:cNvPr>
          <p:cNvSpPr>
            <a:spLocks noGrp="1"/>
          </p:cNvSpPr>
          <p:nvPr/>
        </p:nvSpPr>
        <p:spPr>
          <a:xfrm>
            <a:off x="3714750" y="266700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3254"/>
          </a:bodyPr>
          <a:lstStyle/>
          <a:p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Comparer à la liste autorisée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D71B76-1518-4139-AD33-F2AD44031F3D}"/>
              </a:ext>
            </a:extLst>
          </p:cNvPr>
          <p:cNvSpPr>
            <a:spLocks noGrp="1"/>
          </p:cNvSpPr>
          <p:nvPr/>
        </p:nvSpPr>
        <p:spPr>
          <a:xfrm>
            <a:off x="5934075" y="2428875"/>
            <a:ext cx="333375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437"/>
          </a:bodyPr>
          <a:lstStyle/>
          <a:p>
            <a:pPr algn="ctr">
              <a:def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91A9338-0FC8-4E9F-9978-6852B43D8726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2381250" cy="1238250"/>
          </a:xfrm>
          <a:prstGeom prst="roundRect">
            <a:avLst>
              <a:gd name="adj" fmla="val 16923"/>
            </a:avLst>
          </a:prstGeom>
          <a:solidFill>
            <a:srgbClr val="EAF6DC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360E7E45-2E68-4B0B-A69F-9E4D3BCCD719}"/>
              </a:ext>
            </a:extLst>
          </p:cNvPr>
          <p:cNvSpPr>
            <a:spLocks noGrp="1"/>
          </p:cNvSpPr>
          <p:nvPr/>
        </p:nvSpPr>
        <p:spPr>
          <a:xfrm>
            <a:off x="6505575" y="2238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82C341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891E3B-A81A-465E-8FAA-122C99781C81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312"/>
          </a:bodyPr>
          <a:lstStyle/>
          <a:p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Déverrouiller 5 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F14AE6-5F74-41EE-90A6-F2FD7F43DD17}"/>
              </a:ext>
            </a:extLst>
          </p:cNvPr>
          <p:cNvSpPr>
            <a:spLocks noGrp="1"/>
          </p:cNvSpPr>
          <p:nvPr/>
        </p:nvSpPr>
        <p:spPr>
          <a:xfrm>
            <a:off x="8791575" y="2428875"/>
            <a:ext cx="333375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437"/>
          </a:bodyPr>
          <a:lstStyle/>
          <a:p>
            <a:pPr algn="ctr">
              <a:def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2859F07-C394-4916-B6B7-BEAE7BF44621}"/>
              </a:ext>
            </a:extLst>
          </p:cNvPr>
          <p:cNvSpPr>
            <a:spLocks noGrp="1"/>
          </p:cNvSpPr>
          <p:nvPr/>
        </p:nvSpPr>
        <p:spPr>
          <a:xfrm>
            <a:off x="9191625" y="2095500"/>
            <a:ext cx="2381250" cy="123825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F6BD65E5-2220-4C18-99FA-8B0419E23CC6}"/>
              </a:ext>
            </a:extLst>
          </p:cNvPr>
          <p:cNvSpPr>
            <a:spLocks noGrp="1"/>
          </p:cNvSpPr>
          <p:nvPr/>
        </p:nvSpPr>
        <p:spPr>
          <a:xfrm>
            <a:off x="9363075" y="223837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2157B0-D7A1-442A-9C27-A9972B404D35}"/>
              </a:ext>
            </a:extLst>
          </p:cNvPr>
          <p:cNvSpPr>
            <a:spLocks noGrp="1"/>
          </p:cNvSpPr>
          <p:nvPr/>
        </p:nvSpPr>
        <p:spPr>
          <a:xfrm>
            <a:off x="9429750" y="2667000"/>
            <a:ext cx="19050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Reverrouiller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52450AC8-29E3-4550-A850-28DCA96BF1C7}"/>
              </a:ext>
            </a:extLst>
          </p:cNvPr>
          <p:cNvSpPr>
            <a:spLocks noGrp="1"/>
          </p:cNvSpPr>
          <p:nvPr/>
        </p:nvSpPr>
        <p:spPr>
          <a:xfrm>
            <a:off x="3714750" y="3857625"/>
            <a:ext cx="4762500" cy="2047875"/>
          </a:xfrm>
          <a:prstGeom prst="roundRect">
            <a:avLst>
              <a:gd name="adj" fmla="val 7442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886F676-75F3-4371-B9A8-FA289E8B8E13}"/>
              </a:ext>
            </a:extLst>
          </p:cNvPr>
          <p:cNvSpPr>
            <a:spLocks noGrp="1"/>
          </p:cNvSpPr>
          <p:nvPr/>
        </p:nvSpPr>
        <p:spPr>
          <a:xfrm>
            <a:off x="3848100" y="3971925"/>
            <a:ext cx="4495800" cy="1819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Début</a:t>
            </a:r>
          </a:p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lire badge</a:t>
            </a:r>
          </a:p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vérifier badge</a:t>
            </a:r>
          </a:p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ouvrir serrure</a:t>
            </a:r>
          </a:p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5 s</a:t>
            </a:r>
          </a:p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fermer serrure</a:t>
            </a:r>
          </a:p>
          <a:p>
            <a:pPr algn="l">
              <a:def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47052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C6800F1-ADE7-4BE1-98C3-6366B35668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A53A02-17FD-4567-9B40-968580C608A4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2 : passage piéton intelligent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B688D88-7B36-45AA-9244-FDD9E5F8BAF4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2C4270-8D52-4FE0-8682-9CAE8CE242F9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SÉQUENCE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1DDCA015-DE19-4314-B192-BE9573045290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DAE59C3-A877-4038-905E-6284A60F5662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E6EAB73-E2E6-4F51-B119-3414C4C58EE0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056FDCE-9A4A-45DF-83CE-DECC86C28273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481FFD3-513D-428E-BE2A-4DBDD8D61B87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B6521AF3-ADF5-4C64-A491-8B6E724C525F}"/>
              </a:ext>
            </a:extLst>
          </p:cNvPr>
          <p:cNvSpPr>
            <a:spLocks noGrp="1"/>
          </p:cNvSpPr>
          <p:nvPr/>
        </p:nvSpPr>
        <p:spPr>
          <a:xfrm>
            <a:off x="619125" y="1190625"/>
            <a:ext cx="4953000" cy="4667250"/>
          </a:xfrm>
          <a:prstGeom prst="roundRect">
            <a:avLst>
              <a:gd name="adj" fmla="val 4490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3C57CC-B051-404E-B5FE-6D6EED3FB65D}"/>
              </a:ext>
            </a:extLst>
          </p:cNvPr>
          <p:cNvSpPr>
            <a:spLocks noGrp="1"/>
          </p:cNvSpPr>
          <p:nvPr/>
        </p:nvSpPr>
        <p:spPr>
          <a:xfrm>
            <a:off x="904875" y="1428750"/>
            <a:ext cx="2333625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8366"/>
          </a:bodyPr>
          <a:lstStyle/>
          <a:p>
            <a:pPr algn="l">
              <a:def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Cahier des charges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CAC80A-198E-4752-BEBF-A574EFD31BE3}"/>
              </a:ext>
            </a:extLst>
          </p:cNvPr>
          <p:cNvSpPr>
            <a:spLocks noGrp="1"/>
          </p:cNvSpPr>
          <p:nvPr/>
        </p:nvSpPr>
        <p:spPr>
          <a:xfrm>
            <a:off x="904875" y="1905000"/>
            <a:ext cx="4238625" cy="2524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Quand le bouton est pressé :</a:t>
            </a:r>
          </a:p>
          <a:p>
            <a:endParaRPr sz="1650" b="0">
              <a:solidFill>
                <a:srgbClr val="142333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feu voitures orange pendant 3 s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feu voitures rouge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feu piétons vert pendant 8 s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4. feu piétons rouge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5. feu voitures vert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17F0AB7-7958-4E3D-A84B-B8D129E3CAA7}"/>
              </a:ext>
            </a:extLst>
          </p:cNvPr>
          <p:cNvSpPr>
            <a:spLocks noGrp="1"/>
          </p:cNvSpPr>
          <p:nvPr/>
        </p:nvSpPr>
        <p:spPr>
          <a:xfrm>
            <a:off x="904875" y="4762500"/>
            <a:ext cx="4238625" cy="571500"/>
          </a:xfrm>
          <a:prstGeom prst="roundRect">
            <a:avLst>
              <a:gd name="adj" fmla="val 23333"/>
            </a:avLst>
          </a:prstGeom>
          <a:solidFill>
            <a:srgbClr val="FFF3CF"/>
          </a:solidFill>
          <a:ln w="0">
            <a:noFill/>
          </a:ln>
        </p:spPr>
        <p:txBody>
          <a:bodyPr lIns="57150" tIns="38100" rIns="57150" bIns="38100" anchor="ctr">
            <a:normAutofit fontScale="91248"/>
          </a:bodyPr>
          <a:lstStyle/>
          <a:p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Consigne : écrire l’algorithme séquentiel.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A4078E71-BAB3-4A6F-8D85-AB724BA7A050}"/>
              </a:ext>
            </a:extLst>
          </p:cNvPr>
          <p:cNvSpPr>
            <a:spLocks noGrp="1"/>
          </p:cNvSpPr>
          <p:nvPr/>
        </p:nvSpPr>
        <p:spPr>
          <a:xfrm>
            <a:off x="5953125" y="1285875"/>
            <a:ext cx="5238750" cy="4476750"/>
          </a:xfrm>
          <a:prstGeom prst="roundRect">
            <a:avLst>
              <a:gd name="adj" fmla="val 3404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D49B58-A380-476D-8E5D-34DCEE959FCB}"/>
              </a:ext>
            </a:extLst>
          </p:cNvPr>
          <p:cNvSpPr>
            <a:spLocks noGrp="1"/>
          </p:cNvSpPr>
          <p:nvPr/>
        </p:nvSpPr>
        <p:spPr>
          <a:xfrm>
            <a:off x="6086475" y="1400175"/>
            <a:ext cx="4972050" cy="42481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Début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voitures ← …………………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……… s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voitures ← …………………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piétons ← …………………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……… s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piétons ← …………………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voitures ← …………………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003ABF-FF52-458C-8CC0-5F5AD1FB1D1D}"/>
              </a:ext>
            </a:extLst>
          </p:cNvPr>
          <p:cNvSpPr>
            <a:spLocks noGrp="1"/>
          </p:cNvSpPr>
          <p:nvPr/>
        </p:nvSpPr>
        <p:spPr>
          <a:xfrm>
            <a:off x="7239000" y="5867400"/>
            <a:ext cx="276225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Temps conseillé : 6 min</a:t>
            </a:r>
          </a:p>
        </p:txBody>
      </p:sp>
    </p:spTree>
    <p:extLst>
      <p:ext uri="{BB962C8B-B14F-4D97-AF65-F5344CB8AC3E}">
        <p14:creationId xmlns:p14="http://schemas.microsoft.com/office/powerpoint/2010/main" val="604506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A2EA56F-F008-4653-B7CD-EB17461532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E9EFE6-B597-4D1C-9356-90EE170826CE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2646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Structure alternative : choisir selon une condition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2B2D2007-B57C-44A0-AAE4-7165E56F139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D38E4C-A2E3-4E3A-AE03-CAD42934159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630A2898-8E07-4D95-BB03-2DB24754C82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7" name="Imag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3D5CBD-FE2A-42B3-A672-2EA10BAF9280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1CBBC1-ED62-4B3A-BF28-765A04E8FA1E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0C97C7D-13E2-4058-858B-6654897F337B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5048250" cy="37147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7DACFB2-66B8-465C-9EDE-601D925C9C33}"/>
              </a:ext>
            </a:extLst>
          </p:cNvPr>
          <p:cNvSpPr>
            <a:spLocks noGrp="1"/>
          </p:cNvSpPr>
          <p:nvPr/>
        </p:nvSpPr>
        <p:spPr>
          <a:xfrm>
            <a:off x="2190750" y="1619250"/>
            <a:ext cx="2476500" cy="381000"/>
          </a:xfrm>
          <a:prstGeom prst="roundRect">
            <a:avLst>
              <a:gd name="adj" fmla="val 45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69FDA7-ABA1-427E-B80C-0AFB76C0DE5F}"/>
              </a:ext>
            </a:extLst>
          </p:cNvPr>
          <p:cNvSpPr>
            <a:spLocks noGrp="1"/>
          </p:cNvSpPr>
          <p:nvPr/>
        </p:nvSpPr>
        <p:spPr>
          <a:xfrm>
            <a:off x="2190750" y="16192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FORME COMPLÈTE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05C1344-8DDC-4D2E-A378-B6F3577AD9B1}"/>
              </a:ext>
            </a:extLst>
          </p:cNvPr>
          <p:cNvSpPr>
            <a:spLocks noGrp="1"/>
          </p:cNvSpPr>
          <p:nvPr/>
        </p:nvSpPr>
        <p:spPr>
          <a:xfrm>
            <a:off x="1285875" y="2333625"/>
            <a:ext cx="4286250" cy="2143125"/>
          </a:xfrm>
          <a:prstGeom prst="roundRect">
            <a:avLst>
              <a:gd name="adj" fmla="val 7111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0C3F58-0672-497B-AE3F-BDEF163DA229}"/>
              </a:ext>
            </a:extLst>
          </p:cNvPr>
          <p:cNvSpPr>
            <a:spLocks noGrp="1"/>
          </p:cNvSpPr>
          <p:nvPr/>
        </p:nvSpPr>
        <p:spPr>
          <a:xfrm>
            <a:off x="1419225" y="2447925"/>
            <a:ext cx="4019550" cy="19145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remplissage ≥ 80 % ALORS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envoyer notification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SINON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ne rien signaler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CE292F-95C1-48F6-9FB4-CFF3788F6B0F}"/>
              </a:ext>
            </a:extLst>
          </p:cNvPr>
          <p:cNvSpPr>
            <a:spLocks noGrp="1"/>
          </p:cNvSpPr>
          <p:nvPr/>
        </p:nvSpPr>
        <p:spPr>
          <a:xfrm>
            <a:off x="1809750" y="46672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Deux branches prévues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C896589-37FA-41E6-874D-3E9B38364759}"/>
              </a:ext>
            </a:extLst>
          </p:cNvPr>
          <p:cNvSpPr>
            <a:spLocks noGrp="1"/>
          </p:cNvSpPr>
          <p:nvPr/>
        </p:nvSpPr>
        <p:spPr>
          <a:xfrm>
            <a:off x="6238875" y="1381125"/>
            <a:ext cx="5048250" cy="371475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838C523-DA94-4849-92CC-AA4FEC474A65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2476500" cy="381000"/>
          </a:xfrm>
          <a:prstGeom prst="roundRect">
            <a:avLst>
              <a:gd name="adj" fmla="val 45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FDD281-507C-4AFA-BF14-A57541D701D8}"/>
              </a:ext>
            </a:extLst>
          </p:cNvPr>
          <p:cNvSpPr>
            <a:spLocks noGrp="1"/>
          </p:cNvSpPr>
          <p:nvPr/>
        </p:nvSpPr>
        <p:spPr>
          <a:xfrm>
            <a:off x="7524750" y="161925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FORME RÉDUITE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114A33DF-08A2-4018-AEDB-DAFFD7133561}"/>
              </a:ext>
            </a:extLst>
          </p:cNvPr>
          <p:cNvSpPr>
            <a:spLocks noGrp="1"/>
          </p:cNvSpPr>
          <p:nvPr/>
        </p:nvSpPr>
        <p:spPr>
          <a:xfrm>
            <a:off x="6619875" y="2333625"/>
            <a:ext cx="4286250" cy="2143125"/>
          </a:xfrm>
          <a:prstGeom prst="roundRect">
            <a:avLst>
              <a:gd name="adj" fmla="val 7111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816B26E-40B0-4A37-981E-995BB46C7178}"/>
              </a:ext>
            </a:extLst>
          </p:cNvPr>
          <p:cNvSpPr>
            <a:spLocks noGrp="1"/>
          </p:cNvSpPr>
          <p:nvPr/>
        </p:nvSpPr>
        <p:spPr>
          <a:xfrm>
            <a:off x="6753225" y="2447925"/>
            <a:ext cx="4019550" cy="19145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remplissage ≥ 80 % ALORS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envoyer notification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A060EA-D3C5-4B69-93BF-8C1EF179787B}"/>
              </a:ext>
            </a:extLst>
          </p:cNvPr>
          <p:cNvSpPr>
            <a:spLocks noGrp="1"/>
          </p:cNvSpPr>
          <p:nvPr/>
        </p:nvSpPr>
        <p:spPr>
          <a:xfrm>
            <a:off x="7143750" y="4667250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Action seulement si VRAI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9BB1EF2F-193A-4A9C-A0A5-8AA1BD9924EE}"/>
              </a:ext>
            </a:extLst>
          </p:cNvPr>
          <p:cNvSpPr>
            <a:spLocks noGrp="1"/>
          </p:cNvSpPr>
          <p:nvPr/>
        </p:nvSpPr>
        <p:spPr>
          <a:xfrm>
            <a:off x="1524000" y="5476875"/>
            <a:ext cx="9144000" cy="428625"/>
          </a:xfrm>
          <a:prstGeom prst="roundRect">
            <a:avLst>
              <a:gd name="adj" fmla="val 35556"/>
            </a:avLst>
          </a:prstGeom>
          <a:solidFill>
            <a:srgbClr val="DDF6F4"/>
          </a:solidFill>
          <a:ln w="0">
            <a:noFill/>
          </a:ln>
        </p:spPr>
        <p:txBody>
          <a:bodyPr lIns="57150" tIns="38100" rIns="57150" bIns="38100" anchor="ctr">
            <a:normAutofit fontScale="79688"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Une condition doit toujours être formulée comme une question dont la réponse vaut VRAI ou FAUX.</a:t>
            </a:r>
          </a:p>
        </p:txBody>
      </p:sp>
    </p:spTree>
    <p:extLst>
      <p:ext uri="{BB962C8B-B14F-4D97-AF65-F5344CB8AC3E}">
        <p14:creationId xmlns:p14="http://schemas.microsoft.com/office/powerpoint/2010/main" val="750865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D798AA9-D730-4D0C-8F74-81DFCF4D549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6BAF9A-A2C5-4560-8C1C-AFD4347D5AB2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3 : trier des colis par masse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B2B9EDB-460E-40F7-81FB-C0833870016C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F514EE-B6E0-4330-8FEB-312E327BBD7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CONDITION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E5FBE354-E69D-41FD-AC97-F654F208793F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3705FE2-BEE7-4D1E-9FD8-A03AFE7FF3F6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7C8D2B-DBF4-4F42-8B47-8ACA7941E78C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13BA51E-8134-4E8E-97DC-AE2A145A7510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09ECF0-3333-4013-BBC6-A43AAC7C9C26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709376A9-D8A2-466C-B5DB-2B773E507918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4000500" cy="4762500"/>
          </a:xfrm>
          <a:prstGeom prst="roundRect">
            <a:avLst>
              <a:gd name="adj" fmla="val 5238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3BFDB6-DB66-4550-9927-2BACD7163EE8}"/>
              </a:ext>
            </a:extLst>
          </p:cNvPr>
          <p:cNvSpPr>
            <a:spLocks noGrp="1"/>
          </p:cNvSpPr>
          <p:nvPr/>
        </p:nvSpPr>
        <p:spPr>
          <a:xfrm>
            <a:off x="1000125" y="1476375"/>
            <a:ext cx="333375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Station logistique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783CCA4-A88C-41EF-8CB9-B13B720E87BB}"/>
              </a:ext>
            </a:extLst>
          </p:cNvPr>
          <p:cNvSpPr>
            <a:spLocks noGrp="1"/>
          </p:cNvSpPr>
          <p:nvPr/>
        </p:nvSpPr>
        <p:spPr>
          <a:xfrm>
            <a:off x="1476375" y="2095500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41E9A3E-ECEB-4BDB-97C7-FFC93D67DE65}"/>
              </a:ext>
            </a:extLst>
          </p:cNvPr>
          <p:cNvSpPr>
            <a:spLocks noGrp="1"/>
          </p:cNvSpPr>
          <p:nvPr/>
        </p:nvSpPr>
        <p:spPr>
          <a:xfrm>
            <a:off x="1647825" y="2314575"/>
            <a:ext cx="514350" cy="514350"/>
          </a:xfrm>
          <a:prstGeom prst="ellipse">
            <a:avLst/>
          </a:prstGeom>
          <a:solidFill>
            <a:srgbClr val="176B87"/>
          </a:solidFill>
          <a:ln w="0">
            <a:solidFill>
              <a:srgbClr val="176B87"/>
            </a:solidFill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AB8FD1D-3E0D-48D3-8710-6E32B86B670B}"/>
              </a:ext>
            </a:extLst>
          </p:cNvPr>
          <p:cNvSpPr>
            <a:spLocks noGrp="1"/>
          </p:cNvSpPr>
          <p:nvPr/>
        </p:nvSpPr>
        <p:spPr>
          <a:xfrm>
            <a:off x="2266950" y="2276475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154"/>
          </a:bodyPr>
          <a:lstStyle/>
          <a:p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m kg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AEEA01-3FCA-42AE-A0FD-8AA4E4DAE30D}"/>
              </a:ext>
            </a:extLst>
          </p:cNvPr>
          <p:cNvSpPr>
            <a:spLocks noGrp="1"/>
          </p:cNvSpPr>
          <p:nvPr/>
        </p:nvSpPr>
        <p:spPr>
          <a:xfrm>
            <a:off x="2266950" y="2638425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238"/>
          </a:bodyPr>
          <a:lstStyle/>
          <a:p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cellule de pesée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AF7902-A497-4B59-A964-1EF4C909544C}"/>
              </a:ext>
            </a:extLst>
          </p:cNvPr>
          <p:cNvSpPr>
            <a:spLocks noGrp="1"/>
          </p:cNvSpPr>
          <p:nvPr/>
        </p:nvSpPr>
        <p:spPr>
          <a:xfrm>
            <a:off x="1047750" y="3333750"/>
            <a:ext cx="11430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2593"/>
          </a:bodyPr>
          <a:lstStyle/>
          <a:p>
            <a:pPr algn="l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Règle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B178E2F-BE94-4898-A3AD-3D8C4C76F1C2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3238500" cy="742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6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m ≤ 2 kg : convoyeur A</a:t>
            </a:r>
          </a:p>
          <a:p>
            <a:pPr algn="l">
              <a:defRPr sz="16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m &gt; 2 kg : convoyeur 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1FFDB73-2707-4045-8D6D-A1898FBBABFF}"/>
              </a:ext>
            </a:extLst>
          </p:cNvPr>
          <p:cNvSpPr>
            <a:spLocks noGrp="1"/>
          </p:cNvSpPr>
          <p:nvPr/>
        </p:nvSpPr>
        <p:spPr>
          <a:xfrm>
            <a:off x="1047750" y="4905375"/>
            <a:ext cx="32385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491"/>
          </a:bodyPr>
          <a:lstStyle/>
          <a:p>
            <a:pPr algn="ctr">
              <a:defRPr sz="1425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Compléter le test et les deux actions.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C72772BA-796C-4925-99E1-40E026BE5602}"/>
              </a:ext>
            </a:extLst>
          </p:cNvPr>
          <p:cNvSpPr>
            <a:spLocks noGrp="1"/>
          </p:cNvSpPr>
          <p:nvPr/>
        </p:nvSpPr>
        <p:spPr>
          <a:xfrm>
            <a:off x="5095875" y="1333500"/>
            <a:ext cx="6096000" cy="2190750"/>
          </a:xfrm>
          <a:prstGeom prst="roundRect">
            <a:avLst>
              <a:gd name="adj" fmla="val 6957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C10DFC-8854-4BE4-872C-7E5A81FAFD1B}"/>
              </a:ext>
            </a:extLst>
          </p:cNvPr>
          <p:cNvSpPr>
            <a:spLocks noGrp="1"/>
          </p:cNvSpPr>
          <p:nvPr/>
        </p:nvSpPr>
        <p:spPr>
          <a:xfrm>
            <a:off x="5229225" y="1447800"/>
            <a:ext cx="5829300" cy="19621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3750"/>
          </a:bodyPr>
          <a:lstStyle/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PSEUDO-CODE</a:t>
            </a:r>
          </a:p>
          <a:p>
            <a:endParaRPr sz="1650" b="0">
              <a:solidFill>
                <a:srgbClr val="EAF2F8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lire masse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……………………… ALORS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SINON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36AB06B2-598E-4CF7-8A7B-3EAC8D83996F}"/>
              </a:ext>
            </a:extLst>
          </p:cNvPr>
          <p:cNvSpPr>
            <a:spLocks noGrp="1"/>
          </p:cNvSpPr>
          <p:nvPr/>
        </p:nvSpPr>
        <p:spPr>
          <a:xfrm>
            <a:off x="5095875" y="3857625"/>
            <a:ext cx="6096000" cy="1809750"/>
          </a:xfrm>
          <a:prstGeom prst="roundRect">
            <a:avLst>
              <a:gd name="adj" fmla="val 8421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28F841-5E1C-4F67-8AA5-A036A7D913DE}"/>
              </a:ext>
            </a:extLst>
          </p:cNvPr>
          <p:cNvSpPr>
            <a:spLocks noGrp="1"/>
          </p:cNvSpPr>
          <p:nvPr/>
        </p:nvSpPr>
        <p:spPr>
          <a:xfrm>
            <a:off x="5229225" y="3971925"/>
            <a:ext cx="5829300" cy="15811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 fontScale="99747"/>
          </a:bodyPr>
          <a:lstStyle/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PYTHON</a:t>
            </a:r>
          </a:p>
          <a:p>
            <a:endParaRPr sz="1650" b="0">
              <a:solidFill>
                <a:srgbClr val="EAF2F8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……………………… :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………………………………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724039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427B2608-9D1D-45AB-B09F-3583277C08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31AAAA-8E64-4479-8C14-AEBAE741AEC7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Bilan de la partie 1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70DAD65-2A9B-4749-846A-0CFD9B55E0E3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49B7AA-5FEC-4F37-80A1-F01E9E742283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SYNTHÈSE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93A434BF-D842-442C-92B6-D689C5E15192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3" name="Image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D86E78B-8B39-4013-93A2-E3977A72573E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10508C-5D93-488E-82EB-B0447B64A1A9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02650E0-57ED-468E-8CB4-C04F451C9B1E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B55366C-75E4-4C57-8BAB-5CB7617EDF50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AC925FE-39E2-4C59-BC90-FC60FA5050C2}"/>
              </a:ext>
            </a:extLst>
          </p:cNvPr>
          <p:cNvSpPr>
            <a:spLocks noGrp="1"/>
          </p:cNvSpPr>
          <p:nvPr/>
        </p:nvSpPr>
        <p:spPr>
          <a:xfrm>
            <a:off x="1333500" y="1285875"/>
            <a:ext cx="95250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9D7EBD2-DE2A-48BC-88CC-A8B2E3705EE7}"/>
              </a:ext>
            </a:extLst>
          </p:cNvPr>
          <p:cNvSpPr>
            <a:spLocks noGrp="1"/>
          </p:cNvSpPr>
          <p:nvPr/>
        </p:nvSpPr>
        <p:spPr>
          <a:xfrm>
            <a:off x="1571625" y="1466850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B734BD-F967-4A95-B575-FCB9F1E0E17E}"/>
              </a:ext>
            </a:extLst>
          </p:cNvPr>
          <p:cNvSpPr>
            <a:spLocks noGrp="1"/>
          </p:cNvSpPr>
          <p:nvPr/>
        </p:nvSpPr>
        <p:spPr>
          <a:xfrm>
            <a:off x="1571625" y="1466850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18900B-3C5E-4442-8BF1-EC511939C3A1}"/>
              </a:ext>
            </a:extLst>
          </p:cNvPr>
          <p:cNvSpPr>
            <a:spLocks noGrp="1"/>
          </p:cNvSpPr>
          <p:nvPr/>
        </p:nvSpPr>
        <p:spPr>
          <a:xfrm>
            <a:off x="2238375" y="140970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 algorithme décrit une …………… avant le choix du langage.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2F77B7C6-4D99-4320-AB68-EC6ED1CA8AC8}"/>
              </a:ext>
            </a:extLst>
          </p:cNvPr>
          <p:cNvSpPr>
            <a:spLocks noGrp="1"/>
          </p:cNvSpPr>
          <p:nvPr/>
        </p:nvSpPr>
        <p:spPr>
          <a:xfrm>
            <a:off x="1333500" y="2286000"/>
            <a:ext cx="95250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70E5AC05-4F5E-4E45-B40F-101CB27553C4}"/>
              </a:ext>
            </a:extLst>
          </p:cNvPr>
          <p:cNvSpPr>
            <a:spLocks noGrp="1"/>
          </p:cNvSpPr>
          <p:nvPr/>
        </p:nvSpPr>
        <p:spPr>
          <a:xfrm>
            <a:off x="1571625" y="246697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6E55E3A-FE0B-4494-AD87-252C009EA592}"/>
              </a:ext>
            </a:extLst>
          </p:cNvPr>
          <p:cNvSpPr>
            <a:spLocks noGrp="1"/>
          </p:cNvSpPr>
          <p:nvPr/>
        </p:nvSpPr>
        <p:spPr>
          <a:xfrm>
            <a:off x="1571625" y="246697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F23470-B725-4F7F-ABDE-ED389D558AA3}"/>
              </a:ext>
            </a:extLst>
          </p:cNvPr>
          <p:cNvSpPr>
            <a:spLocks noGrp="1"/>
          </p:cNvSpPr>
          <p:nvPr/>
        </p:nvSpPr>
        <p:spPr>
          <a:xfrm>
            <a:off x="2238375" y="2409825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 algorigramme rend visibles l’…………… et les …………… 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DB50773F-B03E-4834-84F6-8C6FE02848E1}"/>
              </a:ext>
            </a:extLst>
          </p:cNvPr>
          <p:cNvSpPr>
            <a:spLocks noGrp="1"/>
          </p:cNvSpPr>
          <p:nvPr/>
        </p:nvSpPr>
        <p:spPr>
          <a:xfrm>
            <a:off x="1333500" y="3286125"/>
            <a:ext cx="95250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9BA87D9-6533-4995-8E24-B1BD3543EBD3}"/>
              </a:ext>
            </a:extLst>
          </p:cNvPr>
          <p:cNvSpPr>
            <a:spLocks noGrp="1"/>
          </p:cNvSpPr>
          <p:nvPr/>
        </p:nvSpPr>
        <p:spPr>
          <a:xfrm>
            <a:off x="1571625" y="3467100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B898A0-DC71-48D0-BA3A-F69B7164C369}"/>
              </a:ext>
            </a:extLst>
          </p:cNvPr>
          <p:cNvSpPr>
            <a:spLocks noGrp="1"/>
          </p:cNvSpPr>
          <p:nvPr/>
        </p:nvSpPr>
        <p:spPr>
          <a:xfrm>
            <a:off x="1571625" y="3467100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10000A9-91F4-4C6B-8FC1-B5F31BF28F1E}"/>
              </a:ext>
            </a:extLst>
          </p:cNvPr>
          <p:cNvSpPr>
            <a:spLocks noGrp="1"/>
          </p:cNvSpPr>
          <p:nvPr/>
        </p:nvSpPr>
        <p:spPr>
          <a:xfrm>
            <a:off x="2238375" y="34099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Une séquence …………… des actions. Une condition choisit une …………… .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A932729-58A1-4585-A67E-C5933FF804A4}"/>
              </a:ext>
            </a:extLst>
          </p:cNvPr>
          <p:cNvSpPr>
            <a:spLocks noGrp="1"/>
          </p:cNvSpPr>
          <p:nvPr/>
        </p:nvSpPr>
        <p:spPr>
          <a:xfrm>
            <a:off x="1333500" y="4286250"/>
            <a:ext cx="9525000" cy="723900"/>
          </a:xfrm>
          <a:prstGeom prst="roundRect">
            <a:avLst>
              <a:gd name="adj" fmla="val 2368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EEA05B82-09AE-40CB-AB1B-DCF87DCEF86C}"/>
              </a:ext>
            </a:extLst>
          </p:cNvPr>
          <p:cNvSpPr>
            <a:spLocks noGrp="1"/>
          </p:cNvSpPr>
          <p:nvPr/>
        </p:nvSpPr>
        <p:spPr>
          <a:xfrm>
            <a:off x="1571625" y="446722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627433-CBBB-4D31-9D44-5FBAE0006626}"/>
              </a:ext>
            </a:extLst>
          </p:cNvPr>
          <p:cNvSpPr>
            <a:spLocks noGrp="1"/>
          </p:cNvSpPr>
          <p:nvPr/>
        </p:nvSpPr>
        <p:spPr>
          <a:xfrm>
            <a:off x="1571625" y="446722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F2FF97C-73DB-48DC-B394-8F37B59A474C}"/>
              </a:ext>
            </a:extLst>
          </p:cNvPr>
          <p:cNvSpPr>
            <a:spLocks noGrp="1"/>
          </p:cNvSpPr>
          <p:nvPr/>
        </p:nvSpPr>
        <p:spPr>
          <a:xfrm>
            <a:off x="2238375" y="4410075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Une variable associe un ……………, un …………… et une …………… 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BA2E2BB-5F7D-4EBF-AB83-6C3DB80C264E}"/>
              </a:ext>
            </a:extLst>
          </p:cNvPr>
          <p:cNvSpPr>
            <a:spLocks noGrp="1"/>
          </p:cNvSpPr>
          <p:nvPr/>
        </p:nvSpPr>
        <p:spPr>
          <a:xfrm>
            <a:off x="2857500" y="5572125"/>
            <a:ext cx="647700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À la suite : répéter, structurer et tester</a:t>
            </a:r>
          </a:p>
        </p:txBody>
      </p:sp>
    </p:spTree>
    <p:extLst>
      <p:ext uri="{BB962C8B-B14F-4D97-AF65-F5344CB8AC3E}">
        <p14:creationId xmlns:p14="http://schemas.microsoft.com/office/powerpoint/2010/main" val="564966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0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FB1C35F-59E3-41D6-B2FE-79F91B60F9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pic>
        <p:nvPicPr>
          <p:cNvPr id="17" name="Image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41302" y="523875"/>
            <a:ext cx="3138896" cy="695325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013B402F-C7E4-449B-B5B0-4EE76E21BF7B}"/>
              </a:ext>
            </a:extLst>
          </p:cNvPr>
          <p:cNvSpPr>
            <a:spLocks noGrp="1"/>
          </p:cNvSpPr>
          <p:nvPr/>
        </p:nvSpPr>
        <p:spPr>
          <a:xfrm>
            <a:off x="714375" y="952500"/>
            <a:ext cx="1619250" cy="361950"/>
          </a:xfrm>
          <a:prstGeom prst="roundRect">
            <a:avLst>
              <a:gd name="adj" fmla="val 47368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CA6416-EB77-4F91-AEEA-0E5B3861566A}"/>
              </a:ext>
            </a:extLst>
          </p:cNvPr>
          <p:cNvSpPr>
            <a:spLocks noGrp="1"/>
          </p:cNvSpPr>
          <p:nvPr/>
        </p:nvSpPr>
        <p:spPr>
          <a:xfrm>
            <a:off x="714375" y="952500"/>
            <a:ext cx="1619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PARTIE 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466EB8-80AE-44AA-A983-37B11C1DD50B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8572500" cy="8096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Répéter, structurer, tester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F5553F-4013-4AD9-A694-68678884DF3A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809625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950" b="1">
                <a:solidFill>
                  <a:srgbClr val="B8D8E6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B8D8E6"/>
                </a:solidFill>
                <a:latin typeface="DejaVu Sans"/>
                <a:ea typeface="DejaVu Sans"/>
                <a:cs typeface="DejaVu Sans"/>
              </a:rPr>
              <a:t>Boucles, fonctions, Python/C++ et débogage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D26195A-DB5B-4B77-8DC9-362ACD056432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2286000" cy="685800"/>
          </a:xfrm>
          <a:prstGeom prst="roundRect">
            <a:avLst>
              <a:gd name="adj" fmla="val 25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C7DF10-7232-46C7-875A-0B32F89CB5C1}"/>
              </a:ext>
            </a:extLst>
          </p:cNvPr>
          <p:cNvSpPr>
            <a:spLocks noGrp="1"/>
          </p:cNvSpPr>
          <p:nvPr/>
        </p:nvSpPr>
        <p:spPr>
          <a:xfrm>
            <a:off x="762000" y="4333875"/>
            <a:ext cx="2286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65058D5-BA15-4711-9CBD-F294DF36D935}"/>
              </a:ext>
            </a:extLst>
          </p:cNvPr>
          <p:cNvSpPr>
            <a:spLocks noGrp="1"/>
          </p:cNvSpPr>
          <p:nvPr/>
        </p:nvSpPr>
        <p:spPr>
          <a:xfrm>
            <a:off x="3429000" y="4333875"/>
            <a:ext cx="2286000" cy="685800"/>
          </a:xfrm>
          <a:prstGeom prst="roundRect">
            <a:avLst>
              <a:gd name="adj" fmla="val 25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8B0DF9-4382-4487-880B-2054369FC554}"/>
              </a:ext>
            </a:extLst>
          </p:cNvPr>
          <p:cNvSpPr>
            <a:spLocks noGrp="1"/>
          </p:cNvSpPr>
          <p:nvPr/>
        </p:nvSpPr>
        <p:spPr>
          <a:xfrm>
            <a:off x="3429000" y="4333875"/>
            <a:ext cx="2286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DO…WHILE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B239D30-ED7A-4018-A02A-CE2C5625F82C}"/>
              </a:ext>
            </a:extLst>
          </p:cNvPr>
          <p:cNvSpPr>
            <a:spLocks noGrp="1"/>
          </p:cNvSpPr>
          <p:nvPr/>
        </p:nvSpPr>
        <p:spPr>
          <a:xfrm>
            <a:off x="6096000" y="4333875"/>
            <a:ext cx="2286000" cy="685800"/>
          </a:xfrm>
          <a:prstGeom prst="roundRect">
            <a:avLst>
              <a:gd name="adj" fmla="val 25000"/>
            </a:avLst>
          </a:prstGeom>
          <a:solidFill>
            <a:srgbClr val="82C341"/>
          </a:solidFill>
          <a:ln w="9525">
            <a:solidFill>
              <a:srgbClr val="82C34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653952-2A03-4C4B-8664-C31F70541EE6}"/>
              </a:ext>
            </a:extLst>
          </p:cNvPr>
          <p:cNvSpPr>
            <a:spLocks noGrp="1"/>
          </p:cNvSpPr>
          <p:nvPr/>
        </p:nvSpPr>
        <p:spPr>
          <a:xfrm>
            <a:off x="6096000" y="4333875"/>
            <a:ext cx="2286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867F5740-8687-4C09-B43D-241144CEA69D}"/>
              </a:ext>
            </a:extLst>
          </p:cNvPr>
          <p:cNvSpPr>
            <a:spLocks noGrp="1"/>
          </p:cNvSpPr>
          <p:nvPr/>
        </p:nvSpPr>
        <p:spPr>
          <a:xfrm>
            <a:off x="8763000" y="4333875"/>
            <a:ext cx="2286000" cy="685800"/>
          </a:xfrm>
          <a:prstGeom prst="roundRect">
            <a:avLst>
              <a:gd name="adj" fmla="val 25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85685F-925C-4861-A48E-B742EB1F8F5C}"/>
              </a:ext>
            </a:extLst>
          </p:cNvPr>
          <p:cNvSpPr>
            <a:spLocks noGrp="1"/>
          </p:cNvSpPr>
          <p:nvPr/>
        </p:nvSpPr>
        <p:spPr>
          <a:xfrm>
            <a:off x="8763000" y="4333875"/>
            <a:ext cx="2286000" cy="6858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637769-8258-4EBE-96DB-302FCED50002}"/>
              </a:ext>
            </a:extLst>
          </p:cNvPr>
          <p:cNvSpPr>
            <a:spLocks noGrp="1"/>
          </p:cNvSpPr>
          <p:nvPr/>
        </p:nvSpPr>
        <p:spPr>
          <a:xfrm>
            <a:off x="762000" y="6143625"/>
            <a:ext cx="2857500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4444"/>
          </a:bodyPr>
          <a:lstStyle/>
          <a:p>
            <a:pPr algn="l">
              <a:defRPr sz="1125" b="1">
                <a:solidFill>
                  <a:srgbClr val="FFD4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FFD47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</p:spTree>
    <p:extLst>
      <p:ext uri="{BB962C8B-B14F-4D97-AF65-F5344CB8AC3E}">
        <p14:creationId xmlns:p14="http://schemas.microsoft.com/office/powerpoint/2010/main" val="501676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0838878-5ED3-41F3-898C-9676041EAB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D0F10AA-5927-4E58-8F56-DC5AB8E1BBEC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Choisir la bonne boucle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81BEFBA-30A5-4707-97DD-AED2E7524652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3641582-D9C1-4C6B-8D5E-6E3A26544A44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BOUCLES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E50114F9-3AF2-4E4C-955B-1A08EC9CF82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5" name="Image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9654BD9-3B6E-426A-8714-936479583391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7A4536-E3AF-4850-AD5E-BBAAEDB7C444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DB9364D-9446-4DF4-84AD-6ACB26C0703C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DEA3CA-2621-47D0-8738-0FF3E514D5A3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E9702C9-9A36-4552-A709-93F75ABC93F3}"/>
              </a:ext>
            </a:extLst>
          </p:cNvPr>
          <p:cNvSpPr>
            <a:spLocks noGrp="1"/>
          </p:cNvSpPr>
          <p:nvPr/>
        </p:nvSpPr>
        <p:spPr>
          <a:xfrm>
            <a:off x="619125" y="1285875"/>
            <a:ext cx="3381375" cy="381000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11CA8E2-AFDD-42C7-A3DB-418C15A4D7F8}"/>
              </a:ext>
            </a:extLst>
          </p:cNvPr>
          <p:cNvSpPr>
            <a:spLocks noGrp="1"/>
          </p:cNvSpPr>
          <p:nvPr/>
        </p:nvSpPr>
        <p:spPr>
          <a:xfrm>
            <a:off x="1095375" y="1571625"/>
            <a:ext cx="2428875" cy="381000"/>
          </a:xfrm>
          <a:prstGeom prst="roundRect">
            <a:avLst>
              <a:gd name="adj" fmla="val 45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9B49-A9F0-4F65-A5C3-FDE6B6D41F38}"/>
              </a:ext>
            </a:extLst>
          </p:cNvPr>
          <p:cNvSpPr>
            <a:spLocks noGrp="1"/>
          </p:cNvSpPr>
          <p:nvPr/>
        </p:nvSpPr>
        <p:spPr>
          <a:xfrm>
            <a:off x="1095375" y="15716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TANT QUE / WHILE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9D186C-DD6D-4DC3-BCF0-F33D28BFEEDC}"/>
              </a:ext>
            </a:extLst>
          </p:cNvPr>
          <p:cNvSpPr>
            <a:spLocks noGrp="1"/>
          </p:cNvSpPr>
          <p:nvPr/>
        </p:nvSpPr>
        <p:spPr>
          <a:xfrm>
            <a:off x="952500" y="2333625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 avant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EAC1A22-17A5-4CF3-BF5C-7BA491D68D4E}"/>
              </a:ext>
            </a:extLst>
          </p:cNvPr>
          <p:cNvSpPr>
            <a:spLocks noGrp="1"/>
          </p:cNvSpPr>
          <p:nvPr/>
        </p:nvSpPr>
        <p:spPr>
          <a:xfrm>
            <a:off x="952500" y="3000375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Nombre de tours inconnu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36ED08-09C9-4B61-8662-48E39C1751DE}"/>
              </a:ext>
            </a:extLst>
          </p:cNvPr>
          <p:cNvSpPr>
            <a:spLocks noGrp="1"/>
          </p:cNvSpPr>
          <p:nvPr/>
        </p:nvSpPr>
        <p:spPr>
          <a:xfrm>
            <a:off x="952500" y="3857625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La boucle peut ne jamais s’exécuter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5833057-E3F0-4BCC-986F-2312B5E9D7DA}"/>
              </a:ext>
            </a:extLst>
          </p:cNvPr>
          <p:cNvSpPr>
            <a:spLocks noGrp="1"/>
          </p:cNvSpPr>
          <p:nvPr/>
        </p:nvSpPr>
        <p:spPr>
          <a:xfrm>
            <a:off x="4429125" y="1285875"/>
            <a:ext cx="3381375" cy="381000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101262B-F583-4F95-97ED-5C8D277E6253}"/>
              </a:ext>
            </a:extLst>
          </p:cNvPr>
          <p:cNvSpPr>
            <a:spLocks noGrp="1"/>
          </p:cNvSpPr>
          <p:nvPr/>
        </p:nvSpPr>
        <p:spPr>
          <a:xfrm>
            <a:off x="4905375" y="1571625"/>
            <a:ext cx="2428875" cy="381000"/>
          </a:xfrm>
          <a:prstGeom prst="roundRect">
            <a:avLst>
              <a:gd name="adj" fmla="val 45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A54E96A-8A27-417E-91DC-80F4CA9A223E}"/>
              </a:ext>
            </a:extLst>
          </p:cNvPr>
          <p:cNvSpPr>
            <a:spLocks noGrp="1"/>
          </p:cNvSpPr>
          <p:nvPr/>
        </p:nvSpPr>
        <p:spPr>
          <a:xfrm>
            <a:off x="4905375" y="15716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RÉPÉTER / DO…WHILE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DF728E-58A6-4C78-A09E-F92B03CD62C3}"/>
              </a:ext>
            </a:extLst>
          </p:cNvPr>
          <p:cNvSpPr>
            <a:spLocks noGrp="1"/>
          </p:cNvSpPr>
          <p:nvPr/>
        </p:nvSpPr>
        <p:spPr>
          <a:xfrm>
            <a:off x="4762500" y="2333625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 après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4A81BA-6582-4AF2-9213-9E152A9441FE}"/>
              </a:ext>
            </a:extLst>
          </p:cNvPr>
          <p:cNvSpPr>
            <a:spLocks noGrp="1"/>
          </p:cNvSpPr>
          <p:nvPr/>
        </p:nvSpPr>
        <p:spPr>
          <a:xfrm>
            <a:off x="4762500" y="3000375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Au moins une exécution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363FC6-90FE-42BC-AF25-BDEA6C766CFD}"/>
              </a:ext>
            </a:extLst>
          </p:cNvPr>
          <p:cNvSpPr>
            <a:spLocks noGrp="1"/>
          </p:cNvSpPr>
          <p:nvPr/>
        </p:nvSpPr>
        <p:spPr>
          <a:xfrm>
            <a:off x="4762500" y="3857625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Utile pour une saisie ou un essai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D3EC8566-9524-4F98-9983-B10B8104C9A0}"/>
              </a:ext>
            </a:extLst>
          </p:cNvPr>
          <p:cNvSpPr>
            <a:spLocks noGrp="1"/>
          </p:cNvSpPr>
          <p:nvPr/>
        </p:nvSpPr>
        <p:spPr>
          <a:xfrm>
            <a:off x="8239125" y="1285875"/>
            <a:ext cx="3381375" cy="3810000"/>
          </a:xfrm>
          <a:prstGeom prst="roundRect">
            <a:avLst>
              <a:gd name="adj" fmla="val 6761"/>
            </a:avLst>
          </a:prstGeom>
          <a:solidFill>
            <a:srgbClr val="FFFFFF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571BD708-0CFA-4347-90EA-DA8D58663C06}"/>
              </a:ext>
            </a:extLst>
          </p:cNvPr>
          <p:cNvSpPr>
            <a:spLocks noGrp="1"/>
          </p:cNvSpPr>
          <p:nvPr/>
        </p:nvSpPr>
        <p:spPr>
          <a:xfrm>
            <a:off x="8715375" y="1571625"/>
            <a:ext cx="2428875" cy="381000"/>
          </a:xfrm>
          <a:prstGeom prst="roundRect">
            <a:avLst>
              <a:gd name="adj" fmla="val 45000"/>
            </a:avLst>
          </a:prstGeom>
          <a:solidFill>
            <a:srgbClr val="82C341"/>
          </a:solidFill>
          <a:ln w="9525">
            <a:solidFill>
              <a:srgbClr val="82C341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FC818D-2BF4-4F9B-9CEA-B4A12976E5A0}"/>
              </a:ext>
            </a:extLst>
          </p:cNvPr>
          <p:cNvSpPr>
            <a:spLocks noGrp="1"/>
          </p:cNvSpPr>
          <p:nvPr/>
        </p:nvSpPr>
        <p:spPr>
          <a:xfrm>
            <a:off x="8715375" y="15716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POUR / FOR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F1994C-4B81-45E2-B73E-BCB2229A3BF4}"/>
              </a:ext>
            </a:extLst>
          </p:cNvPr>
          <p:cNvSpPr>
            <a:spLocks noGrp="1"/>
          </p:cNvSpPr>
          <p:nvPr/>
        </p:nvSpPr>
        <p:spPr>
          <a:xfrm>
            <a:off x="8572500" y="2333625"/>
            <a:ext cx="2714625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Compteur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5EEFC3-4871-4A47-A051-5C766D053BB6}"/>
              </a:ext>
            </a:extLst>
          </p:cNvPr>
          <p:cNvSpPr>
            <a:spLocks noGrp="1"/>
          </p:cNvSpPr>
          <p:nvPr/>
        </p:nvSpPr>
        <p:spPr>
          <a:xfrm>
            <a:off x="8572500" y="3000375"/>
            <a:ext cx="2714625" cy="5715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Nombre de tours connu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00F40FE-100F-4B67-8419-0936AAC9C5C5}"/>
              </a:ext>
            </a:extLst>
          </p:cNvPr>
          <p:cNvSpPr>
            <a:spLocks noGrp="1"/>
          </p:cNvSpPr>
          <p:nvPr/>
        </p:nvSpPr>
        <p:spPr>
          <a:xfrm>
            <a:off x="8572500" y="3857625"/>
            <a:ext cx="2714625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Utile pour parcourir des mesures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9594C20E-AF77-4F09-91C3-B889DEA68E26}"/>
              </a:ext>
            </a:extLst>
          </p:cNvPr>
          <p:cNvSpPr>
            <a:spLocks noGrp="1"/>
          </p:cNvSpPr>
          <p:nvPr/>
        </p:nvSpPr>
        <p:spPr>
          <a:xfrm>
            <a:off x="1428750" y="5476875"/>
            <a:ext cx="9334500" cy="438150"/>
          </a:xfrm>
          <a:prstGeom prst="roundRect">
            <a:avLst>
              <a:gd name="adj" fmla="val 34783"/>
            </a:avLst>
          </a:prstGeom>
          <a:solidFill>
            <a:srgbClr val="FFF3CF"/>
          </a:solidFill>
          <a:ln w="0">
            <a:noFill/>
          </a:ln>
        </p:spPr>
        <p:txBody>
          <a:bodyPr lIns="57150" tIns="38100" rIns="57150" bIns="38100" anchor="ctr">
            <a:normAutofit fontScale="96726"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Critère principal : sait-on à l’avance combien de ……………………… sont nécessaires ?</a:t>
            </a:r>
          </a:p>
        </p:txBody>
      </p:sp>
    </p:spTree>
    <p:extLst>
      <p:ext uri="{BB962C8B-B14F-4D97-AF65-F5344CB8AC3E}">
        <p14:creationId xmlns:p14="http://schemas.microsoft.com/office/powerpoint/2010/main" val="1761725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69ED2C6A-282F-41A0-911F-D0ECAF84D9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C471B-29E3-4F71-8AF7-BD64CC42C210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037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Boucle TANT QUE : recharge d’un vélo électrique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32769D3-B514-4964-8325-1BDB52B1C7F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397A20-C833-469F-81CD-9F24791E6F3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BB02B9AC-3A87-4160-B2F2-8C7462ACC60C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7" name="Image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F8BE4B-7B48-4F0C-A0FA-5A77299E0D7C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FDCC7A-8410-40CB-AF23-A2CC037758EF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FAE2C37-8136-4641-BEF3-8CC095623259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3905250" cy="4857750"/>
          </a:xfrm>
          <a:prstGeom prst="roundRect">
            <a:avLst>
              <a:gd name="adj" fmla="val 5366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6D10A6-D3AD-4201-8CF8-1C0C72DCBC44}"/>
              </a:ext>
            </a:extLst>
          </p:cNvPr>
          <p:cNvSpPr>
            <a:spLocks noGrp="1"/>
          </p:cNvSpPr>
          <p:nvPr/>
        </p:nvSpPr>
        <p:spPr>
          <a:xfrm>
            <a:off x="1047750" y="1476375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1667"/>
          </a:bodyPr>
          <a:lstStyle/>
          <a:p>
            <a:pPr algn="l">
              <a:def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Objectif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64205-4975-47DF-8FB1-AD297F9F0221}"/>
              </a:ext>
            </a:extLst>
          </p:cNvPr>
          <p:cNvSpPr>
            <a:spLocks noGrp="1"/>
          </p:cNvSpPr>
          <p:nvPr/>
        </p:nvSpPr>
        <p:spPr>
          <a:xfrm>
            <a:off x="1047750" y="1952625"/>
            <a:ext cx="3143250" cy="666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2686"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Charger jusqu’à 80 %, puis arrêter le chargeur.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89E8B65-CFFE-43A3-BA28-FB373A1DB6DB}"/>
              </a:ext>
            </a:extLst>
          </p:cNvPr>
          <p:cNvSpPr>
            <a:spLocks noGrp="1"/>
          </p:cNvSpPr>
          <p:nvPr/>
        </p:nvSpPr>
        <p:spPr>
          <a:xfrm>
            <a:off x="1428750" y="3000375"/>
            <a:ext cx="2381250" cy="9525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13F9A1D7-9164-422A-8147-2E0D4CE171DB}"/>
              </a:ext>
            </a:extLst>
          </p:cNvPr>
          <p:cNvSpPr>
            <a:spLocks noGrp="1"/>
          </p:cNvSpPr>
          <p:nvPr/>
        </p:nvSpPr>
        <p:spPr>
          <a:xfrm>
            <a:off x="1600200" y="3219450"/>
            <a:ext cx="514350" cy="514350"/>
          </a:xfrm>
          <a:prstGeom prst="ellipse">
            <a:avLst/>
          </a:prstGeom>
          <a:solidFill>
            <a:srgbClr val="82C341"/>
          </a:solidFill>
          <a:ln w="0">
            <a:solidFill>
              <a:srgbClr val="82C34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E084DD-CC6F-4B5C-9DB0-1432377CDB27}"/>
              </a:ext>
            </a:extLst>
          </p:cNvPr>
          <p:cNvSpPr>
            <a:spLocks noGrp="1"/>
          </p:cNvSpPr>
          <p:nvPr/>
        </p:nvSpPr>
        <p:spPr>
          <a:xfrm>
            <a:off x="2219325" y="3181350"/>
            <a:ext cx="1381125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154"/>
          </a:bodyPr>
          <a:lstStyle/>
          <a:p>
            <a:pPr algn="l">
              <a:def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64 %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7D2F107-590A-4D3C-8C0D-2A6F69B7D60A}"/>
              </a:ext>
            </a:extLst>
          </p:cNvPr>
          <p:cNvSpPr>
            <a:spLocks noGrp="1"/>
          </p:cNvSpPr>
          <p:nvPr/>
        </p:nvSpPr>
        <p:spPr>
          <a:xfrm>
            <a:off x="2219325" y="354330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5238"/>
          </a:bodyPr>
          <a:lstStyle/>
          <a:p>
            <a:pPr algn="l">
              <a:def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état de charge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809A41-01AE-42E7-9FDF-83181668C066}"/>
              </a:ext>
            </a:extLst>
          </p:cNvPr>
          <p:cNvSpPr>
            <a:spLocks noGrp="1"/>
          </p:cNvSpPr>
          <p:nvPr/>
        </p:nvSpPr>
        <p:spPr>
          <a:xfrm>
            <a:off x="1047750" y="4333875"/>
            <a:ext cx="3143250" cy="1143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Le test a lieu avant chaque tour. Si SOC vaut déjà 80, la boucle ne s’exécute pas.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6046D34-F286-4BD4-9071-155F75A6882B}"/>
              </a:ext>
            </a:extLst>
          </p:cNvPr>
          <p:cNvSpPr>
            <a:spLocks noGrp="1"/>
          </p:cNvSpPr>
          <p:nvPr/>
        </p:nvSpPr>
        <p:spPr>
          <a:xfrm>
            <a:off x="5143500" y="1381125"/>
            <a:ext cx="6048375" cy="2905125"/>
          </a:xfrm>
          <a:prstGeom prst="roundRect">
            <a:avLst>
              <a:gd name="adj" fmla="val 5246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E8BF3B-E99F-4465-8D1C-EA934F13E5A6}"/>
              </a:ext>
            </a:extLst>
          </p:cNvPr>
          <p:cNvSpPr>
            <a:spLocks noGrp="1"/>
          </p:cNvSpPr>
          <p:nvPr/>
        </p:nvSpPr>
        <p:spPr>
          <a:xfrm>
            <a:off x="5276850" y="1495425"/>
            <a:ext cx="5781675" cy="26765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lire SOC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TANT QUE SOC &lt; 80 FAIRE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chargeur ← ON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attendre 1 s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lire SOC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TANT QUE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chargeur ← OFF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5B83729-4770-4E15-B77F-A273B61617C2}"/>
              </a:ext>
            </a:extLst>
          </p:cNvPr>
          <p:cNvSpPr>
            <a:spLocks noGrp="1"/>
          </p:cNvSpPr>
          <p:nvPr/>
        </p:nvSpPr>
        <p:spPr>
          <a:xfrm>
            <a:off x="5476875" y="4667250"/>
            <a:ext cx="5381625" cy="952500"/>
          </a:xfrm>
          <a:prstGeom prst="roundRect">
            <a:avLst>
              <a:gd name="adj" fmla="val 18000"/>
            </a:avLst>
          </a:prstGeom>
          <a:solidFill>
            <a:srgbClr val="FCE8EC"/>
          </a:solidFill>
          <a:ln w="9525">
            <a:solidFill>
              <a:srgbClr val="E94256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81DEC6-F637-4A89-A4F1-092455ED903B}"/>
              </a:ext>
            </a:extLst>
          </p:cNvPr>
          <p:cNvSpPr>
            <a:spLocks noGrp="1"/>
          </p:cNvSpPr>
          <p:nvPr/>
        </p:nvSpPr>
        <p:spPr>
          <a:xfrm>
            <a:off x="5715000" y="4857750"/>
            <a:ext cx="1095375" cy="2476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3333"/>
          </a:bodyPr>
          <a:lstStyle/>
          <a:p>
            <a:pPr algn="l">
              <a:def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rPr>
              <a:t>Sécurité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EB52AD-EA40-4B5F-8041-F7EDC0383001}"/>
              </a:ext>
            </a:extLst>
          </p:cNvPr>
          <p:cNvSpPr>
            <a:spLocks noGrp="1"/>
          </p:cNvSpPr>
          <p:nvPr/>
        </p:nvSpPr>
        <p:spPr>
          <a:xfrm>
            <a:off x="6858000" y="4810125"/>
            <a:ext cx="366712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9887"/>
          </a:bodyPr>
          <a:lstStyle/>
          <a:p>
            <a:pPr algn="l">
              <a:defRPr sz="14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Toujours actualiser SOC dans la boucle ; sinon elle peut devenir infinie.</a:t>
            </a:r>
          </a:p>
        </p:txBody>
      </p:sp>
    </p:spTree>
    <p:extLst>
      <p:ext uri="{BB962C8B-B14F-4D97-AF65-F5344CB8AC3E}">
        <p14:creationId xmlns:p14="http://schemas.microsoft.com/office/powerpoint/2010/main" val="6653246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F882ABD7-5808-4D63-993D-619C80EC75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DCB6FD-6AC1-47A0-8783-D23E3C539838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4 : irrigation avec limite de sécurité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FF709311-ABB5-4BAC-8E37-1566395E1063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10ABF8-479E-4EBB-A2D7-E9585D838BB7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WHILE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62C38F26-2809-4FE1-96CA-E554BB550DC5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04AF98D-B17A-43DF-B975-8B39C5436A9C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4E0E2-1E5A-4789-A2A7-0591B0F07EE1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B418350-1A26-47CE-B498-323D7D5AC268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B2A78E-4EA5-4596-BA63-6E4E5EB932E8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C290D97-40A4-4218-8435-266072C7713D}"/>
              </a:ext>
            </a:extLst>
          </p:cNvPr>
          <p:cNvSpPr>
            <a:spLocks noGrp="1"/>
          </p:cNvSpPr>
          <p:nvPr/>
        </p:nvSpPr>
        <p:spPr>
          <a:xfrm>
            <a:off x="666750" y="1190625"/>
            <a:ext cx="4095750" cy="4762500"/>
          </a:xfrm>
          <a:prstGeom prst="roundRect">
            <a:avLst>
              <a:gd name="adj" fmla="val 5116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EFD3C9-5C30-4059-8BDA-61255A96DA88}"/>
              </a:ext>
            </a:extLst>
          </p:cNvPr>
          <p:cNvSpPr>
            <a:spLocks noGrp="1"/>
          </p:cNvSpPr>
          <p:nvPr/>
        </p:nvSpPr>
        <p:spPr>
          <a:xfrm>
            <a:off x="1000125" y="1428750"/>
            <a:ext cx="1143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7302"/>
          </a:bodyPr>
          <a:lstStyle/>
          <a:p>
            <a:pPr algn="l">
              <a:def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Règles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78FE1A-5866-48BA-96ED-0506E5C3C6DC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3429000" cy="1809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Démarrer si humidité &lt; 35 %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Arroser jusqu’à 45 %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Arrêter après 30 s maximum</a:t>
            </a:r>
          </a:p>
          <a:p>
            <a:pPr algn="l">
              <a:def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4. Relire le capteur chaque seconde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1A82830-921D-4E1C-B97B-D3F343FA0010}"/>
              </a:ext>
            </a:extLst>
          </p:cNvPr>
          <p:cNvSpPr>
            <a:spLocks noGrp="1"/>
          </p:cNvSpPr>
          <p:nvPr/>
        </p:nvSpPr>
        <p:spPr>
          <a:xfrm>
            <a:off x="1000125" y="4238625"/>
            <a:ext cx="3429000" cy="571500"/>
          </a:xfrm>
          <a:prstGeom prst="roundRect">
            <a:avLst>
              <a:gd name="adj" fmla="val 23333"/>
            </a:avLst>
          </a:prstGeom>
          <a:solidFill>
            <a:srgbClr val="FFF3CF"/>
          </a:solidFill>
          <a:ln w="0">
            <a:noFill/>
          </a:ln>
        </p:spPr>
        <p:txBody>
          <a:bodyPr lIns="57150" tIns="38100" rIns="57150" bIns="38100" anchor="ctr">
            <a:normAutofit fontScale="91248"/>
          </a:bodyPr>
          <a:lstStyle/>
          <a:p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Pourquoi ajouter un temps maximum 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25A23A-521E-4B45-A04F-B81214758E60}"/>
              </a:ext>
            </a:extLst>
          </p:cNvPr>
          <p:cNvSpPr>
            <a:spLocks noGrp="1"/>
          </p:cNvSpPr>
          <p:nvPr/>
        </p:nvSpPr>
        <p:spPr>
          <a:xfrm>
            <a:off x="1000125" y="5000625"/>
            <a:ext cx="3429000" cy="5905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792"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……………………………………………………</a:t>
            </a:r>
          </a:p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……………………………………………………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327B29FD-9291-4E3F-BEBD-E6AB1E4A35A1}"/>
              </a:ext>
            </a:extLst>
          </p:cNvPr>
          <p:cNvSpPr>
            <a:spLocks noGrp="1"/>
          </p:cNvSpPr>
          <p:nvPr/>
        </p:nvSpPr>
        <p:spPr>
          <a:xfrm>
            <a:off x="5191125" y="1285875"/>
            <a:ext cx="6000750" cy="4476750"/>
          </a:xfrm>
          <a:prstGeom prst="roundRect">
            <a:avLst>
              <a:gd name="adj" fmla="val 3404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4D30EB-FD0C-4771-9EC4-F21FD5F4E9F0}"/>
              </a:ext>
            </a:extLst>
          </p:cNvPr>
          <p:cNvSpPr>
            <a:spLocks noGrp="1"/>
          </p:cNvSpPr>
          <p:nvPr/>
        </p:nvSpPr>
        <p:spPr>
          <a:xfrm>
            <a:off x="5324475" y="1400175"/>
            <a:ext cx="5734050" cy="42481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temps ← 0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lire humidité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humidité &lt; …… ALORS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pompe ← 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TANT QUE humidité &lt; …… ET temps &lt; 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attendre 1 s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temps ← ………………………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………………………………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FIN TANT QUE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pompe ← 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</p:spTree>
    <p:extLst>
      <p:ext uri="{BB962C8B-B14F-4D97-AF65-F5344CB8AC3E}">
        <p14:creationId xmlns:p14="http://schemas.microsoft.com/office/powerpoint/2010/main" val="1632228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A12706-F812-45DA-8A72-3C04899B912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1C88C4A-7A3D-47A5-A924-620D7C1DFC3A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Boucle RÉPÉTER : vérifier un code d’accès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86A05A23-4CA0-4207-88C5-85CE62F16F2C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1EAD70-B892-4389-8D3A-88213DBEA88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DO…WHILE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D33B00B6-5397-4C2E-AD4A-44EDC170E74A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2" name="Imag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47EA872-B769-4762-829C-3BC6B89E6E73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ED692A-0EDA-4BE2-BCCB-8DCCA869746B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F81DCB78-542F-47FF-B96A-FFE34B982D5A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B393F2-532E-42A8-8704-A68FCC220AD0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4E664E-36C4-43D7-B407-EFDCE8D67DFF}"/>
              </a:ext>
            </a:extLst>
          </p:cNvPr>
          <p:cNvSpPr>
            <a:spLocks noGrp="1"/>
          </p:cNvSpPr>
          <p:nvPr/>
        </p:nvSpPr>
        <p:spPr>
          <a:xfrm>
            <a:off x="1571625" y="1095375"/>
            <a:ext cx="904875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Le bloc s’exécute au moins une fois, car le test arrive à la fin.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F494ED9-892F-451A-ADFB-990306E55520}"/>
              </a:ext>
            </a:extLst>
          </p:cNvPr>
          <p:cNvSpPr>
            <a:spLocks noGrp="1"/>
          </p:cNvSpPr>
          <p:nvPr/>
        </p:nvSpPr>
        <p:spPr>
          <a:xfrm>
            <a:off x="904875" y="2095500"/>
            <a:ext cx="4953000" cy="2857500"/>
          </a:xfrm>
          <a:prstGeom prst="roundRect">
            <a:avLst>
              <a:gd name="adj" fmla="val 5333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F9AD56-B62A-4CB6-B874-550110204DD8}"/>
              </a:ext>
            </a:extLst>
          </p:cNvPr>
          <p:cNvSpPr>
            <a:spLocks noGrp="1"/>
          </p:cNvSpPr>
          <p:nvPr/>
        </p:nvSpPr>
        <p:spPr>
          <a:xfrm>
            <a:off x="1038225" y="2209800"/>
            <a:ext cx="4686300" cy="26289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PSEUDO-CODE</a:t>
            </a:r>
          </a:p>
          <a:p>
            <a:endParaRPr sz="1725" b="0">
              <a:solidFill>
                <a:srgbClr val="EAF2F8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essais ← 0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RÉPÉTER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………………………………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essais ← ………………………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code_valide ← ………………………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JUSQU’À ……………………… OU ………………………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EFE2712B-736A-4A21-BA49-FE65C9DB1D6C}"/>
              </a:ext>
            </a:extLst>
          </p:cNvPr>
          <p:cNvSpPr>
            <a:spLocks noGrp="1"/>
          </p:cNvSpPr>
          <p:nvPr/>
        </p:nvSpPr>
        <p:spPr>
          <a:xfrm>
            <a:off x="6334125" y="2095500"/>
            <a:ext cx="4953000" cy="2857500"/>
          </a:xfrm>
          <a:prstGeom prst="roundRect">
            <a:avLst>
              <a:gd name="adj" fmla="val 5333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BF146F-8A5B-42A0-AF36-A4412933EBA7}"/>
              </a:ext>
            </a:extLst>
          </p:cNvPr>
          <p:cNvSpPr>
            <a:spLocks noGrp="1"/>
          </p:cNvSpPr>
          <p:nvPr/>
        </p:nvSpPr>
        <p:spPr>
          <a:xfrm>
            <a:off x="6467475" y="2209800"/>
            <a:ext cx="4686300" cy="26289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C++</a:t>
            </a:r>
          </a:p>
          <a:p>
            <a:endParaRPr sz="1650" b="0">
              <a:solidFill>
                <a:srgbClr val="EAF2F8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int essais = 0;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bool codeValide = false;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do {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code = ………………………;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………………………;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codeValide = ………………………;</a:t>
            </a:r>
          </a:p>
          <a:p>
            <a:pPr algn="l">
              <a:def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 while (……………………… &amp;&amp; ………………………);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5535DCE0-1063-4E6B-B2CD-1D69747A83A5}"/>
              </a:ext>
            </a:extLst>
          </p:cNvPr>
          <p:cNvSpPr>
            <a:spLocks noGrp="1"/>
          </p:cNvSpPr>
          <p:nvPr/>
        </p:nvSpPr>
        <p:spPr>
          <a:xfrm>
            <a:off x="2000250" y="5381625"/>
            <a:ext cx="8191500" cy="457200"/>
          </a:xfrm>
          <a:prstGeom prst="roundRect">
            <a:avLst>
              <a:gd name="adj" fmla="val 33333"/>
            </a:avLst>
          </a:prstGeom>
          <a:solidFill>
            <a:srgbClr val="DDF6F4"/>
          </a:solidFill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Attention : JUSQU’À code_valide correspond à while (!codeValide) en C++.</a:t>
            </a:r>
          </a:p>
        </p:txBody>
      </p:sp>
    </p:spTree>
    <p:extLst>
      <p:ext uri="{BB962C8B-B14F-4D97-AF65-F5344CB8AC3E}">
        <p14:creationId xmlns:p14="http://schemas.microsoft.com/office/powerpoint/2010/main" val="1435456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02548CC-1B5F-4602-A56D-D7F8A2B694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82C341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465026-E21D-4247-B497-B6BF06B440FF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6784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Boucle POUR : répéter un nombre connu de fois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DED75A6A-9809-4190-83ED-8BF37D944542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82C341"/>
          </a:solidFill>
          <a:ln w="9525">
            <a:solidFill>
              <a:srgbClr val="82C34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0067E1-6A87-4365-BE0D-406C39AD19B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5AB09CFA-C265-4294-82A6-3B92C3B1873D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D21CE16-22D5-4C09-B638-B918E8D094B8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CE492C-5E5E-4783-871A-3AC2A411C9FD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541059-50BD-4302-85F5-79F7969B7C77}"/>
              </a:ext>
            </a:extLst>
          </p:cNvPr>
          <p:cNvSpPr>
            <a:spLocks noGrp="1"/>
          </p:cNvSpPr>
          <p:nvPr/>
        </p:nvSpPr>
        <p:spPr>
          <a:xfrm>
            <a:off x="1238250" y="1066800"/>
            <a:ext cx="9715500" cy="4953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2485"/>
          </a:bodyPr>
          <a:lstStyle/>
          <a:p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Exemple : acquérir 8 mesures puis calculer une moyenne pour lisser le bruit d’un capteur.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FC4AD8E-C4F3-4332-976E-702067FC464F}"/>
              </a:ext>
            </a:extLst>
          </p:cNvPr>
          <p:cNvSpPr>
            <a:spLocks noGrp="1"/>
          </p:cNvSpPr>
          <p:nvPr/>
        </p:nvSpPr>
        <p:spPr>
          <a:xfrm>
            <a:off x="1000125" y="2000250"/>
            <a:ext cx="4857750" cy="3000375"/>
          </a:xfrm>
          <a:prstGeom prst="roundRect">
            <a:avLst>
              <a:gd name="adj" fmla="val 5079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43992-1B5B-44FA-991D-D43A4880AF5C}"/>
              </a:ext>
            </a:extLst>
          </p:cNvPr>
          <p:cNvSpPr>
            <a:spLocks noGrp="1"/>
          </p:cNvSpPr>
          <p:nvPr/>
        </p:nvSpPr>
        <p:spPr>
          <a:xfrm>
            <a:off x="1133475" y="2114550"/>
            <a:ext cx="4591050" cy="27717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somme ← 0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POUR i DE 1 À 8 FAIRE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lire mesure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somme ← somme + mesure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POUR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moyenne ← somme / 8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771F7F0-A0E1-403C-9D53-B6E5E095C78C}"/>
              </a:ext>
            </a:extLst>
          </p:cNvPr>
          <p:cNvSpPr>
            <a:spLocks noGrp="1"/>
          </p:cNvSpPr>
          <p:nvPr/>
        </p:nvSpPr>
        <p:spPr>
          <a:xfrm>
            <a:off x="6524625" y="2000250"/>
            <a:ext cx="4619625" cy="3000375"/>
          </a:xfrm>
          <a:prstGeom prst="roundRect">
            <a:avLst>
              <a:gd name="adj" fmla="val 6984"/>
            </a:avLst>
          </a:prstGeom>
          <a:solidFill>
            <a:srgbClr val="FFFFFF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C4F87BE-A757-454A-918A-11D0D340E77C}"/>
              </a:ext>
            </a:extLst>
          </p:cNvPr>
          <p:cNvSpPr>
            <a:spLocks noGrp="1"/>
          </p:cNvSpPr>
          <p:nvPr/>
        </p:nvSpPr>
        <p:spPr>
          <a:xfrm>
            <a:off x="7000875" y="2381250"/>
            <a:ext cx="361950" cy="361950"/>
          </a:xfrm>
          <a:prstGeom prst="ellipse">
            <a:avLst/>
          </a:prstGeom>
          <a:solidFill>
            <a:srgbClr val="82C341"/>
          </a:solidFill>
          <a:ln w="0">
            <a:solidFill>
              <a:srgbClr val="82C341"/>
            </a:solidFill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1EA1D5-8DA5-4C39-8293-54F16AD700A0}"/>
              </a:ext>
            </a:extLst>
          </p:cNvPr>
          <p:cNvSpPr>
            <a:spLocks noGrp="1"/>
          </p:cNvSpPr>
          <p:nvPr/>
        </p:nvSpPr>
        <p:spPr>
          <a:xfrm>
            <a:off x="7000875" y="238125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3917D5-4CB8-41F2-A6FB-BEC45F75AE9E}"/>
              </a:ext>
            </a:extLst>
          </p:cNvPr>
          <p:cNvSpPr>
            <a:spLocks noGrp="1"/>
          </p:cNvSpPr>
          <p:nvPr/>
        </p:nvSpPr>
        <p:spPr>
          <a:xfrm>
            <a:off x="7477125" y="236220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Initialiser somme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808A748-C64D-48CF-A212-FEC9EC241C24}"/>
              </a:ext>
            </a:extLst>
          </p:cNvPr>
          <p:cNvSpPr>
            <a:spLocks noGrp="1"/>
          </p:cNvSpPr>
          <p:nvPr/>
        </p:nvSpPr>
        <p:spPr>
          <a:xfrm>
            <a:off x="7000875" y="3190875"/>
            <a:ext cx="361950" cy="361950"/>
          </a:xfrm>
          <a:prstGeom prst="ellipse">
            <a:avLst/>
          </a:prstGeom>
          <a:solidFill>
            <a:srgbClr val="82C341"/>
          </a:solidFill>
          <a:ln w="0">
            <a:solidFill>
              <a:srgbClr val="82C341"/>
            </a:solidFill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7BBF04-62DA-462E-96D2-79E7FABD5E15}"/>
              </a:ext>
            </a:extLst>
          </p:cNvPr>
          <p:cNvSpPr>
            <a:spLocks noGrp="1"/>
          </p:cNvSpPr>
          <p:nvPr/>
        </p:nvSpPr>
        <p:spPr>
          <a:xfrm>
            <a:off x="7000875" y="3190875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2DED796-78DC-4A3C-8730-29881C211F6C}"/>
              </a:ext>
            </a:extLst>
          </p:cNvPr>
          <p:cNvSpPr>
            <a:spLocks noGrp="1"/>
          </p:cNvSpPr>
          <p:nvPr/>
        </p:nvSpPr>
        <p:spPr>
          <a:xfrm>
            <a:off x="7477125" y="317182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Accumuler 8 mesures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37B09BC-4672-42E6-AECC-246ACB533AB1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361950" cy="361950"/>
          </a:xfrm>
          <a:prstGeom prst="ellipse">
            <a:avLst/>
          </a:prstGeom>
          <a:solidFill>
            <a:srgbClr val="82C341"/>
          </a:solidFill>
          <a:ln w="0">
            <a:solidFill>
              <a:srgbClr val="82C341"/>
            </a:solidFill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BEB80C-2DEB-4600-BBAE-772F6AE7DD29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3619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4E8F6E-3FCF-4711-B82F-89B9A699D70D}"/>
              </a:ext>
            </a:extLst>
          </p:cNvPr>
          <p:cNvSpPr>
            <a:spLocks noGrp="1"/>
          </p:cNvSpPr>
          <p:nvPr/>
        </p:nvSpPr>
        <p:spPr>
          <a:xfrm>
            <a:off x="7477125" y="3981450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Diviser par 8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36BE21C-2895-4A2C-8EA9-FE9767C112C6}"/>
              </a:ext>
            </a:extLst>
          </p:cNvPr>
          <p:cNvSpPr>
            <a:spLocks noGrp="1"/>
          </p:cNvSpPr>
          <p:nvPr/>
        </p:nvSpPr>
        <p:spPr>
          <a:xfrm>
            <a:off x="2000250" y="5429250"/>
            <a:ext cx="8191500" cy="438150"/>
          </a:xfrm>
          <a:prstGeom prst="roundRect">
            <a:avLst>
              <a:gd name="adj" fmla="val 34783"/>
            </a:avLst>
          </a:prstGeom>
          <a:solidFill>
            <a:srgbClr val="EAF6DC"/>
          </a:solidFill>
          <a:ln w="0">
            <a:noFill/>
          </a:ln>
        </p:spPr>
        <p:txBody>
          <a:bodyPr lIns="57150" tIns="38100" rIns="57150" bIns="38100" anchor="ctr">
            <a:normAutofit fontScale="91888"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La variable i compte les répétitions. La variable somme est un accumulateur.</a:t>
            </a:r>
          </a:p>
        </p:txBody>
      </p:sp>
    </p:spTree>
    <p:extLst>
      <p:ext uri="{BB962C8B-B14F-4D97-AF65-F5344CB8AC3E}">
        <p14:creationId xmlns:p14="http://schemas.microsoft.com/office/powerpoint/2010/main" val="3619346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42B86D19-FBD3-42DD-9C08-AA9163C65F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697E24-536D-4FCD-8C00-6A68B6C59279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5 : moyenne de cinq mesures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FF5470D-AC8B-499E-84BE-F69D101352F4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5C546-C69A-4E21-BBCA-051872CEE456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FOR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BEFE6E71-F6C0-4922-A1C7-EF0CFC65C28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0656070-4EDD-49B2-A307-EF4479223E23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E0EB00-ACB7-4089-8B84-DF45838CABF2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93B34B1-AB38-42E8-B24C-71F7DC0E4C59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CD3C3C-9F70-4823-A435-83C6AB586B74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2FBB9CB-1A2E-4C55-B945-D356610D92C3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1143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3C04B2-1818-497B-B192-9492D490C3A3}"/>
              </a:ext>
            </a:extLst>
          </p:cNvPr>
          <p:cNvSpPr>
            <a:spLocks noGrp="1"/>
          </p:cNvSpPr>
          <p:nvPr/>
        </p:nvSpPr>
        <p:spPr>
          <a:xfrm>
            <a:off x="857250" y="1381125"/>
            <a:ext cx="1143000" cy="762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21,8 °C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7EAA27E-1912-48FA-A32A-B5E02BDFD5B5}"/>
              </a:ext>
            </a:extLst>
          </p:cNvPr>
          <p:cNvSpPr>
            <a:spLocks noGrp="1"/>
          </p:cNvSpPr>
          <p:nvPr/>
        </p:nvSpPr>
        <p:spPr>
          <a:xfrm>
            <a:off x="2238375" y="1381125"/>
            <a:ext cx="1143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564A5C-49CD-4DC9-B9EB-C7540CA7B83F}"/>
              </a:ext>
            </a:extLst>
          </p:cNvPr>
          <p:cNvSpPr>
            <a:spLocks noGrp="1"/>
          </p:cNvSpPr>
          <p:nvPr/>
        </p:nvSpPr>
        <p:spPr>
          <a:xfrm>
            <a:off x="2238375" y="1381125"/>
            <a:ext cx="1143000" cy="762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22,1 °C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AA0F8F1-1209-40B3-BABC-80EB06B8263D}"/>
              </a:ext>
            </a:extLst>
          </p:cNvPr>
          <p:cNvSpPr>
            <a:spLocks noGrp="1"/>
          </p:cNvSpPr>
          <p:nvPr/>
        </p:nvSpPr>
        <p:spPr>
          <a:xfrm>
            <a:off x="3619500" y="1381125"/>
            <a:ext cx="1143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813FBF-647F-4610-8B10-D80CE5A8E8D4}"/>
              </a:ext>
            </a:extLst>
          </p:cNvPr>
          <p:cNvSpPr>
            <a:spLocks noGrp="1"/>
          </p:cNvSpPr>
          <p:nvPr/>
        </p:nvSpPr>
        <p:spPr>
          <a:xfrm>
            <a:off x="3619500" y="1381125"/>
            <a:ext cx="1143000" cy="762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21,9 °C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C94937E9-B730-4D32-B6BF-5056F75AF50C}"/>
              </a:ext>
            </a:extLst>
          </p:cNvPr>
          <p:cNvSpPr>
            <a:spLocks noGrp="1"/>
          </p:cNvSpPr>
          <p:nvPr/>
        </p:nvSpPr>
        <p:spPr>
          <a:xfrm>
            <a:off x="5000625" y="1381125"/>
            <a:ext cx="1143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9A7FD4-09F7-4881-B2A1-FF0C8581F894}"/>
              </a:ext>
            </a:extLst>
          </p:cNvPr>
          <p:cNvSpPr>
            <a:spLocks noGrp="1"/>
          </p:cNvSpPr>
          <p:nvPr/>
        </p:nvSpPr>
        <p:spPr>
          <a:xfrm>
            <a:off x="5000625" y="1381125"/>
            <a:ext cx="1143000" cy="762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22,2 °C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C5DCB4B-CE67-4A80-9042-EE3B6B0AA9A9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114300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7474E8C-AC27-4A87-9DFE-A240AF5AF6BD}"/>
              </a:ext>
            </a:extLst>
          </p:cNvPr>
          <p:cNvSpPr>
            <a:spLocks noGrp="1"/>
          </p:cNvSpPr>
          <p:nvPr/>
        </p:nvSpPr>
        <p:spPr>
          <a:xfrm>
            <a:off x="6381750" y="1381125"/>
            <a:ext cx="1143000" cy="762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22,0 °C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6BE1B1D-04A0-4280-A752-3BB15B53DA4D}"/>
              </a:ext>
            </a:extLst>
          </p:cNvPr>
          <p:cNvSpPr>
            <a:spLocks noGrp="1"/>
          </p:cNvSpPr>
          <p:nvPr/>
        </p:nvSpPr>
        <p:spPr>
          <a:xfrm>
            <a:off x="8096250" y="1381125"/>
            <a:ext cx="3333750" cy="762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  <p:txBody>
          <a:bodyPr lIns="57150" tIns="38100" rIns="57150" bIns="38100" anchor="ctr">
            <a:normAutofit fontScale="96647"/>
          </a:bodyPr>
          <a:lstStyle/>
          <a:p>
            <a:pPr algn="ctr">
              <a:def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Moyenne = ………………………………………………………………………………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7F73CBC-6B8F-4036-B5A1-70DF25FC8634}"/>
              </a:ext>
            </a:extLst>
          </p:cNvPr>
          <p:cNvSpPr>
            <a:spLocks noGrp="1"/>
          </p:cNvSpPr>
          <p:nvPr/>
        </p:nvSpPr>
        <p:spPr>
          <a:xfrm>
            <a:off x="1619250" y="2714625"/>
            <a:ext cx="8953500" cy="2857500"/>
          </a:xfrm>
          <a:prstGeom prst="roundRect">
            <a:avLst>
              <a:gd name="adj" fmla="val 5333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97C5EE-A1A5-4DCB-8DD6-C8D50458D0D0}"/>
              </a:ext>
            </a:extLst>
          </p:cNvPr>
          <p:cNvSpPr>
            <a:spLocks noGrp="1"/>
          </p:cNvSpPr>
          <p:nvPr/>
        </p:nvSpPr>
        <p:spPr>
          <a:xfrm>
            <a:off x="1752600" y="2828925"/>
            <a:ext cx="8686800" cy="262890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mesures = [21.8, 22.1, 21.9, 22.2, 22.0]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somme = ……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for mesure in ………………………: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somme = ………………………………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moyenne = ………………………………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print(moyenne)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7D05642-BE17-445F-A682-B07024353729}"/>
              </a:ext>
            </a:extLst>
          </p:cNvPr>
          <p:cNvSpPr>
            <a:spLocks noGrp="1"/>
          </p:cNvSpPr>
          <p:nvPr/>
        </p:nvSpPr>
        <p:spPr>
          <a:xfrm>
            <a:off x="4667250" y="5829300"/>
            <a:ext cx="28575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Temps conseillé : 7 min</a:t>
            </a:r>
          </a:p>
        </p:txBody>
      </p:sp>
    </p:spTree>
    <p:extLst>
      <p:ext uri="{BB962C8B-B14F-4D97-AF65-F5344CB8AC3E}">
        <p14:creationId xmlns:p14="http://schemas.microsoft.com/office/powerpoint/2010/main" val="2069547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FD7BD77-3447-486F-A2FB-23B03739B4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800C0-5016-4CC7-9771-1C93940FF468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0763"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Fonctions et procédures : éviter de répéter le code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B37A80D-8193-4F0D-914D-7DA793242C94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517F79-86D7-44DC-8D96-FE5F0C551D1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SOUS-PROGRAMMES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78415E68-9A79-4CD4-8D44-2A4EC557E8FB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30" name="Imag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86633A5-91B7-403E-A586-2820C7B800B7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7E0934-FBE8-4C93-9FA5-13CA0687D90D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22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32789CC0-7597-4767-998A-5495DD424CD6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AF591B-F765-402D-B6DC-F2398671CA88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F7B0A7E-EC76-4C35-9728-AD9DF74546C4}"/>
              </a:ext>
            </a:extLst>
          </p:cNvPr>
          <p:cNvSpPr>
            <a:spLocks noGrp="1"/>
          </p:cNvSpPr>
          <p:nvPr/>
        </p:nvSpPr>
        <p:spPr>
          <a:xfrm>
            <a:off x="1047750" y="1476375"/>
            <a:ext cx="2619375" cy="1190625"/>
          </a:xfrm>
          <a:prstGeom prst="roundRect">
            <a:avLst>
              <a:gd name="adj" fmla="val 17600"/>
            </a:avLst>
          </a:prstGeom>
          <a:solidFill>
            <a:srgbClr val="DDF6F4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9CFB88-21B8-480C-A9D8-C47B6CE34C25}"/>
              </a:ext>
            </a:extLst>
          </p:cNvPr>
          <p:cNvSpPr>
            <a:spLocks noGrp="1"/>
          </p:cNvSpPr>
          <p:nvPr/>
        </p:nvSpPr>
        <p:spPr>
          <a:xfrm>
            <a:off x="1238250" y="1619250"/>
            <a:ext cx="223837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ENTRÉES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95611CA-EDD7-408C-B189-C4F76DF78AFD}"/>
              </a:ext>
            </a:extLst>
          </p:cNvPr>
          <p:cNvSpPr>
            <a:spLocks noGrp="1"/>
          </p:cNvSpPr>
          <p:nvPr/>
        </p:nvSpPr>
        <p:spPr>
          <a:xfrm>
            <a:off x="1238250" y="1914525"/>
            <a:ext cx="223837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0000"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seuil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6ADCC8-FB64-445B-ABF3-DF94E9106DC8}"/>
              </a:ext>
            </a:extLst>
          </p:cNvPr>
          <p:cNvSpPr>
            <a:spLocks noGrp="1"/>
          </p:cNvSpPr>
          <p:nvPr/>
        </p:nvSpPr>
        <p:spPr>
          <a:xfrm>
            <a:off x="3829050" y="1838325"/>
            <a:ext cx="533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3AA2225-EF20-4980-899E-43252ACB6698}"/>
              </a:ext>
            </a:extLst>
          </p:cNvPr>
          <p:cNvSpPr>
            <a:spLocks noGrp="1"/>
          </p:cNvSpPr>
          <p:nvPr/>
        </p:nvSpPr>
        <p:spPr>
          <a:xfrm>
            <a:off x="4524375" y="1476375"/>
            <a:ext cx="2619375" cy="1190625"/>
          </a:xfrm>
          <a:prstGeom prst="roundRect">
            <a:avLst>
              <a:gd name="adj" fmla="val 17600"/>
            </a:avLst>
          </a:prstGeom>
          <a:solidFill>
            <a:srgbClr val="FFF3C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A67CEC-5FBB-4CA6-B072-C4686D56BB8B}"/>
              </a:ext>
            </a:extLst>
          </p:cNvPr>
          <p:cNvSpPr>
            <a:spLocks noGrp="1"/>
          </p:cNvSpPr>
          <p:nvPr/>
        </p:nvSpPr>
        <p:spPr>
          <a:xfrm>
            <a:off x="4714875" y="1619250"/>
            <a:ext cx="223837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FONCTION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1E1AF-8248-4719-820E-092975C36858}"/>
              </a:ext>
            </a:extLst>
          </p:cNvPr>
          <p:cNvSpPr>
            <a:spLocks noGrp="1"/>
          </p:cNvSpPr>
          <p:nvPr/>
        </p:nvSpPr>
        <p:spPr>
          <a:xfrm>
            <a:off x="4714875" y="1914525"/>
            <a:ext cx="223837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doit_ventiler()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3A38AD-620B-4264-A6AC-ED13001F2042}"/>
              </a:ext>
            </a:extLst>
          </p:cNvPr>
          <p:cNvSpPr>
            <a:spLocks noGrp="1"/>
          </p:cNvSpPr>
          <p:nvPr/>
        </p:nvSpPr>
        <p:spPr>
          <a:xfrm>
            <a:off x="7305675" y="1838325"/>
            <a:ext cx="533400" cy="523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➜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5120112-A1C1-43F7-BD38-FA94A0DB1A47}"/>
              </a:ext>
            </a:extLst>
          </p:cNvPr>
          <p:cNvSpPr>
            <a:spLocks noGrp="1"/>
          </p:cNvSpPr>
          <p:nvPr/>
        </p:nvSpPr>
        <p:spPr>
          <a:xfrm>
            <a:off x="8001000" y="1476375"/>
            <a:ext cx="2619375" cy="1190625"/>
          </a:xfrm>
          <a:prstGeom prst="roundRect">
            <a:avLst>
              <a:gd name="adj" fmla="val 17600"/>
            </a:avLst>
          </a:prstGeom>
          <a:solidFill>
            <a:srgbClr val="EAF6DC"/>
          </a:solidFill>
          <a:ln w="9525">
            <a:solidFill>
              <a:srgbClr val="82C341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4A1E8C-232D-4BB4-A242-5E317C790568}"/>
              </a:ext>
            </a:extLst>
          </p:cNvPr>
          <p:cNvSpPr>
            <a:spLocks noGrp="1"/>
          </p:cNvSpPr>
          <p:nvPr/>
        </p:nvSpPr>
        <p:spPr>
          <a:xfrm>
            <a:off x="8191500" y="1619250"/>
            <a:ext cx="2238375" cy="238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82C341"/>
                </a:solidFill>
                <a:latin typeface="DejaVu Sans"/>
                <a:ea typeface="DejaVu Sans"/>
                <a:cs typeface="DejaVu Sans"/>
              </a:rPr>
              <a:t>SORTIE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0EA027B-EB59-4D81-8C7F-250CB7953838}"/>
              </a:ext>
            </a:extLst>
          </p:cNvPr>
          <p:cNvSpPr>
            <a:spLocks noGrp="1"/>
          </p:cNvSpPr>
          <p:nvPr/>
        </p:nvSpPr>
        <p:spPr>
          <a:xfrm>
            <a:off x="8191500" y="1914525"/>
            <a:ext cx="2238375" cy="5334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VRAI / FAUX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4D81853E-7DA7-4F43-8671-D2E9334A6443}"/>
              </a:ext>
            </a:extLst>
          </p:cNvPr>
          <p:cNvSpPr>
            <a:spLocks noGrp="1"/>
          </p:cNvSpPr>
          <p:nvPr/>
        </p:nvSpPr>
        <p:spPr>
          <a:xfrm>
            <a:off x="1524000" y="3381375"/>
            <a:ext cx="9144000" cy="1428750"/>
          </a:xfrm>
          <a:prstGeom prst="roundRect">
            <a:avLst>
              <a:gd name="adj" fmla="val 10667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E5B8E1-495C-4238-831D-11EC3EC5E4FA}"/>
              </a:ext>
            </a:extLst>
          </p:cNvPr>
          <p:cNvSpPr>
            <a:spLocks noGrp="1"/>
          </p:cNvSpPr>
          <p:nvPr/>
        </p:nvSpPr>
        <p:spPr>
          <a:xfrm>
            <a:off x="1657350" y="3495675"/>
            <a:ext cx="8877300" cy="12001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fonction doit_ventiler(………………………, ………………)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retourner …………………………………………</a:t>
            </a:r>
          </a:p>
          <a:p>
            <a:pPr algn="l">
              <a:def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8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fonction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ACAEAA07-30C0-4A72-833E-FD4572CDBDC7}"/>
              </a:ext>
            </a:extLst>
          </p:cNvPr>
          <p:cNvSpPr>
            <a:spLocks noGrp="1"/>
          </p:cNvSpPr>
          <p:nvPr/>
        </p:nvSpPr>
        <p:spPr>
          <a:xfrm>
            <a:off x="1333500" y="5191125"/>
            <a:ext cx="9525000" cy="685800"/>
          </a:xfrm>
          <a:prstGeom prst="roundRect">
            <a:avLst>
              <a:gd name="adj" fmla="val 22222"/>
            </a:avLst>
          </a:prstGeom>
          <a:solidFill>
            <a:srgbClr val="FFF3CF"/>
          </a:solidFill>
          <a:ln w="9525">
            <a:solidFill>
              <a:srgbClr val="F7A600"/>
            </a:solidFill>
            <a:prstDash val="solid"/>
          </a:ln>
        </p:spPr>
        <p:txBody>
          <a:bodyPr lIns="57150" tIns="38100" rIns="57150" bIns="38100" anchor="ctr">
            <a:normAutofit fontScale="75872"/>
          </a:bodyPr>
          <a:lstStyle/>
          <a:p>
            <a:pPr algn="ctr">
              <a:def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Paramètres : données ………………</a:t>
            </a:r>
          </a:p>
          <a:p>
            <a:pPr algn="ctr">
              <a:def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Valeur de retour : résultat ………………</a:t>
            </a:r>
          </a:p>
          <a:p>
            <a:pPr algn="ctr">
              <a:def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Procédure : sous-programme sans résultat 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0676624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B9B40-A96A-47EB-AF9E-6AB658B514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74CD55-94D4-44B3-B8FB-967B0EBE237B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Un même algorithme, deux langages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11E61BF-5323-43D7-BBE3-133F771F5CB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2A865F-FC25-4E64-9EC1-40AE81161D7D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PYTHON / C++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BEBF0198-8284-4A96-A09A-8F5B9629706C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CF62CA0-EBAA-46D4-A966-59BD48BA4AC2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6D214D-F9E4-486F-8A70-4599632FF2D0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CE4744-F231-4980-AE33-C7764E97FB6B}"/>
              </a:ext>
            </a:extLst>
          </p:cNvPr>
          <p:cNvSpPr>
            <a:spLocks noGrp="1"/>
          </p:cNvSpPr>
          <p:nvPr/>
        </p:nvSpPr>
        <p:spPr>
          <a:xfrm>
            <a:off x="1381125" y="1000125"/>
            <a:ext cx="9429750" cy="4572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Règle : activer l’alarme si fumée détectée OU température ≥ 60 °C.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011F1BDF-6E71-4E95-B723-DC1CFFDA0BC4}"/>
              </a:ext>
            </a:extLst>
          </p:cNvPr>
          <p:cNvSpPr>
            <a:spLocks noGrp="1"/>
          </p:cNvSpPr>
          <p:nvPr/>
        </p:nvSpPr>
        <p:spPr>
          <a:xfrm>
            <a:off x="1285875" y="1762125"/>
            <a:ext cx="2190750" cy="361950"/>
          </a:xfrm>
          <a:prstGeom prst="roundRect">
            <a:avLst>
              <a:gd name="adj" fmla="val 47368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3175553-D90B-4456-AEDC-719A8CFCB721}"/>
              </a:ext>
            </a:extLst>
          </p:cNvPr>
          <p:cNvSpPr>
            <a:spLocks noGrp="1"/>
          </p:cNvSpPr>
          <p:nvPr/>
        </p:nvSpPr>
        <p:spPr>
          <a:xfrm>
            <a:off x="1285875" y="1762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PSEUDO-CODE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EF689C-C5CC-4BD8-A89A-3FD88D7A35B3}"/>
              </a:ext>
            </a:extLst>
          </p:cNvPr>
          <p:cNvSpPr>
            <a:spLocks noGrp="1"/>
          </p:cNvSpPr>
          <p:nvPr/>
        </p:nvSpPr>
        <p:spPr>
          <a:xfrm>
            <a:off x="523875" y="2333625"/>
            <a:ext cx="3524250" cy="2714625"/>
          </a:xfrm>
          <a:prstGeom prst="roundRect">
            <a:avLst>
              <a:gd name="adj" fmla="val 5614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A163BD-59D8-45C9-9606-0556036774D3}"/>
              </a:ext>
            </a:extLst>
          </p:cNvPr>
          <p:cNvSpPr>
            <a:spLocks noGrp="1"/>
          </p:cNvSpPr>
          <p:nvPr/>
        </p:nvSpPr>
        <p:spPr>
          <a:xfrm>
            <a:off x="657225" y="2447925"/>
            <a:ext cx="3257550" cy="24860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 fumee OU temperature &gt;= 60 ALORS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alarme ← ON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SINON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alarme ← OFF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FIN SI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34343CA1-2178-4F48-9B5C-21139CBBADF8}"/>
              </a:ext>
            </a:extLst>
          </p:cNvPr>
          <p:cNvSpPr>
            <a:spLocks noGrp="1"/>
          </p:cNvSpPr>
          <p:nvPr/>
        </p:nvSpPr>
        <p:spPr>
          <a:xfrm>
            <a:off x="5143500" y="1762125"/>
            <a:ext cx="2190750" cy="361950"/>
          </a:xfrm>
          <a:prstGeom prst="roundRect">
            <a:avLst>
              <a:gd name="adj" fmla="val 47368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95042C-021E-4B4F-8D7B-99FA3A965C21}"/>
              </a:ext>
            </a:extLst>
          </p:cNvPr>
          <p:cNvSpPr>
            <a:spLocks noGrp="1"/>
          </p:cNvSpPr>
          <p:nvPr/>
        </p:nvSpPr>
        <p:spPr>
          <a:xfrm>
            <a:off x="5143500" y="1762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PYTHON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FC5F40F9-CD37-4B0C-B6A4-B41A160EB3DD}"/>
              </a:ext>
            </a:extLst>
          </p:cNvPr>
          <p:cNvSpPr>
            <a:spLocks noGrp="1"/>
          </p:cNvSpPr>
          <p:nvPr/>
        </p:nvSpPr>
        <p:spPr>
          <a:xfrm>
            <a:off x="4381500" y="2333625"/>
            <a:ext cx="3524250" cy="2714625"/>
          </a:xfrm>
          <a:prstGeom prst="roundRect">
            <a:avLst>
              <a:gd name="adj" fmla="val 5614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D124D0-6825-4EC9-B44E-C76CF50DB657}"/>
              </a:ext>
            </a:extLst>
          </p:cNvPr>
          <p:cNvSpPr>
            <a:spLocks noGrp="1"/>
          </p:cNvSpPr>
          <p:nvPr/>
        </p:nvSpPr>
        <p:spPr>
          <a:xfrm>
            <a:off x="4514850" y="2447925"/>
            <a:ext cx="3257550" cy="24860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fumee or temperature &gt;= 60: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alarme = True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else: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alarme = False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ECF5544-3AE8-4A85-A268-A5BAB6837CC9}"/>
              </a:ext>
            </a:extLst>
          </p:cNvPr>
          <p:cNvSpPr>
            <a:spLocks noGrp="1"/>
          </p:cNvSpPr>
          <p:nvPr/>
        </p:nvSpPr>
        <p:spPr>
          <a:xfrm>
            <a:off x="9001125" y="1762125"/>
            <a:ext cx="2190750" cy="361950"/>
          </a:xfrm>
          <a:prstGeom prst="roundRect">
            <a:avLst>
              <a:gd name="adj" fmla="val 47368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4119D1-DEA2-4176-B945-92483009AFAD}"/>
              </a:ext>
            </a:extLst>
          </p:cNvPr>
          <p:cNvSpPr>
            <a:spLocks noGrp="1"/>
          </p:cNvSpPr>
          <p:nvPr/>
        </p:nvSpPr>
        <p:spPr>
          <a:xfrm>
            <a:off x="9001125" y="1762125"/>
            <a:ext cx="21907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C++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DCF5A941-CDBB-4229-9568-C68FCDBFA3F0}"/>
              </a:ext>
            </a:extLst>
          </p:cNvPr>
          <p:cNvSpPr>
            <a:spLocks noGrp="1"/>
          </p:cNvSpPr>
          <p:nvPr/>
        </p:nvSpPr>
        <p:spPr>
          <a:xfrm>
            <a:off x="8239125" y="2333625"/>
            <a:ext cx="3524250" cy="2714625"/>
          </a:xfrm>
          <a:prstGeom prst="roundRect">
            <a:avLst>
              <a:gd name="adj" fmla="val 5614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E5FBAA1-0DBC-48E2-929F-314112AE2F0F}"/>
              </a:ext>
            </a:extLst>
          </p:cNvPr>
          <p:cNvSpPr>
            <a:spLocks noGrp="1"/>
          </p:cNvSpPr>
          <p:nvPr/>
        </p:nvSpPr>
        <p:spPr>
          <a:xfrm>
            <a:off x="8372475" y="2447925"/>
            <a:ext cx="3257550" cy="248602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(fumee || temperature &gt;= 60) {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alarme = true;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 else {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alarme = false;</a:t>
            </a:r>
          </a:p>
          <a:p>
            <a:pPr algn="l">
              <a:def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}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D7820C6-F7CF-47AC-A673-CA7DB2913F1B}"/>
              </a:ext>
            </a:extLst>
          </p:cNvPr>
          <p:cNvSpPr>
            <a:spLocks noGrp="1"/>
          </p:cNvSpPr>
          <p:nvPr/>
        </p:nvSpPr>
        <p:spPr>
          <a:xfrm>
            <a:off x="2000250" y="5524500"/>
            <a:ext cx="8191500" cy="409575"/>
          </a:xfrm>
          <a:prstGeom prst="roundRect">
            <a:avLst>
              <a:gd name="adj" fmla="val 37209"/>
            </a:avLst>
          </a:prstGeom>
          <a:solidFill>
            <a:srgbClr val="DDF6F4"/>
          </a:solidFill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La logique reste identique. La syntaxe et les conventions changent.</a:t>
            </a:r>
          </a:p>
        </p:txBody>
      </p:sp>
    </p:spTree>
    <p:extLst>
      <p:ext uri="{BB962C8B-B14F-4D97-AF65-F5344CB8AC3E}">
        <p14:creationId xmlns:p14="http://schemas.microsoft.com/office/powerpoint/2010/main" val="1286299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085A4AF-B0F9-4889-A62F-266AA0C60D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889C45-84FC-448E-AF5B-7C90D75DE035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Exercice 6 : déboguer la ventilation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908F440F-F9F0-4DEE-9302-90CD16D5DEAF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AE7F61-3607-450A-93F7-11D820B452A7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DÉBOGAGE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53BFD857-A2CA-4BCF-B7FF-DB29DFAAC276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3" name="Image 2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EA4B091-24EB-4C52-8D79-1ED06BC484EE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ACDA9B-2CEB-4AC9-A25E-DB49D4F30610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24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B07ADE51-7E4C-4788-8458-C251D90D3B2B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8C082C-1362-4FB9-B723-5622B30D5D79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84CD27-D1DC-4FEC-B680-16B907477E44}"/>
              </a:ext>
            </a:extLst>
          </p:cNvPr>
          <p:cNvSpPr>
            <a:spLocks noGrp="1"/>
          </p:cNvSpPr>
          <p:nvPr/>
        </p:nvSpPr>
        <p:spPr>
          <a:xfrm>
            <a:off x="1333500" y="1000125"/>
            <a:ext cx="95250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7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Exigence : afficher « Ventilation ON » quand temperature ≥ seuil.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DE09971-B6A5-470E-A272-F88A42379252}"/>
              </a:ext>
            </a:extLst>
          </p:cNvPr>
          <p:cNvSpPr>
            <a:spLocks noGrp="1"/>
          </p:cNvSpPr>
          <p:nvPr/>
        </p:nvSpPr>
        <p:spPr>
          <a:xfrm>
            <a:off x="762000" y="1762125"/>
            <a:ext cx="4953000" cy="3143250"/>
          </a:xfrm>
          <a:prstGeom prst="roundRect">
            <a:avLst>
              <a:gd name="adj" fmla="val 4848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AEB5BA-0150-4C1C-A462-5D3BFA6FF038}"/>
              </a:ext>
            </a:extLst>
          </p:cNvPr>
          <p:cNvSpPr>
            <a:spLocks noGrp="1"/>
          </p:cNvSpPr>
          <p:nvPr/>
        </p:nvSpPr>
        <p:spPr>
          <a:xfrm>
            <a:off x="895350" y="1876425"/>
            <a:ext cx="4686300" cy="2914650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temperature = 31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seuil = 28</a:t>
            </a:r>
          </a:p>
          <a:p>
            <a:endParaRPr sz="1725" b="0">
              <a:solidFill>
                <a:srgbClr val="EAF2F8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if temperature &lt; seuil: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print("Ventilation ON")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else</a:t>
            </a:r>
          </a:p>
          <a:p>
            <a:pPr algn="l">
              <a:def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print("Ventilation OFF")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28087DE-70F2-484C-BBDB-848A9E389EF3}"/>
              </a:ext>
            </a:extLst>
          </p:cNvPr>
          <p:cNvSpPr>
            <a:spLocks noGrp="1"/>
          </p:cNvSpPr>
          <p:nvPr/>
        </p:nvSpPr>
        <p:spPr>
          <a:xfrm>
            <a:off x="6477000" y="1762125"/>
            <a:ext cx="4953000" cy="31432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F7A6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FEEDA96-763F-4DEC-B6B7-218CCFA88122}"/>
              </a:ext>
            </a:extLst>
          </p:cNvPr>
          <p:cNvSpPr>
            <a:spLocks noGrp="1"/>
          </p:cNvSpPr>
          <p:nvPr/>
        </p:nvSpPr>
        <p:spPr>
          <a:xfrm>
            <a:off x="7000875" y="2095500"/>
            <a:ext cx="39052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800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Repérer et corriger 2 erreurs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B253E9-557C-4853-B4F3-8E9D320CDE7E}"/>
              </a:ext>
            </a:extLst>
          </p:cNvPr>
          <p:cNvSpPr>
            <a:spLocks noGrp="1"/>
          </p:cNvSpPr>
          <p:nvPr/>
        </p:nvSpPr>
        <p:spPr>
          <a:xfrm>
            <a:off x="7000875" y="2857500"/>
            <a:ext cx="3905250" cy="16668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9405"/>
          </a:bodyPr>
          <a:lstStyle/>
          <a:p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1. ………………………………………………</a:t>
            </a:r>
          </a:p>
          <a:p>
            <a:endParaRPr sz="1500" b="0">
              <a:solidFill>
                <a:srgbClr val="546579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2. ………………………………………………</a:t>
            </a:r>
          </a:p>
          <a:p>
            <a:endParaRPr sz="1500" b="0">
              <a:solidFill>
                <a:srgbClr val="546579"/>
              </a:solidFill>
              <a:latin typeface="DejaVu Sans"/>
              <a:ea typeface="DejaVu Sans"/>
              <a:cs typeface="DejaVu Sans"/>
            </a:endParaRPr>
          </a:p>
          <a:p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Code corrigé :</a:t>
            </a:r>
          </a:p>
          <a:p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</a:t>
            </a:r>
          </a:p>
          <a:p>
            <a:pPr algn="l">
              <a:def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…………………………………………………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27E4919F-A613-4243-B752-126D21EA0A54}"/>
              </a:ext>
            </a:extLst>
          </p:cNvPr>
          <p:cNvSpPr>
            <a:spLocks noGrp="1"/>
          </p:cNvSpPr>
          <p:nvPr/>
        </p:nvSpPr>
        <p:spPr>
          <a:xfrm>
            <a:off x="1524000" y="5334000"/>
            <a:ext cx="9144000" cy="523875"/>
          </a:xfrm>
          <a:prstGeom prst="roundRect">
            <a:avLst>
              <a:gd name="adj" fmla="val 29091"/>
            </a:avLst>
          </a:prstGeom>
          <a:solidFill>
            <a:srgbClr val="FFF3CF"/>
          </a:solidFill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Conseil : comparer l’exigence, la condition et la syntaxe ligne par ligne.</a:t>
            </a:r>
          </a:p>
        </p:txBody>
      </p:sp>
    </p:spTree>
    <p:extLst>
      <p:ext uri="{BB962C8B-B14F-4D97-AF65-F5344CB8AC3E}">
        <p14:creationId xmlns:p14="http://schemas.microsoft.com/office/powerpoint/2010/main" val="1613765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85A71213-39B6-40B6-BF19-3820D02BC1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82C341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4469CEA-C07A-4530-B74C-9F3B16BF521F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Tester avec une table de traces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E7DFBB12-C497-4E59-A323-7858C56F51F0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82C341"/>
          </a:solidFill>
          <a:ln w="9525">
            <a:solidFill>
              <a:srgbClr val="82C34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933A71-0E2D-40A9-9896-7A6E67765D8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VALIDATION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DFA37E4F-FFD6-49E8-9452-58A7A904B3C1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58" name="Image 5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E49AE2-989F-4007-BB9B-E86F0AC71F2E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AA0D9B-3C91-4051-A0E2-975FE34E24E6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25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6955338F-67A1-41FF-AEDE-4F2603A66718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EAD591-CE42-4379-996D-D00E486340EE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572381-58E1-4511-A184-C709AF39D176}"/>
              </a:ext>
            </a:extLst>
          </p:cNvPr>
          <p:cNvSpPr>
            <a:spLocks noGrp="1"/>
          </p:cNvSpPr>
          <p:nvPr/>
        </p:nvSpPr>
        <p:spPr>
          <a:xfrm>
            <a:off x="2190750" y="1047750"/>
            <a:ext cx="7810500" cy="4191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Exigence : ventilateur ON si temperature ≥ 28 °C.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0FE0D92A-9CCE-42F7-829D-0156DA5F9D6C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1714500" cy="552450"/>
          </a:xfrm>
          <a:prstGeom prst="roundRect">
            <a:avLst>
              <a:gd name="adj" fmla="val 13793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EADCCA-1C99-45CD-A756-B779EE0BF6F1}"/>
              </a:ext>
            </a:extLst>
          </p:cNvPr>
          <p:cNvSpPr>
            <a:spLocks noGrp="1"/>
          </p:cNvSpPr>
          <p:nvPr/>
        </p:nvSpPr>
        <p:spPr>
          <a:xfrm>
            <a:off x="714375" y="1809750"/>
            <a:ext cx="1714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Cas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832BD04-9C43-4DCB-971A-35F408484596}"/>
              </a:ext>
            </a:extLst>
          </p:cNvPr>
          <p:cNvSpPr>
            <a:spLocks noGrp="1"/>
          </p:cNvSpPr>
          <p:nvPr/>
        </p:nvSpPr>
        <p:spPr>
          <a:xfrm>
            <a:off x="2428875" y="1809750"/>
            <a:ext cx="1905000" cy="552450"/>
          </a:xfrm>
          <a:prstGeom prst="roundRect">
            <a:avLst>
              <a:gd name="adj" fmla="val 13793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FE0E6-7122-4B7B-BF69-DC73A561DC0F}"/>
              </a:ext>
            </a:extLst>
          </p:cNvPr>
          <p:cNvSpPr>
            <a:spLocks noGrp="1"/>
          </p:cNvSpPr>
          <p:nvPr/>
        </p:nvSpPr>
        <p:spPr>
          <a:xfrm>
            <a:off x="2428875" y="1809750"/>
            <a:ext cx="19050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Température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BC0E68B-5776-4C00-A21D-0E14ED9ED7A6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2381250" cy="552450"/>
          </a:xfrm>
          <a:prstGeom prst="roundRect">
            <a:avLst>
              <a:gd name="adj" fmla="val 13793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577A52-67CE-4CEB-A662-692001890383}"/>
              </a:ext>
            </a:extLst>
          </p:cNvPr>
          <p:cNvSpPr>
            <a:spLocks noGrp="1"/>
          </p:cNvSpPr>
          <p:nvPr/>
        </p:nvSpPr>
        <p:spPr>
          <a:xfrm>
            <a:off x="4333875" y="1809750"/>
            <a:ext cx="238125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Condition T ≥ 28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04257791-6C2D-4C47-8375-8BB9E4F3C9FC}"/>
              </a:ext>
            </a:extLst>
          </p:cNvPr>
          <p:cNvSpPr>
            <a:spLocks noGrp="1"/>
          </p:cNvSpPr>
          <p:nvPr/>
        </p:nvSpPr>
        <p:spPr>
          <a:xfrm>
            <a:off x="6715125" y="1809750"/>
            <a:ext cx="2095500" cy="552450"/>
          </a:xfrm>
          <a:prstGeom prst="roundRect">
            <a:avLst>
              <a:gd name="adj" fmla="val 13793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25B7F9-1E9E-4AB7-82CA-56218B6FBD39}"/>
              </a:ext>
            </a:extLst>
          </p:cNvPr>
          <p:cNvSpPr>
            <a:spLocks noGrp="1"/>
          </p:cNvSpPr>
          <p:nvPr/>
        </p:nvSpPr>
        <p:spPr>
          <a:xfrm>
            <a:off x="6715125" y="1809750"/>
            <a:ext cx="2095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Sortie attendue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F68C0E1E-EB27-442E-BF00-481A6B521B7A}"/>
              </a:ext>
            </a:extLst>
          </p:cNvPr>
          <p:cNvSpPr>
            <a:spLocks noGrp="1"/>
          </p:cNvSpPr>
          <p:nvPr/>
        </p:nvSpPr>
        <p:spPr>
          <a:xfrm>
            <a:off x="8810625" y="1809750"/>
            <a:ext cx="2857500" cy="552450"/>
          </a:xfrm>
          <a:prstGeom prst="roundRect">
            <a:avLst>
              <a:gd name="adj" fmla="val 13793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7B503-8F58-460A-AC36-37D12E377AFB}"/>
              </a:ext>
            </a:extLst>
          </p:cNvPr>
          <p:cNvSpPr>
            <a:spLocks noGrp="1"/>
          </p:cNvSpPr>
          <p:nvPr/>
        </p:nvSpPr>
        <p:spPr>
          <a:xfrm>
            <a:off x="8810625" y="1809750"/>
            <a:ext cx="2857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Pourquoi ?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9AC76D6-1640-4EDC-A03F-50000898438A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1ED1B5-E72A-40D3-8961-5F2956076B72}"/>
              </a:ext>
            </a:extLst>
          </p:cNvPr>
          <p:cNvSpPr>
            <a:spLocks noGrp="1"/>
          </p:cNvSpPr>
          <p:nvPr/>
        </p:nvSpPr>
        <p:spPr>
          <a:xfrm>
            <a:off x="714375" y="2362200"/>
            <a:ext cx="1714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Normal bas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6B88AC2A-CB9F-4C1E-B338-B2AC3E57DF8E}"/>
              </a:ext>
            </a:extLst>
          </p:cNvPr>
          <p:cNvSpPr>
            <a:spLocks noGrp="1"/>
          </p:cNvSpPr>
          <p:nvPr/>
        </p:nvSpPr>
        <p:spPr>
          <a:xfrm>
            <a:off x="2428875" y="2362200"/>
            <a:ext cx="1905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B61B86-5608-4AF1-A8F3-0E5836DDC95F}"/>
              </a:ext>
            </a:extLst>
          </p:cNvPr>
          <p:cNvSpPr>
            <a:spLocks noGrp="1"/>
          </p:cNvSpPr>
          <p:nvPr/>
        </p:nvSpPr>
        <p:spPr>
          <a:xfrm>
            <a:off x="2428875" y="2362200"/>
            <a:ext cx="19050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25 °C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DEED0407-8184-4921-B6B3-7940D7472606}"/>
              </a:ext>
            </a:extLst>
          </p:cNvPr>
          <p:cNvSpPr>
            <a:spLocks noGrp="1"/>
          </p:cNvSpPr>
          <p:nvPr/>
        </p:nvSpPr>
        <p:spPr>
          <a:xfrm>
            <a:off x="4333875" y="236220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54E3A6-066A-45D6-9568-267E299C3130}"/>
              </a:ext>
            </a:extLst>
          </p:cNvPr>
          <p:cNvSpPr>
            <a:spLocks noGrp="1"/>
          </p:cNvSpPr>
          <p:nvPr/>
        </p:nvSpPr>
        <p:spPr>
          <a:xfrm>
            <a:off x="4333875" y="2362200"/>
            <a:ext cx="23812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73AC2013-2C08-432A-B9B9-33599BDCFB48}"/>
              </a:ext>
            </a:extLst>
          </p:cNvPr>
          <p:cNvSpPr>
            <a:spLocks noGrp="1"/>
          </p:cNvSpPr>
          <p:nvPr/>
        </p:nvSpPr>
        <p:spPr>
          <a:xfrm>
            <a:off x="6715125" y="236220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F4A431-AF0D-4DB8-AB98-C201B3665B9D}"/>
              </a:ext>
            </a:extLst>
          </p:cNvPr>
          <p:cNvSpPr>
            <a:spLocks noGrp="1"/>
          </p:cNvSpPr>
          <p:nvPr/>
        </p:nvSpPr>
        <p:spPr>
          <a:xfrm>
            <a:off x="6715125" y="236220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D7768EE3-9A73-4887-B216-5A41FF462B65}"/>
              </a:ext>
            </a:extLst>
          </p:cNvPr>
          <p:cNvSpPr>
            <a:spLocks noGrp="1"/>
          </p:cNvSpPr>
          <p:nvPr/>
        </p:nvSpPr>
        <p:spPr>
          <a:xfrm>
            <a:off x="8810625" y="2362200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E9E9D9-E73D-4C6E-B55A-53E4494C0EDE}"/>
              </a:ext>
            </a:extLst>
          </p:cNvPr>
          <p:cNvSpPr>
            <a:spLocks noGrp="1"/>
          </p:cNvSpPr>
          <p:nvPr/>
        </p:nvSpPr>
        <p:spPr>
          <a:xfrm>
            <a:off x="8810625" y="2362200"/>
            <a:ext cx="2857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A258165-8596-4702-A164-0581E17A06B3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FFF3C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D0FD021-CFAF-4DCF-9DBD-5E362306B199}"/>
              </a:ext>
            </a:extLst>
          </p:cNvPr>
          <p:cNvSpPr>
            <a:spLocks noGrp="1"/>
          </p:cNvSpPr>
          <p:nvPr/>
        </p:nvSpPr>
        <p:spPr>
          <a:xfrm>
            <a:off x="714375" y="3143250"/>
            <a:ext cx="1714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Limite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57E2469D-C484-47E9-B331-57511A1A65D3}"/>
              </a:ext>
            </a:extLst>
          </p:cNvPr>
          <p:cNvSpPr>
            <a:spLocks noGrp="1"/>
          </p:cNvSpPr>
          <p:nvPr/>
        </p:nvSpPr>
        <p:spPr>
          <a:xfrm>
            <a:off x="2428875" y="3143250"/>
            <a:ext cx="1905000" cy="781050"/>
          </a:xfrm>
          <a:prstGeom prst="roundRect">
            <a:avLst>
              <a:gd name="adj" fmla="val 9756"/>
            </a:avLst>
          </a:prstGeom>
          <a:solidFill>
            <a:srgbClr val="FFF3C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BA67246-F4AA-4D18-89CB-9C7C4D5CD5BE}"/>
              </a:ext>
            </a:extLst>
          </p:cNvPr>
          <p:cNvSpPr>
            <a:spLocks noGrp="1"/>
          </p:cNvSpPr>
          <p:nvPr/>
        </p:nvSpPr>
        <p:spPr>
          <a:xfrm>
            <a:off x="2428875" y="3143250"/>
            <a:ext cx="19050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28 °C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66F55B6A-1AE7-4A58-AD94-007090A1C86D}"/>
              </a:ext>
            </a:extLst>
          </p:cNvPr>
          <p:cNvSpPr>
            <a:spLocks noGrp="1"/>
          </p:cNvSpPr>
          <p:nvPr/>
        </p:nvSpPr>
        <p:spPr>
          <a:xfrm>
            <a:off x="4333875" y="314325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3C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62C8615-5E8C-4280-B980-DF0E7AE293E6}"/>
              </a:ext>
            </a:extLst>
          </p:cNvPr>
          <p:cNvSpPr>
            <a:spLocks noGrp="1"/>
          </p:cNvSpPr>
          <p:nvPr/>
        </p:nvSpPr>
        <p:spPr>
          <a:xfrm>
            <a:off x="4333875" y="3143250"/>
            <a:ext cx="23812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3B7629D5-0FA1-4709-A4FA-C529FA5FED5D}"/>
              </a:ext>
            </a:extLst>
          </p:cNvPr>
          <p:cNvSpPr>
            <a:spLocks noGrp="1"/>
          </p:cNvSpPr>
          <p:nvPr/>
        </p:nvSpPr>
        <p:spPr>
          <a:xfrm>
            <a:off x="6715125" y="314325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FFF3C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C734DE-8C06-4B89-9A7E-DD66D20536C5}"/>
              </a:ext>
            </a:extLst>
          </p:cNvPr>
          <p:cNvSpPr>
            <a:spLocks noGrp="1"/>
          </p:cNvSpPr>
          <p:nvPr/>
        </p:nvSpPr>
        <p:spPr>
          <a:xfrm>
            <a:off x="6715125" y="314325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40" name="Rectangle : coins arrondis 39">
            <a:extLst>
              <a:ext uri="{FF2B5EF4-FFF2-40B4-BE49-F238E27FC236}">
                <a16:creationId xmlns:a16="http://schemas.microsoft.com/office/drawing/2014/main" id="{019020D9-E20E-4D8F-B5A4-DB631CB85B26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FF3C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1F14264-010E-4B69-9464-0FC0755CB2D3}"/>
              </a:ext>
            </a:extLst>
          </p:cNvPr>
          <p:cNvSpPr>
            <a:spLocks noGrp="1"/>
          </p:cNvSpPr>
          <p:nvPr/>
        </p:nvSpPr>
        <p:spPr>
          <a:xfrm>
            <a:off x="8810625" y="3143250"/>
            <a:ext cx="2857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021511B4-FD01-491A-A96F-3F31B4B02306}"/>
              </a:ext>
            </a:extLst>
          </p:cNvPr>
          <p:cNvSpPr>
            <a:spLocks noGrp="1"/>
          </p:cNvSpPr>
          <p:nvPr/>
        </p:nvSpPr>
        <p:spPr>
          <a:xfrm>
            <a:off x="714375" y="3924300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6B25F5E-62F2-4257-BD2A-7E438166D52F}"/>
              </a:ext>
            </a:extLst>
          </p:cNvPr>
          <p:cNvSpPr>
            <a:spLocks noGrp="1"/>
          </p:cNvSpPr>
          <p:nvPr/>
        </p:nvSpPr>
        <p:spPr>
          <a:xfrm>
            <a:off x="714375" y="3924300"/>
            <a:ext cx="1714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Normal haut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556D07CB-276D-435C-ACE9-D5CE3D9BE930}"/>
              </a:ext>
            </a:extLst>
          </p:cNvPr>
          <p:cNvSpPr>
            <a:spLocks noGrp="1"/>
          </p:cNvSpPr>
          <p:nvPr/>
        </p:nvSpPr>
        <p:spPr>
          <a:xfrm>
            <a:off x="2428875" y="3924300"/>
            <a:ext cx="19050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34A84CA-D0B6-4277-8069-57AE4E70C241}"/>
              </a:ext>
            </a:extLst>
          </p:cNvPr>
          <p:cNvSpPr>
            <a:spLocks noGrp="1"/>
          </p:cNvSpPr>
          <p:nvPr/>
        </p:nvSpPr>
        <p:spPr>
          <a:xfrm>
            <a:off x="2428875" y="3924300"/>
            <a:ext cx="19050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31 °C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00F7A3AC-6189-42FA-BC7D-38D09B8E938E}"/>
              </a:ext>
            </a:extLst>
          </p:cNvPr>
          <p:cNvSpPr>
            <a:spLocks noGrp="1"/>
          </p:cNvSpPr>
          <p:nvPr/>
        </p:nvSpPr>
        <p:spPr>
          <a:xfrm>
            <a:off x="4333875" y="3924300"/>
            <a:ext cx="238125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05EEA8-3BA5-4087-A0E5-63FFAA9CB54B}"/>
              </a:ext>
            </a:extLst>
          </p:cNvPr>
          <p:cNvSpPr>
            <a:spLocks noGrp="1"/>
          </p:cNvSpPr>
          <p:nvPr/>
        </p:nvSpPr>
        <p:spPr>
          <a:xfrm>
            <a:off x="4333875" y="3924300"/>
            <a:ext cx="238125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3F6247EA-E3D7-4376-8E32-6F961E72E490}"/>
              </a:ext>
            </a:extLst>
          </p:cNvPr>
          <p:cNvSpPr>
            <a:spLocks noGrp="1"/>
          </p:cNvSpPr>
          <p:nvPr/>
        </p:nvSpPr>
        <p:spPr>
          <a:xfrm>
            <a:off x="6715125" y="3924300"/>
            <a:ext cx="2095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B450BC5-0935-4959-854C-0B729C4A2C6D}"/>
              </a:ext>
            </a:extLst>
          </p:cNvPr>
          <p:cNvSpPr>
            <a:spLocks noGrp="1"/>
          </p:cNvSpPr>
          <p:nvPr/>
        </p:nvSpPr>
        <p:spPr>
          <a:xfrm>
            <a:off x="6715125" y="3924300"/>
            <a:ext cx="2095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50" name="Rectangle : coins arrondis 49">
            <a:extLst>
              <a:ext uri="{FF2B5EF4-FFF2-40B4-BE49-F238E27FC236}">
                <a16:creationId xmlns:a16="http://schemas.microsoft.com/office/drawing/2014/main" id="{72FF03BF-3426-4303-95C0-23FA14A9F52C}"/>
              </a:ext>
            </a:extLst>
          </p:cNvPr>
          <p:cNvSpPr>
            <a:spLocks noGrp="1"/>
          </p:cNvSpPr>
          <p:nvPr/>
        </p:nvSpPr>
        <p:spPr>
          <a:xfrm>
            <a:off x="8810625" y="3924300"/>
            <a:ext cx="2857500" cy="7810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D832807-E553-4BA1-8920-AC7890EFB2C7}"/>
              </a:ext>
            </a:extLst>
          </p:cNvPr>
          <p:cNvSpPr>
            <a:spLocks noGrp="1"/>
          </p:cNvSpPr>
          <p:nvPr/>
        </p:nvSpPr>
        <p:spPr>
          <a:xfrm>
            <a:off x="8810625" y="3924300"/>
            <a:ext cx="2857500" cy="781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………………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FE4120F1-0009-4FF9-A03D-A01024E10976}"/>
              </a:ext>
            </a:extLst>
          </p:cNvPr>
          <p:cNvSpPr>
            <a:spLocks noGrp="1"/>
          </p:cNvSpPr>
          <p:nvPr/>
        </p:nvSpPr>
        <p:spPr>
          <a:xfrm>
            <a:off x="2143125" y="5191125"/>
            <a:ext cx="7905750" cy="514350"/>
          </a:xfrm>
          <a:prstGeom prst="roundRect">
            <a:avLst>
              <a:gd name="adj" fmla="val 29630"/>
            </a:avLst>
          </a:prstGeom>
          <a:solidFill>
            <a:srgbClr val="EAF6DC"/>
          </a:solidFill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ctr">
              <a:def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Toujours tester la valeur limite : elle révèle les erreurs entre &gt; et ≥.</a:t>
            </a:r>
          </a:p>
        </p:txBody>
      </p:sp>
    </p:spTree>
    <p:extLst>
      <p:ext uri="{BB962C8B-B14F-4D97-AF65-F5344CB8AC3E}">
        <p14:creationId xmlns:p14="http://schemas.microsoft.com/office/powerpoint/2010/main" val="1477013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AF441AB-C4BE-406A-B15F-84E74925C4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E9425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370DDD-04B8-4E0E-8F29-0185BC857165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Mini-défi pratique : commande d’une serre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3943C812-8316-4112-B40C-75D4CB81190A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E94256"/>
          </a:solidFill>
          <a:ln w="9525">
            <a:solidFill>
              <a:srgbClr val="E9425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5066E-F55D-4824-B8C6-FC30F2901F8F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PRÉPARATION BAC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13EF5DF4-BF4F-4EA2-B59D-2F434BB757E7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D5613F-45A7-4BDD-9165-A80BF06E90EF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229C82-70DB-4A10-BDF6-69F1597F084B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26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0CF1DD2-3EFF-47F4-9BF4-B9BA905BC94E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395F91-AA91-4BDD-8532-BD7CFFE30C22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939B084-6FD5-4BAE-84AA-1B555F97DB52}"/>
              </a:ext>
            </a:extLst>
          </p:cNvPr>
          <p:cNvSpPr>
            <a:spLocks noGrp="1"/>
          </p:cNvSpPr>
          <p:nvPr/>
        </p:nvSpPr>
        <p:spPr>
          <a:xfrm>
            <a:off x="571500" y="1143000"/>
            <a:ext cx="3714750" cy="495300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9525">
            <a:solidFill>
              <a:srgbClr val="E9425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B20D07-53EA-4359-8E77-7C24CC488BB0}"/>
              </a:ext>
            </a:extLst>
          </p:cNvPr>
          <p:cNvSpPr>
            <a:spLocks noGrp="1"/>
          </p:cNvSpPr>
          <p:nvPr/>
        </p:nvSpPr>
        <p:spPr>
          <a:xfrm>
            <a:off x="904875" y="1381125"/>
            <a:ext cx="952500" cy="3238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6667"/>
          </a:bodyPr>
          <a:lstStyle/>
          <a:p>
            <a:pPr algn="l">
              <a:defRPr sz="1875" b="1">
                <a:solidFill>
                  <a:srgbClr val="E94256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E94256"/>
                </a:solidFill>
                <a:latin typeface="DejaVu Sans"/>
                <a:ea typeface="DejaVu Sans"/>
                <a:cs typeface="DejaVu Sans"/>
              </a:rPr>
              <a:t>20 min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C0174C-F6B1-4F04-B4C5-1B35502D8CF7}"/>
              </a:ext>
            </a:extLst>
          </p:cNvPr>
          <p:cNvSpPr>
            <a:spLocks noGrp="1"/>
          </p:cNvSpPr>
          <p:nvPr/>
        </p:nvSpPr>
        <p:spPr>
          <a:xfrm>
            <a:off x="904875" y="19526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7719"/>
          </a:bodyPr>
          <a:lstStyle/>
          <a:p>
            <a:pPr algn="l">
              <a:def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Entrées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EC3A02-9B78-489A-ABC2-456E664C73C8}"/>
              </a:ext>
            </a:extLst>
          </p:cNvPr>
          <p:cNvSpPr>
            <a:spLocks noGrp="1"/>
          </p:cNvSpPr>
          <p:nvPr/>
        </p:nvSpPr>
        <p:spPr>
          <a:xfrm>
            <a:off x="904875" y="2286000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temperature, humidite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CF11BA-38D1-4BFB-BAB2-6B4D9CC9E52F}"/>
              </a:ext>
            </a:extLst>
          </p:cNvPr>
          <p:cNvSpPr>
            <a:spLocks noGrp="1"/>
          </p:cNvSpPr>
          <p:nvPr/>
        </p:nvSpPr>
        <p:spPr>
          <a:xfrm>
            <a:off x="904875" y="285750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7719"/>
          </a:bodyPr>
          <a:lstStyle/>
          <a:p>
            <a:pPr algn="l">
              <a:def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Sorties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174234-60E9-4D01-AB96-CF58B378BA35}"/>
              </a:ext>
            </a:extLst>
          </p:cNvPr>
          <p:cNvSpPr>
            <a:spLocks noGrp="1"/>
          </p:cNvSpPr>
          <p:nvPr/>
        </p:nvSpPr>
        <p:spPr>
          <a:xfrm>
            <a:off x="904875" y="3190875"/>
            <a:ext cx="2952750" cy="3333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00" b="0">
                <a:solidFill>
                  <a:srgbClr val="142333"/>
                </a:solidFill>
                <a:latin typeface="DejaVu Sans Mono"/>
                <a:ea typeface="DejaVu Sans Mono"/>
                <a:cs typeface="DejaVu Sans Mono"/>
              </a:rPr>
              <a:t>ventilateur, pompe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4BB59D-571E-4E7A-9B96-94330795E5DD}"/>
              </a:ext>
            </a:extLst>
          </p:cNvPr>
          <p:cNvSpPr>
            <a:spLocks noGrp="1"/>
          </p:cNvSpPr>
          <p:nvPr/>
        </p:nvSpPr>
        <p:spPr>
          <a:xfrm>
            <a:off x="904875" y="376237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87719"/>
          </a:bodyPr>
          <a:lstStyle/>
          <a:p>
            <a:pPr algn="l">
              <a:def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Règles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F2FBC-DBF2-47DF-A966-5A9767B86E2B}"/>
              </a:ext>
            </a:extLst>
          </p:cNvPr>
          <p:cNvSpPr>
            <a:spLocks noGrp="1"/>
          </p:cNvSpPr>
          <p:nvPr/>
        </p:nvSpPr>
        <p:spPr>
          <a:xfrm>
            <a:off x="904875" y="4095750"/>
            <a:ext cx="2952750" cy="10001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ventiler si T ≥ 28 °C</a:t>
            </a:r>
          </a:p>
          <a:p>
            <a:pPr algn="l">
              <a:def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arroser si H &lt; 35 %</a:t>
            </a:r>
          </a:p>
          <a:p>
            <a:pPr algn="l">
              <a:def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les deux décisions sont indépendantes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5B4F5-223C-41ED-9964-8AD750AC7308}"/>
              </a:ext>
            </a:extLst>
          </p:cNvPr>
          <p:cNvSpPr>
            <a:spLocks noGrp="1"/>
          </p:cNvSpPr>
          <p:nvPr/>
        </p:nvSpPr>
        <p:spPr>
          <a:xfrm>
            <a:off x="904875" y="54292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8704"/>
          </a:bodyPr>
          <a:lstStyle/>
          <a:p>
            <a:pPr algn="ctr">
              <a:def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E94256"/>
                </a:solidFill>
                <a:latin typeface="DejaVu Sans"/>
                <a:ea typeface="DejaVu Sans"/>
                <a:cs typeface="DejaVu Sans"/>
              </a:rPr>
              <a:t>Livrables : algorithme + code + 4 tests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84254C92-1608-4DDC-A156-9CE69E4A3D6B}"/>
              </a:ext>
            </a:extLst>
          </p:cNvPr>
          <p:cNvSpPr>
            <a:spLocks noGrp="1"/>
          </p:cNvSpPr>
          <p:nvPr/>
        </p:nvSpPr>
        <p:spPr>
          <a:xfrm>
            <a:off x="4762500" y="1285875"/>
            <a:ext cx="6858000" cy="4333875"/>
          </a:xfrm>
          <a:prstGeom prst="roundRect">
            <a:avLst>
              <a:gd name="adj" fmla="val 3516"/>
            </a:avLst>
          </a:prstGeom>
          <a:solidFill>
            <a:srgbClr val="101A24"/>
          </a:solidFill>
          <a:ln w="9525">
            <a:solidFill>
              <a:srgbClr val="101A24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396B97-ACF5-400B-A1F9-16103D4856C8}"/>
              </a:ext>
            </a:extLst>
          </p:cNvPr>
          <p:cNvSpPr>
            <a:spLocks noGrp="1"/>
          </p:cNvSpPr>
          <p:nvPr/>
        </p:nvSpPr>
        <p:spPr>
          <a:xfrm>
            <a:off x="4895850" y="1400175"/>
            <a:ext cx="6591300" cy="4105275"/>
          </a:xfrm>
          <a:prstGeom prst="rect">
            <a:avLst/>
          </a:prstGeom>
          <a:noFill/>
          <a:ln w="0">
            <a:noFill/>
          </a:ln>
        </p:spPr>
        <p:txBody>
          <a:bodyPr lIns="38100" tIns="38100" rIns="38100" bIns="38100" anchor="t">
            <a:normAutofit/>
          </a:bodyPr>
          <a:lstStyle/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def commander_serre(temperature, humidite):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ventilateur = ………………………………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pompe = ………………………………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    return ………………………………</a:t>
            </a:r>
          </a:p>
          <a:p>
            <a:endParaRPr sz="1575" b="0">
              <a:solidFill>
                <a:srgbClr val="EAF2F8"/>
              </a:solidFill>
              <a:latin typeface="DejaVu Sans Mono"/>
              <a:ea typeface="DejaVu Sans Mono"/>
              <a:cs typeface="DejaVu Sans Mono"/>
            </a:endParaRP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prévoir 4 tests :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1. aucun actionneur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2. ventilateur seul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3. pompe seule</a:t>
            </a:r>
          </a:p>
          <a:p>
            <a:pPr algn="l">
              <a:def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0">
                <a:solidFill>
                  <a:srgbClr val="EAF2F8"/>
                </a:solidFill>
                <a:latin typeface="DejaVu Sans Mono"/>
                <a:ea typeface="DejaVu Sans Mono"/>
                <a:cs typeface="DejaVu Sans Mono"/>
              </a:rPr>
              <a:t># 4. les deux actionneurs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B03A51-E126-4CBD-8448-A4E050E00548}"/>
              </a:ext>
            </a:extLst>
          </p:cNvPr>
          <p:cNvSpPr>
            <a:spLocks noGrp="1"/>
          </p:cNvSpPr>
          <p:nvPr/>
        </p:nvSpPr>
        <p:spPr>
          <a:xfrm>
            <a:off x="5191125" y="5762625"/>
            <a:ext cx="6000750" cy="3429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73525"/>
          </a:bodyPr>
          <a:lstStyle/>
          <a:p>
            <a:pPr algn="ctr">
              <a:def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Critère de réussite : chaque règle fonctionne seule et en même temps que l’autre.</a:t>
            </a:r>
          </a:p>
        </p:txBody>
      </p:sp>
    </p:spTree>
    <p:extLst>
      <p:ext uri="{BB962C8B-B14F-4D97-AF65-F5344CB8AC3E}">
        <p14:creationId xmlns:p14="http://schemas.microsoft.com/office/powerpoint/2010/main" val="1439649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DDC3F41-2D68-4B7A-92E6-1A437E4CF3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00A6A6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E01B0E-E368-4489-9420-D96F8E2A0511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Ce que je dois retenir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6D32000E-346F-45E1-A92B-593C63697AE5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 w="9525">
            <a:solidFill>
              <a:srgbClr val="00A6A6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4E6C41-12EB-4E6B-96C9-13BE30E23629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ESSENTIEL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52B49B6A-B4A7-4E14-8E40-332C0F7E1D1A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8" name="Image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4CB2C76-1E60-4581-8A2D-6EB9BC96D6C6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EF0E3E-5AB5-4A11-964E-3AD12FA47B9A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27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8F2B54C4-7300-44C0-A346-16E99793C173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37DB321-E23B-4C68-BAC3-AA9433B35FDF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FE0B781-9E3F-4850-984F-8EE5371DAC56}"/>
              </a:ext>
            </a:extLst>
          </p:cNvPr>
          <p:cNvSpPr>
            <a:spLocks noGrp="1"/>
          </p:cNvSpPr>
          <p:nvPr/>
        </p:nvSpPr>
        <p:spPr>
          <a:xfrm>
            <a:off x="1000125" y="1143000"/>
            <a:ext cx="10191750" cy="590550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09D928-350C-4A78-A8D6-AF5401DC626E}"/>
              </a:ext>
            </a:extLst>
          </p:cNvPr>
          <p:cNvSpPr>
            <a:spLocks noGrp="1"/>
          </p:cNvSpPr>
          <p:nvPr/>
        </p:nvSpPr>
        <p:spPr>
          <a:xfrm>
            <a:off x="1238250" y="1219200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1. Un algorithme décrit une solution ……………………… du langage.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587FDB67-C879-4BC8-AF7A-42F37DB3C5A1}"/>
              </a:ext>
            </a:extLst>
          </p:cNvPr>
          <p:cNvSpPr>
            <a:spLocks noGrp="1"/>
          </p:cNvSpPr>
          <p:nvPr/>
        </p:nvSpPr>
        <p:spPr>
          <a:xfrm>
            <a:off x="1000125" y="1924050"/>
            <a:ext cx="10191750" cy="590550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8FAE3F-4D5F-44AF-9A75-31868AC0B763}"/>
              </a:ext>
            </a:extLst>
          </p:cNvPr>
          <p:cNvSpPr>
            <a:spLocks noGrp="1"/>
          </p:cNvSpPr>
          <p:nvPr/>
        </p:nvSpPr>
        <p:spPr>
          <a:xfrm>
            <a:off x="1238250" y="2000250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2. L’algorigramme représente ………………, ……………… et sens d’exécution.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B83B537-AD6D-4D13-91AC-7DE11CA2753C}"/>
              </a:ext>
            </a:extLst>
          </p:cNvPr>
          <p:cNvSpPr>
            <a:spLocks noGrp="1"/>
          </p:cNvSpPr>
          <p:nvPr/>
        </p:nvSpPr>
        <p:spPr>
          <a:xfrm>
            <a:off x="1000125" y="2705100"/>
            <a:ext cx="10191750" cy="590550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AB8C9C-530E-4286-BE40-13AA40653E32}"/>
              </a:ext>
            </a:extLst>
          </p:cNvPr>
          <p:cNvSpPr>
            <a:spLocks noGrp="1"/>
          </p:cNvSpPr>
          <p:nvPr/>
        </p:nvSpPr>
        <p:spPr>
          <a:xfrm>
            <a:off x="1238250" y="2781300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3. SI choisit une …………… . WHILE, DO…WHILE et FOR …………… .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DD0DBF30-4B2F-4ED0-9A37-839E0A78771E}"/>
              </a:ext>
            </a:extLst>
          </p:cNvPr>
          <p:cNvSpPr>
            <a:spLocks noGrp="1"/>
          </p:cNvSpPr>
          <p:nvPr/>
        </p:nvSpPr>
        <p:spPr>
          <a:xfrm>
            <a:off x="1000125" y="3486150"/>
            <a:ext cx="10191750" cy="590550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0D70A4-29CF-47BE-B9AD-F15C2E8FA4E6}"/>
              </a:ext>
            </a:extLst>
          </p:cNvPr>
          <p:cNvSpPr>
            <a:spLocks noGrp="1"/>
          </p:cNvSpPr>
          <p:nvPr/>
        </p:nvSpPr>
        <p:spPr>
          <a:xfrm>
            <a:off x="1238250" y="3562350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4. Une fonction reçoit des …………… et peut retourner une …………… .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FD94B007-F875-4748-8ACE-5E21590FD474}"/>
              </a:ext>
            </a:extLst>
          </p:cNvPr>
          <p:cNvSpPr>
            <a:spLocks noGrp="1"/>
          </p:cNvSpPr>
          <p:nvPr/>
        </p:nvSpPr>
        <p:spPr>
          <a:xfrm>
            <a:off x="1000125" y="4267200"/>
            <a:ext cx="10191750" cy="590550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0210C0-78DD-4959-B95B-78FFACEDFEE6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5. Python et C++ traduisent la même …………… avec des syntaxes différentes.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1C8B790A-3E36-40E3-A44F-E9E448D90ACB}"/>
              </a:ext>
            </a:extLst>
          </p:cNvPr>
          <p:cNvSpPr>
            <a:spLocks noGrp="1"/>
          </p:cNvSpPr>
          <p:nvPr/>
        </p:nvSpPr>
        <p:spPr>
          <a:xfrm>
            <a:off x="1000125" y="5048250"/>
            <a:ext cx="10191750" cy="590550"/>
          </a:xfrm>
          <a:prstGeom prst="roundRect">
            <a:avLst>
              <a:gd name="adj" fmla="val 24194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96DF85E-6562-490A-B972-45FC972BE904}"/>
              </a:ext>
            </a:extLst>
          </p:cNvPr>
          <p:cNvSpPr>
            <a:spLocks noGrp="1"/>
          </p:cNvSpPr>
          <p:nvPr/>
        </p:nvSpPr>
        <p:spPr>
          <a:xfrm>
            <a:off x="1238250" y="5124450"/>
            <a:ext cx="9715500" cy="4381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6. Un test pertinent couvre les cas normaux, …………… et erreurs.</a:t>
            </a:r>
          </a:p>
        </p:txBody>
      </p:sp>
    </p:spTree>
    <p:extLst>
      <p:ext uri="{BB962C8B-B14F-4D97-AF65-F5344CB8AC3E}">
        <p14:creationId xmlns:p14="http://schemas.microsoft.com/office/powerpoint/2010/main" val="312283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6C184043-D26C-403F-B875-0C6486E02CA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F7A600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6CB80-D4B8-4DDD-8C78-48C0EB2AD2D3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Quiz de fin de cours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586913FB-D1CB-4ACC-A796-14CEC1DF8A79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7A10D-CD3F-4F0D-B19F-925526B91DB1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AUTOÉVALUATION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C98B1515-BE9E-472C-8BE2-03513C4B8C2F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46" name="Image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6A5BF79-AC2C-487A-BFDB-B1413CA13DE4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 dirty="0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BE147C-3ABF-48FE-AA80-DE05087E4C9B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28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E6F27149-F65C-46F5-A9CB-C33A8FE5975B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oundRect">
            <a:avLst>
              <a:gd name="adj" fmla="val 50000"/>
            </a:avLst>
          </a:prstGeom>
          <a:solidFill>
            <a:srgbClr val="F7A600"/>
          </a:solidFill>
          <a:ln w="9525">
            <a:solidFill>
              <a:srgbClr val="F7A60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B84359A-F5D8-40A2-9D65-D85413657B2A}"/>
              </a:ext>
            </a:extLst>
          </p:cNvPr>
          <p:cNvSpPr>
            <a:spLocks noGrp="1"/>
          </p:cNvSpPr>
          <p:nvPr/>
        </p:nvSpPr>
        <p:spPr>
          <a:xfrm>
            <a:off x="9667875" y="876300"/>
            <a:ext cx="15240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À COMPLÉTER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FD13CFF-DFB9-46FE-97F3-511F62E3D28F}"/>
              </a:ext>
            </a:extLst>
          </p:cNvPr>
          <p:cNvSpPr>
            <a:spLocks noGrp="1"/>
          </p:cNvSpPr>
          <p:nvPr/>
        </p:nvSpPr>
        <p:spPr>
          <a:xfrm>
            <a:off x="666750" y="1095375"/>
            <a:ext cx="10858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F88A562-58A2-4369-81C6-26281ECC1C83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CA1D43-C518-4915-A54D-02BBBC4655FD}"/>
              </a:ext>
            </a:extLst>
          </p:cNvPr>
          <p:cNvSpPr>
            <a:spLocks noGrp="1"/>
          </p:cNvSpPr>
          <p:nvPr/>
        </p:nvSpPr>
        <p:spPr>
          <a:xfrm>
            <a:off x="857250" y="128587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D08C67F-48BB-4A56-99DF-ED879E6412FA}"/>
              </a:ext>
            </a:extLst>
          </p:cNvPr>
          <p:cNvSpPr>
            <a:spLocks noGrp="1"/>
          </p:cNvSpPr>
          <p:nvPr/>
        </p:nvSpPr>
        <p:spPr>
          <a:xfrm>
            <a:off x="1476375" y="117157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Quelle boucle choisir pour exactement 10 mesures 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28EE9A-7723-4910-BF22-9278E4870DD7}"/>
              </a:ext>
            </a:extLst>
          </p:cNvPr>
          <p:cNvSpPr>
            <a:spLocks noGrp="1"/>
          </p:cNvSpPr>
          <p:nvPr/>
        </p:nvSpPr>
        <p:spPr>
          <a:xfrm>
            <a:off x="1476375" y="1485900"/>
            <a:ext cx="8286750" cy="2571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958"/>
          </a:bodyPr>
          <a:lstStyle/>
          <a:p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WHILE    B  FOR    C  IF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88B969-F7D6-4DB3-BFF2-AE0DAECB3274}"/>
              </a:ext>
            </a:extLst>
          </p:cNvPr>
          <p:cNvSpPr>
            <a:spLocks noGrp="1"/>
          </p:cNvSpPr>
          <p:nvPr/>
        </p:nvSpPr>
        <p:spPr>
          <a:xfrm>
            <a:off x="9906000" y="128587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7503"/>
          </a:bodyPr>
          <a:lstStyle/>
          <a:p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E33829C-CF92-482D-9F74-EFE9D6945627}"/>
              </a:ext>
            </a:extLst>
          </p:cNvPr>
          <p:cNvSpPr>
            <a:spLocks noGrp="1"/>
          </p:cNvSpPr>
          <p:nvPr/>
        </p:nvSpPr>
        <p:spPr>
          <a:xfrm>
            <a:off x="666750" y="2028825"/>
            <a:ext cx="10858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3F371EFE-4095-4894-A91B-9C0E73A09F96}"/>
              </a:ext>
            </a:extLst>
          </p:cNvPr>
          <p:cNvSpPr>
            <a:spLocks noGrp="1"/>
          </p:cNvSpPr>
          <p:nvPr/>
        </p:nvSpPr>
        <p:spPr>
          <a:xfrm>
            <a:off x="857250" y="221932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3ADBA9-4F83-421D-9124-263A2C60E412}"/>
              </a:ext>
            </a:extLst>
          </p:cNvPr>
          <p:cNvSpPr>
            <a:spLocks noGrp="1"/>
          </p:cNvSpPr>
          <p:nvPr/>
        </p:nvSpPr>
        <p:spPr>
          <a:xfrm>
            <a:off x="857250" y="221932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2E8140A-6F88-411F-8554-22821832C22B}"/>
              </a:ext>
            </a:extLst>
          </p:cNvPr>
          <p:cNvSpPr>
            <a:spLocks noGrp="1"/>
          </p:cNvSpPr>
          <p:nvPr/>
        </p:nvSpPr>
        <p:spPr>
          <a:xfrm>
            <a:off x="1476375" y="210502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Quel opérateur Python signifie « égal à » 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1FAC986-E7B2-4328-BE66-77DB7FB5E70F}"/>
              </a:ext>
            </a:extLst>
          </p:cNvPr>
          <p:cNvSpPr>
            <a:spLocks noGrp="1"/>
          </p:cNvSpPr>
          <p:nvPr/>
        </p:nvSpPr>
        <p:spPr>
          <a:xfrm>
            <a:off x="1476375" y="2419350"/>
            <a:ext cx="8286750" cy="2571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958"/>
          </a:bodyPr>
          <a:lstStyle/>
          <a:p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=    B  ==    C  !=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3C2779-C4D4-46D9-855A-F59D630F27E9}"/>
              </a:ext>
            </a:extLst>
          </p:cNvPr>
          <p:cNvSpPr>
            <a:spLocks noGrp="1"/>
          </p:cNvSpPr>
          <p:nvPr/>
        </p:nvSpPr>
        <p:spPr>
          <a:xfrm>
            <a:off x="9906000" y="221932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7503"/>
          </a:bodyPr>
          <a:lstStyle/>
          <a:p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323EA99-B3C9-4362-A400-05FC58BA72B1}"/>
              </a:ext>
            </a:extLst>
          </p:cNvPr>
          <p:cNvSpPr>
            <a:spLocks noGrp="1"/>
          </p:cNvSpPr>
          <p:nvPr/>
        </p:nvSpPr>
        <p:spPr>
          <a:xfrm>
            <a:off x="666750" y="2962275"/>
            <a:ext cx="10858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5702552D-160E-4BC6-9ED3-DC9A3E6A78C3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305B29-483C-4B55-918C-FC1B1D5DC1F6}"/>
              </a:ext>
            </a:extLst>
          </p:cNvPr>
          <p:cNvSpPr>
            <a:spLocks noGrp="1"/>
          </p:cNvSpPr>
          <p:nvPr/>
        </p:nvSpPr>
        <p:spPr>
          <a:xfrm>
            <a:off x="857250" y="315277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30FA16-1AE3-4C2A-8D4B-D71829C48DE0}"/>
              </a:ext>
            </a:extLst>
          </p:cNvPr>
          <p:cNvSpPr>
            <a:spLocks noGrp="1"/>
          </p:cNvSpPr>
          <p:nvPr/>
        </p:nvSpPr>
        <p:spPr>
          <a:xfrm>
            <a:off x="1476375" y="303847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Un test d’algorigramme possède combien de sorties 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07BE07-DC17-4506-B5C2-F93A9374F9BE}"/>
              </a:ext>
            </a:extLst>
          </p:cNvPr>
          <p:cNvSpPr>
            <a:spLocks noGrp="1"/>
          </p:cNvSpPr>
          <p:nvPr/>
        </p:nvSpPr>
        <p:spPr>
          <a:xfrm>
            <a:off x="1476375" y="3352800"/>
            <a:ext cx="8286750" cy="2571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958"/>
          </a:bodyPr>
          <a:lstStyle/>
          <a:p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1    B  2    C  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5D61A02-C779-40D1-9F77-292EF302DB6E}"/>
              </a:ext>
            </a:extLst>
          </p:cNvPr>
          <p:cNvSpPr>
            <a:spLocks noGrp="1"/>
          </p:cNvSpPr>
          <p:nvPr/>
        </p:nvSpPr>
        <p:spPr>
          <a:xfrm>
            <a:off x="9906000" y="315277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7503"/>
          </a:bodyPr>
          <a:lstStyle/>
          <a:p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6DFC929-1F10-44AE-9357-21FB3FE35B2D}"/>
              </a:ext>
            </a:extLst>
          </p:cNvPr>
          <p:cNvSpPr>
            <a:spLocks noGrp="1"/>
          </p:cNvSpPr>
          <p:nvPr/>
        </p:nvSpPr>
        <p:spPr>
          <a:xfrm>
            <a:off x="666750" y="3895725"/>
            <a:ext cx="10858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B801EDDB-EC1F-4744-949D-58C3BEE885B0}"/>
              </a:ext>
            </a:extLst>
          </p:cNvPr>
          <p:cNvSpPr>
            <a:spLocks noGrp="1"/>
          </p:cNvSpPr>
          <p:nvPr/>
        </p:nvSpPr>
        <p:spPr>
          <a:xfrm>
            <a:off x="857250" y="408622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2CB148-A74A-441C-8C43-2C5A3FF97487}"/>
              </a:ext>
            </a:extLst>
          </p:cNvPr>
          <p:cNvSpPr>
            <a:spLocks noGrp="1"/>
          </p:cNvSpPr>
          <p:nvPr/>
        </p:nvSpPr>
        <p:spPr>
          <a:xfrm>
            <a:off x="857250" y="408622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4FD4C7B-7D61-4F4D-BAA3-9774946930AF}"/>
              </a:ext>
            </a:extLst>
          </p:cNvPr>
          <p:cNvSpPr>
            <a:spLocks noGrp="1"/>
          </p:cNvSpPr>
          <p:nvPr/>
        </p:nvSpPr>
        <p:spPr>
          <a:xfrm>
            <a:off x="1476375" y="397192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Quel cas vérifie le mieux l’opérateur ≥ 28 ?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E927F99-2AE5-4712-AAF7-E42E29BD1462}"/>
              </a:ext>
            </a:extLst>
          </p:cNvPr>
          <p:cNvSpPr>
            <a:spLocks noGrp="1"/>
          </p:cNvSpPr>
          <p:nvPr/>
        </p:nvSpPr>
        <p:spPr>
          <a:xfrm>
            <a:off x="1476375" y="4286250"/>
            <a:ext cx="8286750" cy="2571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958"/>
          </a:bodyPr>
          <a:lstStyle/>
          <a:p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10    B  28    C  40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AEE9B6B-59F1-4004-990E-9C4848E8DE63}"/>
              </a:ext>
            </a:extLst>
          </p:cNvPr>
          <p:cNvSpPr>
            <a:spLocks noGrp="1"/>
          </p:cNvSpPr>
          <p:nvPr/>
        </p:nvSpPr>
        <p:spPr>
          <a:xfrm>
            <a:off x="9906000" y="408622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7503"/>
          </a:bodyPr>
          <a:lstStyle/>
          <a:p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8F6700FF-6B0A-4866-91DB-6953CD428E4C}"/>
              </a:ext>
            </a:extLst>
          </p:cNvPr>
          <p:cNvSpPr>
            <a:spLocks noGrp="1"/>
          </p:cNvSpPr>
          <p:nvPr/>
        </p:nvSpPr>
        <p:spPr>
          <a:xfrm>
            <a:off x="666750" y="4829175"/>
            <a:ext cx="1085850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9525">
            <a:solidFill>
              <a:srgbClr val="D9E2EA"/>
            </a:solidFill>
            <a:prstDash val="solid"/>
          </a:ln>
        </p:spPr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9ECD90D4-6777-43E9-89FC-42DF47C636D6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400050" cy="361950"/>
          </a:xfrm>
          <a:prstGeom prst="roundRect">
            <a:avLst>
              <a:gd name="adj" fmla="val 47368"/>
            </a:avLst>
          </a:prstGeom>
          <a:solidFill>
            <a:srgbClr val="12304A"/>
          </a:solidFill>
          <a:ln w="9525">
            <a:solidFill>
              <a:srgbClr val="12304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427D927-193E-4957-AA58-6C10BCC9D0AB}"/>
              </a:ext>
            </a:extLst>
          </p:cNvPr>
          <p:cNvSpPr>
            <a:spLocks noGrp="1"/>
          </p:cNvSpPr>
          <p:nvPr/>
        </p:nvSpPr>
        <p:spPr>
          <a:xfrm>
            <a:off x="857250" y="5019675"/>
            <a:ext cx="4000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D2A12C7-1E73-423A-8535-2E40123D85B5}"/>
              </a:ext>
            </a:extLst>
          </p:cNvPr>
          <p:cNvSpPr>
            <a:spLocks noGrp="1"/>
          </p:cNvSpPr>
          <p:nvPr/>
        </p:nvSpPr>
        <p:spPr>
          <a:xfrm>
            <a:off x="1476375" y="4905375"/>
            <a:ext cx="619125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Pourquoi relire un capteur dans une boucle WHILE ?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64A459-DF78-4D87-BC9E-630C7AC6ED20}"/>
              </a:ext>
            </a:extLst>
          </p:cNvPr>
          <p:cNvSpPr>
            <a:spLocks noGrp="1"/>
          </p:cNvSpPr>
          <p:nvPr/>
        </p:nvSpPr>
        <p:spPr>
          <a:xfrm>
            <a:off x="1476375" y="5219700"/>
            <a:ext cx="8286750" cy="25717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98958"/>
          </a:bodyPr>
          <a:lstStyle/>
          <a:p>
            <a:pPr algn="l">
              <a:def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200" b="0">
                <a:solidFill>
                  <a:srgbClr val="546579"/>
                </a:solidFill>
                <a:latin typeface="DejaVu Sans Mono"/>
                <a:ea typeface="DejaVu Sans Mono"/>
                <a:cs typeface="DejaVu Sans Mono"/>
              </a:rPr>
              <a:t>A  actualiser la condition    B  ralentir    C  changer de type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3503D4-F048-4DF5-A678-278BD9B4BDB1}"/>
              </a:ext>
            </a:extLst>
          </p:cNvPr>
          <p:cNvSpPr>
            <a:spLocks noGrp="1"/>
          </p:cNvSpPr>
          <p:nvPr/>
        </p:nvSpPr>
        <p:spPr>
          <a:xfrm>
            <a:off x="9906000" y="5019675"/>
            <a:ext cx="1238250" cy="3619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 fontScale="87503"/>
          </a:bodyPr>
          <a:lstStyle/>
          <a:p>
            <a:pPr algn="ctr">
              <a:def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7A600"/>
                </a:solidFill>
                <a:latin typeface="DejaVu Sans"/>
                <a:ea typeface="DejaVu Sans"/>
                <a:cs typeface="DejaVu Sans"/>
              </a:rPr>
              <a:t>Réponse : ……</a:t>
            </a:r>
          </a:p>
        </p:txBody>
      </p:sp>
    </p:spTree>
    <p:extLst>
      <p:ext uri="{BB962C8B-B14F-4D97-AF65-F5344CB8AC3E}">
        <p14:creationId xmlns:p14="http://schemas.microsoft.com/office/powerpoint/2010/main" val="2051816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2836227-EF31-40D7-81E6-EA7553EE00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76B87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D9480BD-CEEA-440A-8141-9AD7474F0436}"/>
              </a:ext>
            </a:extLst>
          </p:cNvPr>
          <p:cNvSpPr>
            <a:spLocks noGrp="1"/>
          </p:cNvSpPr>
          <p:nvPr/>
        </p:nvSpPr>
        <p:spPr>
          <a:xfrm>
            <a:off x="514350" y="228600"/>
            <a:ext cx="8572500" cy="5524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l">
              <a:def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2304A"/>
                </a:solidFill>
                <a:latin typeface="DejaVu Sans"/>
                <a:ea typeface="DejaVu Sans"/>
                <a:cs typeface="DejaVu Sans"/>
              </a:rPr>
              <a:t>Références officielles et exploitation du cours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6DC38E9-DEBF-4D5B-B022-C8BB52A69138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oundRect">
            <a:avLst>
              <a:gd name="adj" fmla="val 50000"/>
            </a:avLst>
          </a:prstGeom>
          <a:solidFill>
            <a:srgbClr val="176B87"/>
          </a:solidFill>
          <a:ln w="9525">
            <a:solidFill>
              <a:srgbClr val="176B87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1B65A7F-A9DC-4D53-AD46-242BA176675C}"/>
              </a:ext>
            </a:extLst>
          </p:cNvPr>
          <p:cNvSpPr>
            <a:spLocks noGrp="1"/>
          </p:cNvSpPr>
          <p:nvPr/>
        </p:nvSpPr>
        <p:spPr>
          <a:xfrm>
            <a:off x="9477375" y="295275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19050" rIns="57150" bIns="19050" anchor="ctr">
            <a:norm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SOURCES</a:t>
            </a:r>
          </a:p>
        </p:txBody>
      </p:sp>
      <p:sp>
        <p:nvSpPr>
          <p:cNvPr id="5" name="Connecteur droit 4">
            <a:extLst>
              <a:ext uri="{FF2B5EF4-FFF2-40B4-BE49-F238E27FC236}">
                <a16:creationId xmlns:a16="http://schemas.microsoft.com/office/drawing/2014/main" id="{630A8C88-ACE4-4E24-A989-4C51422D42C5}"/>
              </a:ext>
            </a:extLst>
          </p:cNvPr>
          <p:cNvSpPr>
            <a:spLocks noGrp="1"/>
          </p:cNvSpPr>
          <p:nvPr/>
        </p:nvSpPr>
        <p:spPr>
          <a:xfrm>
            <a:off x="514350" y="6419850"/>
            <a:ext cx="11144250" cy="0"/>
          </a:xfrm>
          <a:prstGeom prst="line">
            <a:avLst/>
          </a:prstGeom>
          <a:noFill/>
          <a:ln w="9525">
            <a:solidFill>
              <a:srgbClr val="D9E2EA"/>
            </a:solidFill>
            <a:prstDash val="solid"/>
          </a:ln>
        </p:spPr>
      </p:sp>
      <p:pic>
        <p:nvPicPr>
          <p:cNvPr id="21" name="Imag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8299" y="6486525"/>
            <a:ext cx="1418953" cy="3143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DB2D45E-4562-4063-8C65-13176F476578}"/>
              </a:ext>
            </a:extLst>
          </p:cNvPr>
          <p:cNvSpPr>
            <a:spLocks noGrp="1"/>
          </p:cNvSpPr>
          <p:nvPr/>
        </p:nvSpPr>
        <p:spPr>
          <a:xfrm>
            <a:off x="8905875" y="6515100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VERSION ÉLÈVE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18AB83-E33D-47D9-9E1D-15B1621BC683}"/>
              </a:ext>
            </a:extLst>
          </p:cNvPr>
          <p:cNvSpPr>
            <a:spLocks noGrp="1"/>
          </p:cNvSpPr>
          <p:nvPr/>
        </p:nvSpPr>
        <p:spPr>
          <a:xfrm>
            <a:off x="11153775" y="6515100"/>
            <a:ext cx="476250" cy="2286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ctr">
            <a:normAutofit/>
          </a:bodyPr>
          <a:lstStyle/>
          <a:p>
            <a:pPr algn="r">
              <a:def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29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102F8D0B-D3A4-420E-B2B8-E4662FC5F42A}"/>
              </a:ext>
            </a:extLst>
          </p:cNvPr>
          <p:cNvSpPr>
            <a:spLocks noGrp="1"/>
          </p:cNvSpPr>
          <p:nvPr/>
        </p:nvSpPr>
        <p:spPr>
          <a:xfrm>
            <a:off x="666750" y="1143000"/>
            <a:ext cx="10858500" cy="2143125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 w="9525">
            <a:solidFill>
              <a:srgbClr val="176B8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BC665-7871-45E8-8A2A-AAC27A5A8D19}"/>
              </a:ext>
            </a:extLst>
          </p:cNvPr>
          <p:cNvSpPr>
            <a:spLocks noGrp="1"/>
          </p:cNvSpPr>
          <p:nvPr/>
        </p:nvSpPr>
        <p:spPr>
          <a:xfrm>
            <a:off x="1000125" y="142875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0909"/>
          </a:bodyPr>
          <a:lstStyle/>
          <a:p>
            <a:pPr algn="l">
              <a:def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176B87"/>
                </a:solidFill>
                <a:latin typeface="DejaVu Sans"/>
                <a:ea typeface="DejaVu Sans"/>
                <a:cs typeface="DejaVu Sans"/>
              </a:rPr>
              <a:t>Programme en vigueur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F498A6-1C2A-4FDB-96B5-769EE0500E97}"/>
              </a:ext>
            </a:extLst>
          </p:cNvPr>
          <p:cNvSpPr>
            <a:spLocks noGrp="1"/>
          </p:cNvSpPr>
          <p:nvPr/>
        </p:nvSpPr>
        <p:spPr>
          <a:xfrm>
            <a:off x="1000125" y="1857375"/>
            <a:ext cx="10144125" cy="11430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Ministère de l’Éducation nationale, BO spécial n° 1 du 22 janvier 2019. Programme d’innovation technologique et d’ingénierie et développement durable du cycle terminal STI2D. Répertorié par Éduscol parmi les programmes en vigueur, page mise à jour en décembre 2025.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E01A34FE-6EAD-40C5-B5FB-E85238F53F86}"/>
              </a:ext>
            </a:extLst>
          </p:cNvPr>
          <p:cNvSpPr>
            <a:spLocks noGrp="1"/>
          </p:cNvSpPr>
          <p:nvPr/>
        </p:nvSpPr>
        <p:spPr>
          <a:xfrm>
            <a:off x="666750" y="3619500"/>
            <a:ext cx="10858500" cy="1762125"/>
          </a:xfrm>
          <a:prstGeom prst="roundRect">
            <a:avLst>
              <a:gd name="adj" fmla="val 11892"/>
            </a:avLst>
          </a:prstGeom>
          <a:solidFill>
            <a:srgbClr val="FFFFFF"/>
          </a:solidFill>
          <a:ln w="9525">
            <a:solidFill>
              <a:srgbClr val="00A6A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76F6E8-C253-4B19-A96C-471D6FD0694B}"/>
              </a:ext>
            </a:extLst>
          </p:cNvPr>
          <p:cNvSpPr>
            <a:spLocks noGrp="1"/>
          </p:cNvSpPr>
          <p:nvPr/>
        </p:nvSpPr>
        <p:spPr>
          <a:xfrm>
            <a:off x="1000125" y="390525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 fontScale="90909"/>
          </a:bodyPr>
          <a:lstStyle/>
          <a:p>
            <a:pPr algn="l">
              <a:defRPr sz="1650" b="1">
                <a:solidFill>
                  <a:srgbClr val="00A6A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00A6A6"/>
                </a:solidFill>
                <a:latin typeface="DejaVu Sans"/>
                <a:ea typeface="DejaVu Sans"/>
                <a:cs typeface="DejaVu Sans"/>
              </a:rPr>
              <a:t>Épreuve à compter de la session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CAA249-13B0-44E7-8161-9F8632EC0F44}"/>
              </a:ext>
            </a:extLst>
          </p:cNvPr>
          <p:cNvSpPr>
            <a:spLocks noGrp="1"/>
          </p:cNvSpPr>
          <p:nvPr/>
        </p:nvSpPr>
        <p:spPr>
          <a:xfrm>
            <a:off x="1000125" y="4333875"/>
            <a:ext cx="10144125" cy="809625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l">
              <a:def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42333"/>
                </a:solidFill>
                <a:latin typeface="DejaVu Sans"/>
                <a:ea typeface="DejaVu Sans"/>
                <a:cs typeface="DejaVu Sans"/>
              </a:rPr>
              <a:t>Ministère de l’Éducation nationale, note de service du 10 juin 2025, BO n° 24 du 12 juin 2025. Partie pratique de 2 h pour l’enseignement spécifique choisi, centrée sur la conception, la simulation et l’expérimentation.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C65D7A-F3C8-4B02-A193-4B9512487185}"/>
              </a:ext>
            </a:extLst>
          </p:cNvPr>
          <p:cNvSpPr>
            <a:spLocks noGrp="1"/>
          </p:cNvSpPr>
          <p:nvPr/>
        </p:nvSpPr>
        <p:spPr>
          <a:xfrm>
            <a:off x="3333750" y="5715000"/>
            <a:ext cx="5524500" cy="285750"/>
          </a:xfrm>
          <a:prstGeom prst="rect">
            <a:avLst/>
          </a:prstGeom>
          <a:noFill/>
          <a:ln w="0">
            <a:noFill/>
          </a:ln>
        </p:spPr>
        <p:txBody>
          <a:bodyPr lIns="57150" tIns="38100" rIns="57150" bIns="38100" anchor="t">
            <a:normAutofit/>
          </a:bodyPr>
          <a:lstStyle/>
          <a:p>
            <a:pPr algn="ctr">
              <a:defRPr sz="1275" b="0">
                <a:solidFill>
                  <a:srgbClr val="5465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46579"/>
                </a:solidFill>
                <a:latin typeface="DejaVu Sans"/>
                <a:ea typeface="DejaVu Sans"/>
                <a:cs typeface="DejaVu Sans"/>
              </a:rPr>
              <a:t>Liens complets disponibles dans les notes de cette diapositive.</a:t>
            </a:r>
          </a:p>
        </p:txBody>
      </p:sp>
    </p:spTree>
    <p:extLst>
      <p:ext uri="{BB962C8B-B14F-4D97-AF65-F5344CB8AC3E}">
        <p14:creationId xmlns:p14="http://schemas.microsoft.com/office/powerpoint/2010/main" val="28192536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3594</Words>
  <Application>Microsoft Office PowerPoint</Application>
  <DocSecurity>0</DocSecurity>
  <PresentationFormat>Grand écran</PresentationFormat>
  <Paragraphs>612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Calibri</vt:lpstr>
      <vt:lpstr>DejaVu Sans</vt:lpstr>
      <vt:lpstr>DejaVu Sans Mono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Kristof</cp:lastModifiedBy>
  <cp:revision>1</cp:revision>
  <dcterms:created xsi:type="dcterms:W3CDTF">2026-09-12T18:33:20Z</dcterms:created>
  <dcterms:modified xsi:type="dcterms:W3CDTF">2026-09-12T18:40:18Z</dcterms:modified>
</cp:coreProperties>
</file>