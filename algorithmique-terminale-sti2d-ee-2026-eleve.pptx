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4a9aca68fd45fd" /><Relationship Type="http://schemas.openxmlformats.org/officeDocument/2006/relationships/extended-properties" Target="/docProps/app.xml" Id="R817567259a0c4c8c" /><Relationship Type="http://schemas.openxmlformats.org/officeDocument/2006/relationships/officeDocument" Target="/ppt/presentation.xml" Id="Re16ca908ccc041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29533c3d2140d1"/>
  </p:sldMasterIdLst>
  <p:notesMasterIdLst>
    <p:notesMasterId xmlns:r="http://schemas.openxmlformats.org/officeDocument/2006/relationships" r:id="R6e6b00d48a5e46cf"/>
  </p:notesMasterIdLst>
  <p:sldIdLst>
    <p:sldId xmlns:r="http://schemas.openxmlformats.org/officeDocument/2006/relationships" id="256" r:id="R9e167124be1e4317"/>
    <p:sldId xmlns:r="http://schemas.openxmlformats.org/officeDocument/2006/relationships" id="257" r:id="Rff65bcced7fc4545"/>
    <p:sldId xmlns:r="http://schemas.openxmlformats.org/officeDocument/2006/relationships" id="258" r:id="Rc0567754b17848d7"/>
    <p:sldId xmlns:r="http://schemas.openxmlformats.org/officeDocument/2006/relationships" id="259" r:id="R8b16da36c1984484"/>
    <p:sldId xmlns:r="http://schemas.openxmlformats.org/officeDocument/2006/relationships" id="260" r:id="Rfb3041d76bc9481f"/>
    <p:sldId xmlns:r="http://schemas.openxmlformats.org/officeDocument/2006/relationships" id="261" r:id="R15c90536596d4cb6"/>
    <p:sldId xmlns:r="http://schemas.openxmlformats.org/officeDocument/2006/relationships" id="262" r:id="R32cc9d68cb1942f9"/>
    <p:sldId xmlns:r="http://schemas.openxmlformats.org/officeDocument/2006/relationships" id="263" r:id="R06e5902f1d8b45d1"/>
    <p:sldId xmlns:r="http://schemas.openxmlformats.org/officeDocument/2006/relationships" id="264" r:id="R6fc7cfe64c144ed2"/>
    <p:sldId xmlns:r="http://schemas.openxmlformats.org/officeDocument/2006/relationships" id="265" r:id="R4aa3b593fba94793"/>
    <p:sldId xmlns:r="http://schemas.openxmlformats.org/officeDocument/2006/relationships" id="266" r:id="Rf769d48a9836434a"/>
    <p:sldId xmlns:r="http://schemas.openxmlformats.org/officeDocument/2006/relationships" id="267" r:id="R25786dd64ff6403b"/>
    <p:sldId xmlns:r="http://schemas.openxmlformats.org/officeDocument/2006/relationships" id="268" r:id="Rf3ca626300c14c66"/>
    <p:sldId xmlns:r="http://schemas.openxmlformats.org/officeDocument/2006/relationships" id="269" r:id="R585e56ceddba4ef7"/>
    <p:sldId xmlns:r="http://schemas.openxmlformats.org/officeDocument/2006/relationships" id="270" r:id="Rc0f5675c3e3642dc"/>
    <p:sldId xmlns:r="http://schemas.openxmlformats.org/officeDocument/2006/relationships" id="271" r:id="R6ab008201a29461d"/>
    <p:sldId xmlns:r="http://schemas.openxmlformats.org/officeDocument/2006/relationships" id="272" r:id="R1b21f277a7844e3a"/>
    <p:sldId xmlns:r="http://schemas.openxmlformats.org/officeDocument/2006/relationships" id="273" r:id="R6afcb167ccad44e6"/>
    <p:sldId xmlns:r="http://schemas.openxmlformats.org/officeDocument/2006/relationships" id="274" r:id="R24cc4cde536b4ca3"/>
    <p:sldId xmlns:r="http://schemas.openxmlformats.org/officeDocument/2006/relationships" id="275" r:id="R70b61d361fbc4058"/>
    <p:sldId xmlns:r="http://schemas.openxmlformats.org/officeDocument/2006/relationships" id="276" r:id="R325b1e6e117346eb"/>
    <p:sldId xmlns:r="http://schemas.openxmlformats.org/officeDocument/2006/relationships" id="277" r:id="R0dc0d93da4fd4dcf"/>
    <p:sldId xmlns:r="http://schemas.openxmlformats.org/officeDocument/2006/relationships" id="278" r:id="R066e828e57aa4b57"/>
    <p:sldId xmlns:r="http://schemas.openxmlformats.org/officeDocument/2006/relationships" id="279" r:id="R872b5be5370b4e81"/>
    <p:sldId xmlns:r="http://schemas.openxmlformats.org/officeDocument/2006/relationships" id="280" r:id="R3bf21ee5ad6a406c"/>
    <p:sldId xmlns:r="http://schemas.openxmlformats.org/officeDocument/2006/relationships" id="281" r:id="R52b08efb296e4630"/>
    <p:sldId xmlns:r="http://schemas.openxmlformats.org/officeDocument/2006/relationships" id="282" r:id="R8090a2bd87e6430e"/>
    <p:sldId xmlns:r="http://schemas.openxmlformats.org/officeDocument/2006/relationships" id="283" r:id="Rd591adec91514a7f"/>
    <p:sldId xmlns:r="http://schemas.openxmlformats.org/officeDocument/2006/relationships" id="284" r:id="R811377e911ec48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9ac748ea884cfc" /><Relationship Type="http://schemas.openxmlformats.org/officeDocument/2006/relationships/slideMaster" Target="/ppt/slideMasters/slideMaster1.xml" Id="R0129533c3d2140d1" /><Relationship Type="http://schemas.openxmlformats.org/officeDocument/2006/relationships/notesMaster" Target="/ppt/notesMasters/notesMaster1.xml" Id="R6e6b00d48a5e46cf" /><Relationship Type="http://schemas.openxmlformats.org/officeDocument/2006/relationships/presProps" Target="/ppt/presProps.xml" Id="R83ee434830a04546" /><Relationship Type="http://schemas.openxmlformats.org/officeDocument/2006/relationships/tableStyles" Target="/ppt/tableStyles.xml" Id="R6a00a46732b04da8" /><Relationship Type="http://schemas.openxmlformats.org/officeDocument/2006/relationships/slide" Target="/ppt/slides/slide1.xml" Id="R9e167124be1e4317" /><Relationship Type="http://schemas.openxmlformats.org/officeDocument/2006/relationships/slide" Target="/ppt/slides/slide2.xml" Id="Rff65bcced7fc4545" /><Relationship Type="http://schemas.openxmlformats.org/officeDocument/2006/relationships/slide" Target="/ppt/slides/slide3.xml" Id="Rc0567754b17848d7" /><Relationship Type="http://schemas.openxmlformats.org/officeDocument/2006/relationships/slide" Target="/ppt/slides/slide4.xml" Id="R8b16da36c1984484" /><Relationship Type="http://schemas.openxmlformats.org/officeDocument/2006/relationships/slide" Target="/ppt/slides/slide5.xml" Id="Rfb3041d76bc9481f" /><Relationship Type="http://schemas.openxmlformats.org/officeDocument/2006/relationships/slide" Target="/ppt/slides/slide6.xml" Id="R15c90536596d4cb6" /><Relationship Type="http://schemas.openxmlformats.org/officeDocument/2006/relationships/slide" Target="/ppt/slides/slide7.xml" Id="R32cc9d68cb1942f9" /><Relationship Type="http://schemas.openxmlformats.org/officeDocument/2006/relationships/slide" Target="/ppt/slides/slide8.xml" Id="R06e5902f1d8b45d1" /><Relationship Type="http://schemas.openxmlformats.org/officeDocument/2006/relationships/slide" Target="/ppt/slides/slide9.xml" Id="R6fc7cfe64c144ed2" /><Relationship Type="http://schemas.openxmlformats.org/officeDocument/2006/relationships/slide" Target="/ppt/slides/slide10.xml" Id="R4aa3b593fba94793" /><Relationship Type="http://schemas.openxmlformats.org/officeDocument/2006/relationships/slide" Target="/ppt/slides/slide11.xml" Id="Rf769d48a9836434a" /><Relationship Type="http://schemas.openxmlformats.org/officeDocument/2006/relationships/slide" Target="/ppt/slides/slide12.xml" Id="R25786dd64ff6403b" /><Relationship Type="http://schemas.openxmlformats.org/officeDocument/2006/relationships/slide" Target="/ppt/slides/slide13.xml" Id="Rf3ca626300c14c66" /><Relationship Type="http://schemas.openxmlformats.org/officeDocument/2006/relationships/slide" Target="/ppt/slides/slide14.xml" Id="R585e56ceddba4ef7" /><Relationship Type="http://schemas.openxmlformats.org/officeDocument/2006/relationships/slide" Target="/ppt/slides/slide15.xml" Id="Rc0f5675c3e3642dc" /><Relationship Type="http://schemas.openxmlformats.org/officeDocument/2006/relationships/slide" Target="/ppt/slides/slide16.xml" Id="R6ab008201a29461d" /><Relationship Type="http://schemas.openxmlformats.org/officeDocument/2006/relationships/slide" Target="/ppt/slides/slide17.xml" Id="R1b21f277a7844e3a" /><Relationship Type="http://schemas.openxmlformats.org/officeDocument/2006/relationships/slide" Target="/ppt/slides/slide18.xml" Id="R6afcb167ccad44e6" /><Relationship Type="http://schemas.openxmlformats.org/officeDocument/2006/relationships/slide" Target="/ppt/slides/slide19.xml" Id="R24cc4cde536b4ca3" /><Relationship Type="http://schemas.openxmlformats.org/officeDocument/2006/relationships/slide" Target="/ppt/slides/slide20.xml" Id="R70b61d361fbc4058" /><Relationship Type="http://schemas.openxmlformats.org/officeDocument/2006/relationships/slide" Target="/ppt/slides/slide21.xml" Id="R325b1e6e117346eb" /><Relationship Type="http://schemas.openxmlformats.org/officeDocument/2006/relationships/slide" Target="/ppt/slides/slide22.xml" Id="R0dc0d93da4fd4dcf" /><Relationship Type="http://schemas.openxmlformats.org/officeDocument/2006/relationships/slide" Target="/ppt/slides/slide23.xml" Id="R066e828e57aa4b57" /><Relationship Type="http://schemas.openxmlformats.org/officeDocument/2006/relationships/slide" Target="/ppt/slides/slide24.xml" Id="R872b5be5370b4e81" /><Relationship Type="http://schemas.openxmlformats.org/officeDocument/2006/relationships/slide" Target="/ppt/slides/slide25.xml" Id="R3bf21ee5ad6a406c" /><Relationship Type="http://schemas.openxmlformats.org/officeDocument/2006/relationships/slide" Target="/ppt/slides/slide26.xml" Id="R52b08efb296e4630" /><Relationship Type="http://schemas.openxmlformats.org/officeDocument/2006/relationships/slide" Target="/ppt/slides/slide27.xml" Id="R8090a2bd87e6430e" /><Relationship Type="http://schemas.openxmlformats.org/officeDocument/2006/relationships/slide" Target="/ppt/slides/slide28.xml" Id="Rd591adec91514a7f" /><Relationship Type="http://schemas.openxmlformats.org/officeDocument/2006/relationships/slide" Target="/ppt/slides/slide29.xml" Id="R811377e911ec48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da3a681aa844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1175b70a5f42f9" /><Relationship Type="http://schemas.openxmlformats.org/officeDocument/2006/relationships/notesMaster" Target="/ppt/notesMasters/notesMaster1.xml" Id="R52eee8d74fc049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3237c0c09e41d5" /><Relationship Type="http://schemas.openxmlformats.org/officeDocument/2006/relationships/notesMaster" Target="/ppt/notesMasters/notesMaster1.xml" Id="R8af2d67ae72848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d6ab62b5444893" /><Relationship Type="http://schemas.openxmlformats.org/officeDocument/2006/relationships/notesMaster" Target="/ppt/notesMasters/notesMaster1.xml" Id="R283829950f9b4f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4f3fb13a4548f9" /><Relationship Type="http://schemas.openxmlformats.org/officeDocument/2006/relationships/notesMaster" Target="/ppt/notesMasters/notesMaster1.xml" Id="Rf178657fc3204a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99ffc6f8e04a90" /><Relationship Type="http://schemas.openxmlformats.org/officeDocument/2006/relationships/notesMaster" Target="/ppt/notesMasters/notesMaster1.xml" Id="Rea563ef3b30f4f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3ca5f4d3d94224" /><Relationship Type="http://schemas.openxmlformats.org/officeDocument/2006/relationships/notesMaster" Target="/ppt/notesMasters/notesMaster1.xml" Id="R390cbb83ed5d4b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25340247cc4b4d" /><Relationship Type="http://schemas.openxmlformats.org/officeDocument/2006/relationships/notesMaster" Target="/ppt/notesMasters/notesMaster1.xml" Id="Rccd4e48c75664b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b1b1afa1574c07" /><Relationship Type="http://schemas.openxmlformats.org/officeDocument/2006/relationships/notesMaster" Target="/ppt/notesMasters/notesMaster1.xml" Id="Rdec6d1a283be46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ee54e21467470a" /><Relationship Type="http://schemas.openxmlformats.org/officeDocument/2006/relationships/notesMaster" Target="/ppt/notesMasters/notesMaster1.xml" Id="Rf0901d81049241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dbba0f3c234782" /><Relationship Type="http://schemas.openxmlformats.org/officeDocument/2006/relationships/notesMaster" Target="/ppt/notesMasters/notesMaster1.xml" Id="Rb5e8c35a030b47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bb9c62956540c6" /><Relationship Type="http://schemas.openxmlformats.org/officeDocument/2006/relationships/notesMaster" Target="/ppt/notesMasters/notesMaster1.xml" Id="Rc00d2033197143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e0a786729d4398" /><Relationship Type="http://schemas.openxmlformats.org/officeDocument/2006/relationships/notesMaster" Target="/ppt/notesMasters/notesMaster1.xml" Id="R30048e87ac7845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2c7509050b4fe8" /><Relationship Type="http://schemas.openxmlformats.org/officeDocument/2006/relationships/notesMaster" Target="/ppt/notesMasters/notesMaster1.xml" Id="R0f1e3e35f78c45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14c6060f714324" /><Relationship Type="http://schemas.openxmlformats.org/officeDocument/2006/relationships/notesMaster" Target="/ppt/notesMasters/notesMaster1.xml" Id="R81a89cdc4ad54b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0087a532854b52" /><Relationship Type="http://schemas.openxmlformats.org/officeDocument/2006/relationships/notesMaster" Target="/ppt/notesMasters/notesMaster1.xml" Id="Re28a9dc3b68243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b55a0d555b400a" /><Relationship Type="http://schemas.openxmlformats.org/officeDocument/2006/relationships/notesMaster" Target="/ppt/notesMasters/notesMaster1.xml" Id="R9d490ce2148e48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51ae53f5534b44" /><Relationship Type="http://schemas.openxmlformats.org/officeDocument/2006/relationships/notesMaster" Target="/ppt/notesMasters/notesMaster1.xml" Id="Rd9030f74c4a846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a179751aad4899" /><Relationship Type="http://schemas.openxmlformats.org/officeDocument/2006/relationships/notesMaster" Target="/ppt/notesMasters/notesMaster1.xml" Id="R7a2cb2d9ef8c44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ddfa73137549b5" /><Relationship Type="http://schemas.openxmlformats.org/officeDocument/2006/relationships/notesMaster" Target="/ppt/notesMasters/notesMaster1.xml" Id="Re437e7c2bc5b4f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0b87c940a54a8e" /><Relationship Type="http://schemas.openxmlformats.org/officeDocument/2006/relationships/notesMaster" Target="/ppt/notesMasters/notesMaster1.xml" Id="R475f463722844d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fa99aef44794cd1" /><Relationship Type="http://schemas.openxmlformats.org/officeDocument/2006/relationships/notesMaster" Target="/ppt/notesMasters/notesMaster1.xml" Id="R94a9ed3e7f7c4b7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c210143b5b42fa" /><Relationship Type="http://schemas.openxmlformats.org/officeDocument/2006/relationships/notesMaster" Target="/ppt/notesMasters/notesMaster1.xml" Id="R9e1f95a48c6747d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dcf1b01c184dab" /><Relationship Type="http://schemas.openxmlformats.org/officeDocument/2006/relationships/notesMaster" Target="/ppt/notesMasters/notesMaster1.xml" Id="R6858c41f19e448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bc105b7ba2e43ac" /><Relationship Type="http://schemas.openxmlformats.org/officeDocument/2006/relationships/notesMaster" Target="/ppt/notesMasters/notesMaster1.xml" Id="Rbf41ec5065eb4a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76600a949864597" /><Relationship Type="http://schemas.openxmlformats.org/officeDocument/2006/relationships/notesMaster" Target="/ppt/notesMasters/notesMaster1.xml" Id="Rb2db2f66962643d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1662695e714c3f" /><Relationship Type="http://schemas.openxmlformats.org/officeDocument/2006/relationships/notesMaster" Target="/ppt/notesMasters/notesMaster1.xml" Id="Ree41f6cf451f466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1b1ab39e22445d5" /><Relationship Type="http://schemas.openxmlformats.org/officeDocument/2006/relationships/notesMaster" Target="/ppt/notesMasters/notesMaster1.xml" Id="Rae842f06e73f44e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178b6df9a4a4980" /><Relationship Type="http://schemas.openxmlformats.org/officeDocument/2006/relationships/notesMaster" Target="/ppt/notesMasters/notesMaster1.xml" Id="Rfeba899547424b8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4109e01a144bf4" /><Relationship Type="http://schemas.openxmlformats.org/officeDocument/2006/relationships/notesMaster" Target="/ppt/notesMasters/notesMaster1.xml" Id="R47144989b5294d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Épreuves STI2D à compter de la session 2026, note de service du 10 juin 2025, BO n° 24 du 12 juin 2025. https://www.education.gouv.fr/bo/2025/Hebdo24/MENE2515695N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Mise en situation EE : gestion de l’énergie, chaîne de puissance, mesure des performances et optimisation du fonctionnement.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EE : définir, paramétrer et programmer le système de gestion d’une chaîne d’énergie afin d’améliorer la performance énergétique.</a:t>
            </a:r>
          </a:p>
          <a:p xmlns:a="http://schemas.openxmlformats.org/drawingml/2006/main">
            <a:r>
              <a:t>Épreuves STI2D à compter de la session 2026, note de service du 10 juin 2025, BO n° 24 du 12 juin 2025. https://www.education.gouv.fr/bo/2025/Hebdo24/MENE2515695N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Compétences EE : définir ou modifier une chaîne d’énergie, paramétrer et programmer son système de gestion, simuler et valider ses performances.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Correction : ordonnée ; finie ; graphique ; exécutable.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Le programme cite la dualité diagramme d’activités / algorigramme pour simuler un algorithme séquentiel.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A Entrée/Sortie ; B Test ; C Traitement ; D Début/Fin.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Algorithmique : utilisation de variables (type, taille, etc.). Correction : nom, type, valeur.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la différence entre = (affectation) et == (comparaison), source fréquente d’erreurs en C++ et dans certains pseudo-codes.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L’exemple se concentre sur l’ordre des actions du scénario autorisé. En pratique, les sécurités et temporisations proviennent du constructeur.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complète affichée dans la version professeur. Vérifier l’ordre, l’état des actionneurs et la temporisation de 5 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Algorithmique : structures conditionnelles.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condition Ppv &gt;= Pbesoin ; charger la batterie ; sinon fournir l’énergie manquante. En Python, ne pas oublier les deux-points et l’indentation. Dans un système réel, la disponibilité et les limites de la batterie doivent aussi être vérifiées.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logique ; ordre ; décisions ; enchaîne ; branche ; nom ; type ; valeur.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Algorithmique : structures itératives et appel de procédures/sous-programmes.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du mot à compléter : répétitions.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Algorithmique : structures itératives. Exemple pédagogique générique, sans procédure de charge réelle.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complète dans la version professeur. La durée maximale protège le système si la température n’augmente pas ou si la mesure reste bloquée.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commander le démarrage ; incrémenter essais ; lire l’état ; s’arrêter si l’onduleur répond ou après 3 essais. En C++, while exprime la poursuite, donc la négation de onduleurOk.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Algorithmique : structures itératives et utilisation de variables.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 : somme = 4 800 W ; moyenne = 960 W. Code : somme = 0 ; parcourir mesures ; somme = somme + mesure ; moyenne = somme / len(mesures).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Algorithmique : appel de procédures/sous-programmes. Correction : temperature, consigne ; temperature &lt; consigne ; reçues ; produit ; renvoyé.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Conception informationnelle : Python et C++ sont à utiliser.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remplacer &gt; par &lt; ; ajouter les deux-points après else. Résultat attendu pour 18 °C et consigne 19 °C : Chauffage 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18 °C VRAI/ON ; 19 °C FAUX/OFF ; 21 °C FAUX/OFF. Le cas limite vérifie l’opérateur &lt;.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Épreuves STI2D à compter de la session 2026, note de service du 10 juin 2025, BO n° 24 du 12 juin 2025. https://www.education.gouv.fr/bo/2025/Hebdo24/MENE2515695N</a:t>
            </a:r>
          </a:p>
          <a:p xmlns:a="http://schemas.openxmlformats.org/drawingml/2006/main">
            <a:r>
              <a:t>Activité EE : paramétrer un système de gestion de chaîne d’énergie, simuler les cas d’usage, interpréter les résultats et valider le fonctionnement. Les seuils sont pédagogiques.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Correction : indépendante ; opérations ; décisions ; branche ; répètent ; paramètres ; valeur ; logique ; limites.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Réponses : 1 B (FOR) ; 2 B (==) ; 3 B (VRAI/FAUX) ; 4 B (6 000 W, valeur limite) ; 5 A (actualiser la condition et éviter une boucle incohérente).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Programme STI2D en vigueur en 2026 : BO spécial n° 1 du 22 janvier 2019. https://eduscol.education.gouv.fr/5856/programmes-et-ressources-en-serie-sti2d</a:t>
            </a:r>
          </a:p>
          <a:p xmlns:a="http://schemas.openxmlformats.org/drawingml/2006/main">
            <a:r>
              <a:t>Programme complet : https://eduscol.education.gouv.fr/sites/default/files/document/spe591annexe11063610pdf-84507.pdf</a:t>
            </a:r>
          </a:p>
          <a:p xmlns:a="http://schemas.openxmlformats.org/drawingml/2006/main">
            <a:r>
              <a:t>Épreuves STI2D à compter de la session 2026, note de service du 10 juin 2025, BO n° 24 du 12 juin 2025. https://www.education.gouv.fr/bo/2025/Hebdo24/MENE2515695N</a:t>
            </a:r>
          </a:p>
          <a:p xmlns:a="http://schemas.openxmlformats.org/drawingml/2006/main">
            <a:r>
              <a:t>Cours reconstruit à partir des fichiers AlgoPartie1.pptx et AlgoPartie2.pptx fournis par l’utilisateur. Logo Marie Rivier conservé depuis les fichiers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043a8d11c4a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36ff02c02b4842" /><Relationship Type="http://schemas.openxmlformats.org/officeDocument/2006/relationships/slideLayout" Target="/ppt/slideLayouts/slideLayout1.xml" Id="R0b32c9972ff745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32c9972ff745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128e8bd534298" /><Relationship Type="http://schemas.openxmlformats.org/officeDocument/2006/relationships/image" Target="/ppt/media/image.jpeg" Id="R81c55959ef0040c3" /><Relationship Type="http://schemas.openxmlformats.org/officeDocument/2006/relationships/notesSlide" Target="/ppt/notesSlides/notesSlide1.xml" Id="R99b3eff4c69a4d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a15a8516b4c04" /><Relationship Type="http://schemas.openxmlformats.org/officeDocument/2006/relationships/image" Target="/ppt/media/image2.jpeg" Id="Ra3285dbe01e848e0" /><Relationship Type="http://schemas.openxmlformats.org/officeDocument/2006/relationships/notesSlide" Target="/ppt/notesSlides/notesSlide2.xml" Id="R4596db0bd7484d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e3889407f47ea" /><Relationship Type="http://schemas.openxmlformats.org/officeDocument/2006/relationships/image" Target="/ppt/media/image3.jpeg" Id="R268d423355914d16" /><Relationship Type="http://schemas.openxmlformats.org/officeDocument/2006/relationships/notesSlide" Target="/ppt/notesSlides/notesSlide3.xml" Id="R8aa73db8cede46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4dff414d54f83" /><Relationship Type="http://schemas.openxmlformats.org/officeDocument/2006/relationships/image" Target="/ppt/media/image4.jpeg" Id="R189b2a08b41d46c0" /><Relationship Type="http://schemas.openxmlformats.org/officeDocument/2006/relationships/notesSlide" Target="/ppt/notesSlides/notesSlide4.xml" Id="R1c3e4c5d88de4a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f4a09532440e3" /><Relationship Type="http://schemas.openxmlformats.org/officeDocument/2006/relationships/image" Target="/ppt/media/image5.jpeg" Id="Rfee26511c3944f8f" /><Relationship Type="http://schemas.openxmlformats.org/officeDocument/2006/relationships/notesSlide" Target="/ppt/notesSlides/notesSlide5.xml" Id="R6c19a094280142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d98a8c2514bd4" /><Relationship Type="http://schemas.openxmlformats.org/officeDocument/2006/relationships/image" Target="/ppt/media/image6.jpeg" Id="Rbe11687d7dcb4463" /><Relationship Type="http://schemas.openxmlformats.org/officeDocument/2006/relationships/notesSlide" Target="/ppt/notesSlides/notesSlide6.xml" Id="R4b8c645ffebb4b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d99a81bf340a6" /><Relationship Type="http://schemas.openxmlformats.org/officeDocument/2006/relationships/image" Target="/ppt/media/image7.jpeg" Id="Rcfb89644517f42bf" /><Relationship Type="http://schemas.openxmlformats.org/officeDocument/2006/relationships/notesSlide" Target="/ppt/notesSlides/notesSlide7.xml" Id="R67d6b80b639747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fc9e56d784a93" /><Relationship Type="http://schemas.openxmlformats.org/officeDocument/2006/relationships/image" Target="/ppt/media/image8.jpeg" Id="R16d401f8bc4b4777" /><Relationship Type="http://schemas.openxmlformats.org/officeDocument/2006/relationships/notesSlide" Target="/ppt/notesSlides/notesSlide8.xml" Id="R9806dcf7ea924d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234ed8e2e42dd" /><Relationship Type="http://schemas.openxmlformats.org/officeDocument/2006/relationships/image" Target="/ppt/media/image9.jpeg" Id="Re8e60245bacd4bfa" /><Relationship Type="http://schemas.openxmlformats.org/officeDocument/2006/relationships/notesSlide" Target="/ppt/notesSlides/notesSlide9.xml" Id="R4f31f00c0ed540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1d6d70e4b4e91" /><Relationship Type="http://schemas.openxmlformats.org/officeDocument/2006/relationships/image" Target="/ppt/media/image10.jpeg" Id="Rc1dc1b6b5c27469b" /><Relationship Type="http://schemas.openxmlformats.org/officeDocument/2006/relationships/notesSlide" Target="/ppt/notesSlides/notesSlide10.xml" Id="Rec41707fa5e346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be50b81984c2d" /><Relationship Type="http://schemas.openxmlformats.org/officeDocument/2006/relationships/image" Target="/ppt/media/image11.jpeg" Id="R217532e7c8e1472a" /><Relationship Type="http://schemas.openxmlformats.org/officeDocument/2006/relationships/notesSlide" Target="/ppt/notesSlides/notesSlide11.xml" Id="Rb233c45674f64c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612616403478b" /><Relationship Type="http://schemas.openxmlformats.org/officeDocument/2006/relationships/image" Target="/ppt/media/image12.jpeg" Id="Rf2d69fd6c4944b4b" /><Relationship Type="http://schemas.openxmlformats.org/officeDocument/2006/relationships/notesSlide" Target="/ppt/notesSlides/notesSlide12.xml" Id="R1d37609c854e4e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fcf436baf45c3" /><Relationship Type="http://schemas.openxmlformats.org/officeDocument/2006/relationships/image" Target="/ppt/media/image13.jpeg" Id="R5120787eb98c4109" /><Relationship Type="http://schemas.openxmlformats.org/officeDocument/2006/relationships/notesSlide" Target="/ppt/notesSlides/notesSlide13.xml" Id="Rd9f273d4ced04c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187d33ea649dd" /><Relationship Type="http://schemas.openxmlformats.org/officeDocument/2006/relationships/image" Target="/ppt/media/image14.jpeg" Id="R2a48a925c8cf4d7d" /><Relationship Type="http://schemas.openxmlformats.org/officeDocument/2006/relationships/notesSlide" Target="/ppt/notesSlides/notesSlide14.xml" Id="Re74016f598db40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7d459a7294b73" /><Relationship Type="http://schemas.openxmlformats.org/officeDocument/2006/relationships/image" Target="/ppt/media/image15.jpeg" Id="R13d84cffac1b4dcd" /><Relationship Type="http://schemas.openxmlformats.org/officeDocument/2006/relationships/notesSlide" Target="/ppt/notesSlides/notesSlide15.xml" Id="Rfe95eeee663642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95e0f570540aa" /><Relationship Type="http://schemas.openxmlformats.org/officeDocument/2006/relationships/image" Target="/ppt/media/image16.jpeg" Id="R6fdd565212a54713" /><Relationship Type="http://schemas.openxmlformats.org/officeDocument/2006/relationships/notesSlide" Target="/ppt/notesSlides/notesSlide16.xml" Id="R4304d07b22ad4c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d32ccbada43f3" /><Relationship Type="http://schemas.openxmlformats.org/officeDocument/2006/relationships/image" Target="/ppt/media/image17.jpeg" Id="Rba330dffb7c34cbc" /><Relationship Type="http://schemas.openxmlformats.org/officeDocument/2006/relationships/notesSlide" Target="/ppt/notesSlides/notesSlide17.xml" Id="R0fcc876953194b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49aa356e44693" /><Relationship Type="http://schemas.openxmlformats.org/officeDocument/2006/relationships/image" Target="/ppt/media/image18.jpeg" Id="Rf2ddd58d5f74491f" /><Relationship Type="http://schemas.openxmlformats.org/officeDocument/2006/relationships/notesSlide" Target="/ppt/notesSlides/notesSlide18.xml" Id="R3e3cddd64f394f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3d9c78d77463a" /><Relationship Type="http://schemas.openxmlformats.org/officeDocument/2006/relationships/image" Target="/ppt/media/image19.jpeg" Id="R6e14be8c9eaf46b0" /><Relationship Type="http://schemas.openxmlformats.org/officeDocument/2006/relationships/notesSlide" Target="/ppt/notesSlides/notesSlide19.xml" Id="Rc79fe96e1d3d4a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3d40d089b4b3f" /><Relationship Type="http://schemas.openxmlformats.org/officeDocument/2006/relationships/image" Target="/ppt/media/image20.jpeg" Id="R4ff88dddd5574e74" /><Relationship Type="http://schemas.openxmlformats.org/officeDocument/2006/relationships/notesSlide" Target="/ppt/notesSlides/notesSlide20.xml" Id="R35a4a0d191f643e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95a2dcbb94549" /><Relationship Type="http://schemas.openxmlformats.org/officeDocument/2006/relationships/image" Target="/ppt/media/image21.jpeg" Id="R253c6ad260754d48" /><Relationship Type="http://schemas.openxmlformats.org/officeDocument/2006/relationships/notesSlide" Target="/ppt/notesSlides/notesSlide21.xml" Id="Re6cc0251ff014c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775967d5f4392" /><Relationship Type="http://schemas.openxmlformats.org/officeDocument/2006/relationships/image" Target="/ppt/media/image22.jpeg" Id="Rb5f14bccff964dda" /><Relationship Type="http://schemas.openxmlformats.org/officeDocument/2006/relationships/notesSlide" Target="/ppt/notesSlides/notesSlide22.xml" Id="Ra9b22836ce7144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943db9d584549" /><Relationship Type="http://schemas.openxmlformats.org/officeDocument/2006/relationships/image" Target="/ppt/media/image23.jpeg" Id="Re9d08e6d7d874bae" /><Relationship Type="http://schemas.openxmlformats.org/officeDocument/2006/relationships/notesSlide" Target="/ppt/notesSlides/notesSlide23.xml" Id="Rc7dd6388285146f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cb663712b4063" /><Relationship Type="http://schemas.openxmlformats.org/officeDocument/2006/relationships/image" Target="/ppt/media/image24.jpeg" Id="R25d4e3d4c8db44b1" /><Relationship Type="http://schemas.openxmlformats.org/officeDocument/2006/relationships/notesSlide" Target="/ppt/notesSlides/notesSlide24.xml" Id="Rd958c6baff7d49e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e657ae96c4b91" /><Relationship Type="http://schemas.openxmlformats.org/officeDocument/2006/relationships/image" Target="/ppt/media/image25.jpeg" Id="R7b03b0e896324cfd" /><Relationship Type="http://schemas.openxmlformats.org/officeDocument/2006/relationships/notesSlide" Target="/ppt/notesSlides/notesSlide25.xml" Id="Rccc651a6eb874ed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b22bdc1b74306" /><Relationship Type="http://schemas.openxmlformats.org/officeDocument/2006/relationships/image" Target="/ppt/media/image26.jpeg" Id="R52dab6c095004d60" /><Relationship Type="http://schemas.openxmlformats.org/officeDocument/2006/relationships/notesSlide" Target="/ppt/notesSlides/notesSlide26.xml" Id="R4a7474fb8c534f2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1aa5855ec4e6c" /><Relationship Type="http://schemas.openxmlformats.org/officeDocument/2006/relationships/image" Target="/ppt/media/image27.jpeg" Id="R7904054652134004" /><Relationship Type="http://schemas.openxmlformats.org/officeDocument/2006/relationships/notesSlide" Target="/ppt/notesSlides/notesSlide27.xml" Id="Rd7dce349553c412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c31bb069540de" /><Relationship Type="http://schemas.openxmlformats.org/officeDocument/2006/relationships/image" Target="/ppt/media/image28.jpeg" Id="Rebe1ec0ecb2745c9" /><Relationship Type="http://schemas.openxmlformats.org/officeDocument/2006/relationships/notesSlide" Target="/ppt/notesSlides/notesSlide28.xml" Id="Rb7d635dd39c5410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78cba022d4f91" /><Relationship Type="http://schemas.openxmlformats.org/officeDocument/2006/relationships/image" Target="/ppt/media/image29.jpeg" Id="Rb31cb69e686f474f" /><Relationship Type="http://schemas.openxmlformats.org/officeDocument/2006/relationships/notesSlide" Target="/ppt/notesSlides/notesSlide29.xml" Id="Rb8c54feb5a194a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8D9A5-0455-459E-B773-AE22ECB6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9A97F-20F9-4CF3-B923-FB2F2CBD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341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55959ef0040c3"/>
          <a:stretch xmlns:a="http://schemas.openxmlformats.org/drawingml/2006/main"/>
        </p:blipFill>
        <p:spPr>
          <a:xfrm xmlns:a="http://schemas.openxmlformats.org/drawingml/2006/main">
            <a:off x="7810500" y="528306"/>
            <a:ext cx="3571875" cy="79123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BBEC5-B771-44F9-9088-19278866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857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B734B-9868-4FC7-9D0D-E80AE899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TERMINALE STI2D / 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9CEFF-F919-41C5-9500-5B307071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23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Algorithmique appliquée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la gestion de l’énergie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8F5AC-13CC-4EF7-9BCE-E2908FBF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D8E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8D8E6"/>
                </a:solidFill>
                <a:latin typeface="DejaVu Sans"/>
                <a:ea typeface="DejaVu Sans"/>
                <a:cs typeface="DejaVu Sans"/>
              </a:rPr>
              <a:t>Cours modernisé</a:t>
            </a:r>
          </a:p>
          <a:p xmlns:a="http://schemas.openxmlformats.org/drawingml/2006/main">
            <a:pPr algn="l">
              <a:defRPr sz="1800" b="1">
                <a:solidFill>
                  <a:srgbClr val="B8D8E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8D8E6"/>
                </a:solidFill>
                <a:latin typeface="DejaVu Sans"/>
                <a:ea typeface="DejaVu Sans"/>
                <a:cs typeface="DejaVu Sans"/>
              </a:rPr>
              <a:t>Parties 1 et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41905-9172-4DF9-9F94-7C9F5004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09750"/>
            <a:ext cx="3905250" cy="314325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0D263B"/>
          </a:solidFill>
          <a:ln xmlns:a="http://schemas.openxmlformats.org/drawingml/2006/main" w="9525">
            <a:solidFill>
              <a:srgbClr val="2850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83769-B667-4CC2-95A5-3810574D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43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CHAÎNE D’ÉNERGIE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D1710-B948-486E-9ACA-EE17F711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575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mesurer  →  décider  →  convertir / stocker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952CD-555B-415C-A040-2E547619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147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CEAF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AF1"/>
                </a:solidFill>
                <a:latin typeface="DejaVu Sans"/>
                <a:ea typeface="DejaVu Sans"/>
                <a:cs typeface="DejaVu Sans"/>
              </a:rPr>
              <a:t>Des décisions automatiques pour améliorer la performance énergétique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34299-6D3F-45B9-8FD4-DB7C581C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3143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8E5BD-C825-4E9E-88A3-B4D4DBE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VERSION ÉLÈVE • À COMPLÉTER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80DBE-27E6-4C4B-B5E4-5354DDAC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C3C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EC3CF"/>
                </a:solidFill>
                <a:latin typeface="DejaVu Sans"/>
                <a:ea typeface="DejaVu Sans"/>
                <a:cs typeface="DejaVu Sans"/>
              </a:rPr>
              <a:t>Lycée Marie Rivier • 2026–2027</a:t>
            </a:r>
          </a:p>
        </p:txBody>
      </p:sp>
    </p:spTree>
    <p:extLst>
      <p:ext uri="{BB962C8B-B14F-4D97-AF65-F5344CB8AC3E}">
        <p14:creationId xmlns:p14="http://schemas.microsoft.com/office/powerpoint/2010/main" val="1107997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77013F-AE69-4788-99F3-3D233232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C9F97-8712-4044-993C-E012D808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50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Le défi de départ : gérer l’énergie d’un bâtiment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B15BC-88B4-44BA-85DF-8E0B783D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E6555-1066-46BF-B32A-952CE564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MISE EN SITUATION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828A8-9743-4C80-87E0-C7894DF4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85dbe01e848e0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74B9B-F9C8-487A-8E71-A92DC6EE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018A5-D07B-4C44-B180-C0E2AD65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E66D2-F515-45A3-86CC-3B7570D8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743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Le gestionnaire doit maintenir le confort tout en limitant la puissance appelée au réseau.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0E801-05CD-48DD-99E4-454C7F13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619375" cy="1190625"/>
          </a:xfrm>
          <a:prstGeom xmlns:a="http://schemas.openxmlformats.org/drawingml/2006/main" prst="roundRect">
            <a:avLst>
              <a:gd name="adj" fmla="val 17600"/>
            </a:avLst>
          </a:prstGeom>
          <a:solidFill xmlns:a="http://schemas.openxmlformats.org/drawingml/2006/main">
            <a:srgbClr val="DDF6F4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F7313-7919-4945-A77B-D1C2CD97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MESURES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09762-8DED-4E44-9523-51DA8104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Température</a:t>
            </a:r>
          </a:p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Puissance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82FD1-C222-46D7-A969-E7A0A45D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53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5E66B-4D19-4A12-A8A1-91141C12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2619375" cy="1190625"/>
          </a:xfrm>
          <a:prstGeom xmlns:a="http://schemas.openxmlformats.org/drawingml/2006/main" prst="roundRect">
            <a:avLst>
              <a:gd name="adj" fmla="val 17600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ED9F6-54F6-4F12-8B9D-5C2557B9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GESTIONNAIRE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7A174-DAA3-4AA0-8604-D1F0B03F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3840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Algorithme</a:t>
            </a:r>
          </a:p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de décision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7BFE5-0A2F-4BE5-8D2E-A993A35F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62200"/>
            <a:ext cx="53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E8056-A912-4702-91F8-5B0B2AC9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619375" cy="1190625"/>
          </a:xfrm>
          <a:prstGeom xmlns:a="http://schemas.openxmlformats.org/drawingml/2006/main" prst="roundRect">
            <a:avLst>
              <a:gd name="adj" fmla="val 17600"/>
            </a:avLst>
          </a:prstGeom>
          <a:solidFill xmlns:a="http://schemas.openxmlformats.org/drawingml/2006/main">
            <a:srgbClr val="EAF6DC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D3E1E-AD14-4760-BDCC-E35059FA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2C34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82C341"/>
                </a:solidFill>
                <a:latin typeface="DejaVu Sans"/>
                <a:ea typeface="DejaVu Sans"/>
                <a:cs typeface="DejaVu Sans"/>
              </a:rPr>
              <a:t>ÉQUIPEMENTS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43430-7006-4B44-A1C8-174CFFE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PAC</a:t>
            </a:r>
          </a:p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Batterie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CB4F9-661C-45CC-A6A5-8F367639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97155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46B23-F907-4BCB-AE2F-B1AA6E3A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Questions à résoudre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5E5A0-B442-4537-8860-DC42EAA7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885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585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1. Quelles grandeurs énergétiques faut-il mesurer ?</a:t>
            </a:r>
          </a:p>
          <a:p xmlns:a="http://schemas.openxmlformats.org/drawingml/2006/main"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2. Quand produire, stocker, convertir ou délester ?</a:t>
            </a:r>
          </a:p>
          <a:p xmlns:a="http://schemas.openxmlformats.org/drawingml/2006/main"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3. Comment vérifier le gain sans dégrader le service rendu ?</a:t>
            </a:r>
          </a:p>
        </p:txBody>
      </p:sp>
    </p:spTree>
    <p:extLst>
      <p:ext uri="{BB962C8B-B14F-4D97-AF65-F5344CB8AC3E}">
        <p14:creationId xmlns:p14="http://schemas.microsoft.com/office/powerpoint/2010/main" val="624087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24502-AE23-49FD-BEDD-1D27E9EA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9B762-AA8F-42EA-8DB6-911E773A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Objectifs du chapitre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D4672-9446-41EF-8A51-6B22902C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9579F-D2C2-4363-AF2D-7C8B61D1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PARCOURS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DB7E7-64BC-484D-BFE4-D2CDB7B5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d423355914d16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D8C46-9412-4927-8195-21CF2FC1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1A08C-CC4D-45A9-A3BA-48DD17F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9AB7F-21B2-444B-B6E9-78F69FFB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500062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685FF-4463-4886-A67D-DD74D390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430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Analyser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88FA1-6B71-45D8-AE1A-44038C7E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Repérer les mesures, contraintes et flux d’une chaîne d’énergie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A7960-A4C6-42E6-8550-F58FC658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90625"/>
            <a:ext cx="500062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E381F-0DF4-4576-BB5C-6CF27B32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430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Décider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01FA3-61F5-4C10-8AAF-66ED5830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Écrire conditions, boucles et fonctions de gestion énergétique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7F632-2DCB-4DAF-9219-6229753F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500062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15565-418E-406B-890B-13DB4710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575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Programmer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9C0F5-4B09-4703-831E-6AAD31FA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Traduire la logique en Python ou C++ et documenter le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10D92-55E6-4044-8926-B274AD37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500062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E4513-520A-41DC-A408-86BE5C3E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5752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Valider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F931A-FF2F-43AF-B22B-B7D50F41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Construire des essais, interpréter les résultats et conclure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7FB94-9F81-47F1-8C0F-161DA555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10953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1FD8A-2971-46FC-80B5-09DBEED0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00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Fil conducteur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FE1FB-EE31-4511-90BA-F48384C2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95900"/>
            <a:ext cx="8429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Partir d’un besoin énergétique, proposer une logique de commande, la simuler puis la vérifier sur des cas normaux et limites.</a:t>
            </a:r>
          </a:p>
        </p:txBody>
      </p:sp>
    </p:spTree>
    <p:extLst>
      <p:ext uri="{BB962C8B-B14F-4D97-AF65-F5344CB8AC3E}">
        <p14:creationId xmlns:p14="http://schemas.microsoft.com/office/powerpoint/2010/main" val="1823714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A66F28-A2DE-4F89-86F5-AE5DA2D9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05D9E-7226-4A93-BEA7-1AD06A0E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De l’exigence au produit qui fonctionne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81132-24AC-4695-A8BD-264617D6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BE611-D287-4E7B-83EF-785222E6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MÉTHODE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0268B-7074-4F18-9739-C687D179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b2a08b41d46c0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67DED-9086-4756-86E2-48853404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0BFA6-7BEE-41FD-B57E-9D44AADB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F25F0-2D95-4B35-9A83-3701EF8E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2428875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FAA62-4CBD-4CD2-825A-6779F892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95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64558-1FC5-49C5-8C4C-100DF358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95262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E2FFB-46F4-4B9C-83AC-0F46AC0C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78D81-C7BF-4BD1-8528-1A5CC2C6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Ce que le produit doit faire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CD4EA-21AF-4F05-A8F6-9048DCF3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289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7DC81-4421-4706-865C-89044075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2428875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9F854-AAEC-4710-8280-213DC7F7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95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689C5-2543-4134-97BF-CC59E962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95262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638A6-9646-45CE-9A75-85BDB55C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ALGORITHME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B8F5D-10B0-4BF1-A444-03D2192E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86125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3942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La logique, indépendante du langage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9C7EF-D4BB-461D-994F-01066511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289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75616-D7AA-4F61-80BB-CDB318D4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14500"/>
            <a:ext cx="2428875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30A2D-F2BC-4DCF-B886-1033B1A4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5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6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67381-0B51-4C67-9499-8136CF75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5262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AA178-F1C1-4F02-B90C-4B944BE3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765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8BB6D-1A83-4BCC-9BE9-E0FE078A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La traduction en Python ou C++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84BBB-7561-4025-A6CF-E6FD2B64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2890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BD45BE-6FDB-4FF0-95D2-882F74C9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428875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EC2357-BE5A-4F17-A0D5-C63F69D6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95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C34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673687-F18E-46AD-8B5C-1EF098B4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95262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64D1D1-1967-472A-A745-855F756D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TESTS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846914-709D-4344-BE24-4279109C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Les cas normaux, limites et erreurs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FCA7FF-2B0C-4218-AD07-3A19DD45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9625"/>
            <a:ext cx="9429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6F4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5667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Un algorithme reste compréhensible par toute l’équipe avant même de choisir la carte ou le langage.</a:t>
            </a:r>
          </a:p>
        </p:txBody>
      </p:sp>
    </p:spTree>
    <p:extLst>
      <p:ext uri="{BB962C8B-B14F-4D97-AF65-F5344CB8AC3E}">
        <p14:creationId xmlns:p14="http://schemas.microsoft.com/office/powerpoint/2010/main" val="11706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2576E-C1DD-4EAD-BEAB-E5BBE85A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437F2-E353-4622-B2A6-1C8EBB35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Algorithme, algorigramme et programme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67430-87F2-4277-830C-CB94B61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7FC0E-C64D-4AF2-AA7E-025B6894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6FB9D-C25D-4441-ADBE-76F54D92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26511c3944f8f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C9465-A289-45FE-B1B4-0BA82282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41A4A-6392-4909-8A62-8EA6D2CF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6CAB7-AD1A-4557-B481-0C4D96F7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E5A04-74F0-4CB8-ABD3-4EDD87DD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ED107-8357-4748-85A2-3C713067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10477500" cy="116205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889A7-5DE4-40FA-9E4B-F5B1423B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52575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B8738-0444-4CFE-9ACF-06C236E0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525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ALGORITHME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65698-9597-4D48-AB7F-F59B680A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954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Suite ……………………………… et ……………………………… d’instructions qui résout un problème.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7D6A4-C932-4223-BE8B-B276B4FD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116205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26540-E92C-4E5A-9C12-42F76BB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2C6AE-1E4D-4821-8B9D-7E58FBF0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ALGORIGRAMME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F71C8-99D5-4F75-81C1-16D578B2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71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Représentation ……………………………… de l’enchaînement des opérations et décisions.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630A5-4839-4C2C-9D1D-BDC59ACF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116205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D0116-975B-46C6-8C1F-0616F5DE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05325"/>
            <a:ext cx="2190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71EFC-16C3-49D2-85CB-CA6F9B9E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053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PROGRAMME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D9908-0340-4B54-B259-26820CC7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4817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Traduction ……………………………… de l’algorithme dans un langage précis.</a:t>
            </a:r>
          </a:p>
        </p:txBody>
      </p:sp>
    </p:spTree>
    <p:extLst>
      <p:ext uri="{BB962C8B-B14F-4D97-AF65-F5344CB8AC3E}">
        <p14:creationId xmlns:p14="http://schemas.microsoft.com/office/powerpoint/2010/main" val="89467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D3D946-FFEA-4A29-9E33-4331C55F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697A9-2880-490B-A51A-A80E1E58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Les symboles essentiels d’un algorigramme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4EF19-7976-48E4-A9A7-56AC4114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763F8-3BA8-4463-A22E-F4780A67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REPRÉSENTER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7DD29-BC93-492C-8C6C-AF3EF469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1687d7dcb4463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7BB84-6522-420F-8467-6CD0CFC7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62D7A-9A2C-4D9E-81F5-38B4D187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2939D-0DEF-405C-8824-CB17C921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2428875" cy="3714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2C5CF-742F-4440-AA0D-A31B6BBC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62125"/>
            <a:ext cx="1524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7FA"/>
          </a:solidFill>
          <a:ln xmlns:a="http://schemas.openxmlformats.org/drawingml/2006/main" w="28575">
            <a:solidFill>
              <a:srgbClr val="00A6A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DÉBUT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BDF0F-A042-47D0-AF8D-D1A69E3F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Début / Fin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FA5D2-5BCE-4409-940E-C0781496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point d’entrée ou de sortie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A6600-15CC-4D78-A509-533E9C6A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33500"/>
            <a:ext cx="2428875" cy="3714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87277-ED1D-46FF-8ED0-800CD3EA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62125"/>
            <a:ext cx="1524000" cy="8763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FF7FA"/>
          </a:solidFill>
          <a:ln xmlns:a="http://schemas.openxmlformats.org/drawingml/2006/main" w="28575">
            <a:solidFill>
              <a:srgbClr val="176B87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Lire 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89746-17E5-4E03-8CF9-7F7F77D7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9087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Entrée / Sortie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5494F-C13B-4539-A0E5-2283A166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766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lire un capteur, afficher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EB16E-3EC5-4B5E-AED0-B292BFAB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33500"/>
            <a:ext cx="2428875" cy="3714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92F75-0E3B-45DB-8B6D-1AE8181B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62125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A"/>
          </a:solidFill>
          <a:ln xmlns:a="http://schemas.openxmlformats.org/drawingml/2006/main" w="28575">
            <a:solidFill>
              <a:srgbClr val="F7A600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PAC = 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B61E6-66DF-4537-BCDB-99EEFF0B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9087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Traitement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D3033-1951-4B87-9220-BF77A621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766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calculer, affecter, commander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7551B-504E-4C03-98B1-BD5A5B20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33500"/>
            <a:ext cx="2428875" cy="3714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8597C-ED89-4294-AC1B-8E8E8185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762125"/>
            <a:ext cx="1524000" cy="1190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FF7FA"/>
          </a:solidFill>
          <a:ln xmlns:a="http://schemas.openxmlformats.org/drawingml/2006/main" w="28575">
            <a:solidFill>
              <a:srgbClr val="82C341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P &gt; 6 kW 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1ED2E-4C51-4F1C-92B9-C5128411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90875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2C34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82C341"/>
                </a:solidFill>
                <a:latin typeface="DejaVu Sans"/>
                <a:ea typeface="DejaVu Sans"/>
                <a:cs typeface="DejaVu Sans"/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47371-D229-4841-B4EB-F8B4E751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766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condition vraie ou fausse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07FB5-B2AE-463B-9D2D-3913A3C6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DF6F4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8601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Les flèches indiquent le sens d’exécution. Chaque test possède deux sorties : VRAI et FAUX.</a:t>
            </a:r>
          </a:p>
        </p:txBody>
      </p:sp>
    </p:spTree>
    <p:extLst>
      <p:ext uri="{BB962C8B-B14F-4D97-AF65-F5344CB8AC3E}">
        <p14:creationId xmlns:p14="http://schemas.microsoft.com/office/powerpoint/2010/main" val="781710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26D79-73F9-4669-BFE1-79D2F52C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A6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0040A-0C61-4E3D-ADEA-DB8AA216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Activité flash 1 : associer symbole et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7FC51-65CD-46E4-9483-F5C52ECD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ABA11-443A-41D7-A108-3BF3F69C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EXERCICE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CB88D-89B0-4C3F-AA6D-6767C910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89644517f42bf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5760D-9753-4527-8723-C92CC4EA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7C9C7-AEBA-43DB-9D1D-D94EB55E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05926-8AA5-48FB-9EA7-9A6603EE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B221F-0C15-4A4C-AB65-B3B73304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F0107-E931-4C65-8D16-DB9660F1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10477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ADF8F-C8E7-4D3F-9B73-6AEEB577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428625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CC4D6-15F7-4830-919F-215BB711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11435-CD9D-4E87-B4F9-54E09824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19225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Lire la puissance électrique mesurée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A4040-AC7E-4546-89A4-23D34288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19225"/>
            <a:ext cx="280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C852A-3D89-4999-9FE1-8800A526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53F6F-4DC6-45D3-914B-33EB5F6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28625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EE414-318B-4061-9D39-BCFEF4E6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E09D0-BCAE-43F6-ACFF-4877EAAF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193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La production photovoltaïque couvre-t-elle le besoin 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9BDB4-4891-47BA-89DF-2DFEBC79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19350"/>
            <a:ext cx="280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7C0E6-0040-409F-8A66-B9EFF758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0477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DE2CA-65E3-484E-A055-7EB2DDD2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428625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81A2C-58DA-4C10-948C-22C34AAD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52510B-4399-42F8-85E8-DB794AE7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19475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Commander la charge de la batterie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47D1F6-B1D0-4A68-A9C8-861EB074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19475"/>
            <a:ext cx="280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AB631E-5410-4439-8E28-05AB65AE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701E97-C3D6-45FD-88D5-8F419861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28625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3A12FE-BAD4-4860-81CA-E00DF905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B68C93-0C65-4364-A488-6EDB3BD7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Arrêter le programme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739DC5-A20C-483A-BC93-91BF7239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19600"/>
            <a:ext cx="2809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667989-040D-4C3B-B472-3AF61FB2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572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Temps conseillé : 3 min</a:t>
            </a:r>
          </a:p>
        </p:txBody>
      </p:sp>
    </p:spTree>
    <p:extLst>
      <p:ext uri="{BB962C8B-B14F-4D97-AF65-F5344CB8AC3E}">
        <p14:creationId xmlns:p14="http://schemas.microsoft.com/office/powerpoint/2010/main" val="1361126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772B5-7EE1-4D8C-B6C7-E9365458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2AD4C-1B2B-4EBE-B2DD-9AE18B8C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765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Variables et types : mémoriser une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C167F-E316-428D-8291-BB4E367F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A1F18-114E-407D-9D79-1969D50F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DONNÉES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23EF3-0BF3-4E9C-88D6-27C78CE9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401f8bc4b4777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9B866-6FA3-465E-AEBB-DE174732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E89FD-5717-435E-ACE7-51EC92F2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B0FD2-0597-4759-B8B4-0F504091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6FC3C-BD65-42DD-97A6-DED0A863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3DF27-4B89-43C8-8450-6D5215F9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85875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302B8-49FD-4763-8584-6E9233B6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504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D32A3-70A7-4FCF-AC7C-109F9C10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668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3.45 kW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1D047-9E7F-415B-87D9-07E1FFFF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28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puissance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9835B-85E2-4E77-AB67-29F43BDC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85875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1114E-6DAD-4EA3-9BB4-929F1579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504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192B0-551D-4414-9592-29B719DF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668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D18B3-07E2-4589-8B60-5634321C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compteur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AB05B-4193-4DDE-880C-38913775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85875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E89D6-9F5B-4FDE-ACDA-A55F0721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504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C341"/>
          </a:solidFill>
          <a:ln xmlns:a="http://schemas.openxmlformats.org/drawingml/2006/main" w="0">
            <a:solidFill>
              <a:srgbClr val="82C34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A1EC9-F162-4946-B2CC-2CFC4DCA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VRAI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36194-696E-451B-834B-612A1EA8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28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charge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E88DD-CCF8-495C-8A13-4D03EF1D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85875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BBAF52-F28B-4BE3-B144-437864C5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504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A600"/>
          </a:solidFill>
          <a:ln xmlns:a="http://schemas.openxmlformats.org/drawingml/2006/main" w="0">
            <a:solidFill>
              <a:srgbClr val="F7A60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D87BF-42CF-4DE2-83EF-15C66D1B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668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AUTO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6F198-C82C-4F7D-95C5-8ABF9D91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28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mode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C95517-092C-4D68-AD77-73990446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10382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000D5-539C-459D-B330-9A0E75A7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rPr>
              <a:t>bool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67A557-8203-4CA2-9C65-7345D1C4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logique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800226-023A-47BB-8A18-F96B5E8B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813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charge = True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CF2334-39A8-4D3F-960D-706E562F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bool charge = true;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8610C9-4E5F-4529-8FFF-364A0807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10382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75766-A6FA-493C-AD01-6B16EC8B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rPr>
              <a:t>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EECDB1-E25D-4935-A834-BF0347E9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480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entier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06B275-3D23-493C-B6C6-8AC985FB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48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compteur =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2E5B57-4BFD-424D-B5E2-E437B90B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int compteur = 3;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00FD07-7FFB-459A-A6C7-F2F434B8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48125"/>
            <a:ext cx="10382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219F89-8358-4544-B6BA-49897351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rPr>
              <a:t>float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49E28F-E945-4C31-8592-E11D477A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148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réel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A66B00-2F33-44F8-81ED-BB154990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14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puissance = 3.45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C4AD8B-3130-4749-9DF7-CC508856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float puissance = 3.45;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C1AE90-C495-4DA3-9630-76E03E89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10382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00606D-F717-491A-92B1-E6E3B655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rPr>
              <a:t>str / String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8BF243-07E8-4569-9BB9-0C590C7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81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texte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175DD9-1696-4AD6-8ACC-76ADE5AB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815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mode = "AUTO"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37EC7D-5F33-4C21-8A0F-33AF5C2D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8155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String mode = "AUTO";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C3B1B5-6CD2-423B-A25A-7E218287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772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Une variable possède un ……………, un …………… et une …………… .</a:t>
            </a:r>
          </a:p>
        </p:txBody>
      </p:sp>
    </p:spTree>
    <p:extLst>
      <p:ext uri="{BB962C8B-B14F-4D97-AF65-F5344CB8AC3E}">
        <p14:creationId xmlns:p14="http://schemas.microsoft.com/office/powerpoint/2010/main" val="12492056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807DB-DB58-4F06-8D8B-61715B7D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D36CA-4804-4ECE-86CD-3260604A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Écrire une condition sans ambiguïté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DD74C-B2DF-4E77-8ACE-17656673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BCCC3-5FB0-4E38-A648-D3A11C39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OPÉRATEURS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FDE03-4288-4D9D-ABB6-A50BBFFC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60245bacd4bfa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BC4C5-1956-4326-9AFF-9A2469BD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59145-A230-42A7-B522-5A48E4CB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0199E-5939-4B6C-8CE8-44553F7F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333375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AEAF2-4D49-4503-96D5-1E26728B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1809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085BA-2E0C-4503-8146-884C7C08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71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COMPARER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45B3E-9D98-4F0C-ABEF-7C6403F4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266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==  égal à</a:t>
            </a:r>
          </a:p>
          <a:p xmlns:a="http://schemas.openxmlformats.org/drawingml/2006/main"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!=  différent de</a:t>
            </a:r>
          </a:p>
          <a:p xmlns:a="http://schemas.openxmlformats.org/drawingml/2006/main"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&gt;  supérieur à</a:t>
            </a:r>
          </a:p>
          <a:p xmlns:a="http://schemas.openxmlformats.org/drawingml/2006/main"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&gt;=  supérieur ou égal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E800F-2160-4F56-8B3C-82B0A6BF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33375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BE833-EAF3-4184-8572-79396672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71625"/>
            <a:ext cx="1809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E10F3-4D54-4823-AAED-171F4730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71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COMBINER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75471-01F5-4E13-95E2-97BF6DE1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66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and  ET</a:t>
            </a:r>
          </a:p>
          <a:p xmlns:a="http://schemas.openxmlformats.org/drawingml/2006/main"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or  OU</a:t>
            </a:r>
          </a:p>
          <a:p xmlns:a="http://schemas.openxmlformats.org/drawingml/2006/main"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not  NON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27859-80CA-420E-BF18-134CE313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333375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9BF5C-1DF6-4C16-986E-007B882A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1809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AABED-9B77-413C-9703-3311972F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CALCULER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37DC8-4CD7-4D0B-9D3B-133A8106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66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+  -  *  /</a:t>
            </a:r>
          </a:p>
          <a:p xmlns:a="http://schemas.openxmlformats.org/drawingml/2006/main"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%  reste d’une division</a:t>
            </a:r>
          </a:p>
          <a:p xmlns:a="http://schemas.openxmlformats.org/drawingml/2006/main"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=  affectation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AB2A7-1645-4BC5-8B72-75F7C60C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62500"/>
            <a:ext cx="90487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DFFD6-13A6-402C-9E29-899A7331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53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puissance &gt; 6 and not batterie_disponible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CAD06-270D-440B-90BB-A19AE0A2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904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1E6D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1E6D9"/>
                </a:solidFill>
                <a:latin typeface="DejaVu Sans"/>
                <a:ea typeface="DejaVu Sans"/>
                <a:cs typeface="DejaVu Sans"/>
              </a:rPr>
              <a:t>VRAI seulement si les deux conditions sont vraies</a:t>
            </a:r>
          </a:p>
        </p:txBody>
      </p:sp>
    </p:spTree>
    <p:extLst>
      <p:ext uri="{BB962C8B-B14F-4D97-AF65-F5344CB8AC3E}">
        <p14:creationId xmlns:p14="http://schemas.microsoft.com/office/powerpoint/2010/main" val="1282953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771E87-A222-4CFE-A199-EC66A847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F3E7D-8E0F-4DA2-9B9B-F484E18B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Structure séquentielle : exécuter dans l’ordre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47317-3DC0-41C1-8870-9943C640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81CE6-37B1-4B97-86C6-D580860B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SÉQUENCE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6E6D2-A986-4DBC-A835-26264D29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c1b6b5c27469b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E2264-B2E2-447C-91E6-6485D5F5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7BC69-8D79-48ED-B1FD-B2B792C8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97F09-420C-4764-BD39-464A73C9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477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Exemple EE : démarrage progressif d’une pompe à chaleur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160C1-09FB-4454-8F3C-000B2489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2381250" cy="1238250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209B4-9DBD-4A47-9411-999252C0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3BC73-7DA3-4B30-B9A2-A37B0E14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325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Vérifier les sécurités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59586-C9E5-4A9B-9156-F7E4E5B0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28875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843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4C6D4-7852-4894-96C5-7C362CE9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381250" cy="1238250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7D57C-0DF0-4A2D-8014-B5CBB2CB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3837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AC39B-C094-4D10-95F5-3F9FF689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325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Démarrer le circulateur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F1F497-91F0-45EC-9460-E626316C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28875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843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66C42-3A3F-4092-A548-09731A06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2381250" cy="1238250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EAF6DC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B156E-B63A-46D6-8066-16F5283C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3837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C34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4DD45-27D3-4597-8F5A-062F6F73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Attendre 5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19294-19DE-4A1E-83E2-B55037B6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28875"/>
            <a:ext cx="33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843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5AB55-7C22-46C1-A2D8-347D3D81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2381250" cy="1238250"/>
          </a:xfrm>
          <a:prstGeom xmlns:a="http://schemas.openxmlformats.org/drawingml/2006/main" prst="roundRect">
            <a:avLst>
              <a:gd name="adj" fmla="val 1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44C01D-F814-48F4-B442-FEA3A7CC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3837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95AB1-AFAB-43AA-BCB2-C9F5D7A7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325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Démarrer le compresseur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2D696-85B6-40C0-B2C3-26415519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4762500" cy="2047875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D5A151-C116-4AFC-A9D8-5C6C090C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71925"/>
            <a:ext cx="44958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Début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vérifier sécurités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circulateur ← ON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attendre 5 s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compresseur ← ON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5163242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27E8F-4EF1-41F1-A232-6F09306B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A6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82D5C-16FF-45E1-B5AD-169DA5F6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926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Exercice 2 : démarrage d’une pompe à chaleur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6859D-2702-45E0-855A-B7522343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EBFA5-DE00-4B9A-B549-C3646129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SÉQUENCE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6F84C-4D50-415F-8903-BF95C069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532e7c8e1472a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EEB49-E211-4E94-8B34-33CABB27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7DA12-EF3B-46B8-A98F-16C3B43B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A48A9-44BC-4CDA-A288-3E2FFAA7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CADD6-0623-496E-8B35-193A2090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FC1E7-C371-4069-8A73-000D5275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4953000" cy="4667250"/>
          </a:xfrm>
          <a:prstGeom xmlns:a="http://schemas.openxmlformats.org/drawingml/2006/main" prst="roundRect">
            <a:avLst>
              <a:gd name="adj" fmla="val 4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32CAF-A8AC-4FEA-B9B6-0313B922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836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Cahier des charges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7A080-B757-4841-B9DE-4D8FC14D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423862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Quand une demande de chauffage arrive 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1. vérifier que les sécurités sont valides</a:t>
            </a:r>
          </a:p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2. démarrer le circulateur</a:t>
            </a:r>
          </a:p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3. attendre 5 s</a:t>
            </a:r>
          </a:p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4. démarrer le compresseur</a:t>
            </a:r>
          </a:p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5. afficher « PAC en service 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5E424-4A41-44E6-B870-E595282B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4238625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1248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Consigne : écrire l’algorithme séquentiel.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06589-8482-4284-A8B1-C356EF1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285875"/>
            <a:ext cx="523875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3E34F-8CCF-4977-A0AC-D5E7926F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400175"/>
            <a:ext cx="497205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Début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……………………………………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……………………………………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circulateur ← …………………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attendre ……… s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compresseur ← ………………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afficher ………………………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59FBE-BA99-48F1-9EBB-7973562B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67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Temps conseillé : 6 min</a:t>
            </a:r>
          </a:p>
        </p:txBody>
      </p:sp>
    </p:spTree>
    <p:extLst>
      <p:ext uri="{BB962C8B-B14F-4D97-AF65-F5344CB8AC3E}">
        <p14:creationId xmlns:p14="http://schemas.microsoft.com/office/powerpoint/2010/main" val="6846470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52219-F27B-4CE6-B70B-90DD8BC0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97E7F-5CBE-4EE3-999E-F3E501AD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264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Structure alternative : choisir selon une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F1E26-C82B-4C0A-9162-9DDD1FC0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3680E-1130-44B6-814C-D7C7AFC2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8CBD9-2644-45B4-8F71-A83D02D6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69fd6c4944b4b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DC3AB-03A0-4A61-A81E-C64A9A9E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8142C-7806-410A-82BE-56EBE6BD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F7187-A1B4-4034-8ED6-5A91B2FF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504825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740A0-68F2-4D25-B8AD-D792C828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19250"/>
            <a:ext cx="24765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0A461-B559-49E8-8727-4EB3423E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19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FORME COMPLÈTE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99279-900F-4D57-A451-1B921A5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428625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967FE-7FC7-4EE6-BCC6-1DF28DA8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47925"/>
            <a:ext cx="40195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 température &lt; consigne ALORS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chauffage ← ON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SINON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chauffage ← OFF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A828B-1A84-4DB4-B0E0-48720D74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Deux branches prévues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68417-A153-4723-944C-C767F7D8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04825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3D1AD-B252-4BED-ADDE-6E8C2D87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24765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37E4B-7BCD-4A00-9E76-0E42DE94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FORME RÉDUITE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BF549-3F0E-42DF-9847-36233AA7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33625"/>
            <a:ext cx="428625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1D396-1EB0-43B1-8053-A1647DF8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447925"/>
            <a:ext cx="40195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 puissance &gt; limite ALORS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délester chauffe-eau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BDEF0-3A57-4320-9A65-F06BDF19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Action seulement si VRAI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169D9-9AD3-4142-BFDC-A2479936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DDF6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7968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Une condition doit toujours être formulée comme une question dont la réponse vaut VRAI ou FAUX.</a:t>
            </a:r>
          </a:p>
        </p:txBody>
      </p:sp>
    </p:spTree>
    <p:extLst>
      <p:ext uri="{BB962C8B-B14F-4D97-AF65-F5344CB8AC3E}">
        <p14:creationId xmlns:p14="http://schemas.microsoft.com/office/powerpoint/2010/main" val="76592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CF865-C43E-4F1C-AC00-5A31D257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A6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C6E5B-C27B-4B69-AD7D-5B9BC9B3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Exercice 3 : orienter l’énergie photovoltaïque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3CCDD-3803-49A1-B46B-09953D85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84641-7E65-4863-8B96-D1262F7B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BCABA-E85E-429B-82EC-74D0BB97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0787eb98c4109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3C229-2E71-4ED3-BD54-DCA4C486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0B73A-0D28-44D3-A57C-2C5FC362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A3F2A-80A7-4D89-987D-145EF1C1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8432A-6F0A-4195-A849-C37BE45E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96C54-57CC-4E9D-B05E-31C7E9E5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00500" cy="4762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7C054-4348-46B9-8E6E-A19EF1F9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Maison photovoltaïque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3F735-FE27-46AF-AFFD-4C20E75E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B449C-61FC-4265-AB9A-F21F3723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314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AB989-88C6-4F00-881C-752CAE1B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7647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6671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Ppv - Pbesoin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39362-F4E3-440C-B50B-941B3E03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384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bilan instantané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C2A75-0577-44B3-A304-50A397E7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Règle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77D264-814B-4F12-A272-391B5672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25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Ppv ≥ Pbesoin : charger la batterie</a:t>
            </a:r>
          </a:p>
          <a:p xmlns:a="http://schemas.openxmlformats.org/drawingml/2006/main">
            <a:pPr algn="l">
              <a:defRPr sz="150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Sinon : fournir l’énergie manquante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ACCE3-4809-44A7-AD63-974E0F83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Compléter le test et les deux actions.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60552-D9DB-4595-B97A-6BD91074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33500"/>
            <a:ext cx="60960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69F63-5B8A-4568-97B6-D2D8E11A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447800"/>
            <a:ext cx="58293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PSEUDO-CODE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lire Ppv, Pbesoin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 ……………………… ALORS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………………………………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SINON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………………………………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2B586-3594-43E3-99C0-23A95C5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57625"/>
            <a:ext cx="6096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A1067-887A-4177-9FF4-67746D7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971925"/>
            <a:ext cx="5829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974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PYTHON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if ……………………… :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………………………………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else: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8953815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FA890-ED39-4518-840B-593073D3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2F352-940F-446F-A319-07FE9736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Bilan de la partie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5BC10-D717-4FA1-A752-A587F1DC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CE79B-BA76-46F7-B58D-3EEDD650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SYNTHÈSE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16970-ED95-4EA8-98ED-A3E518E7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8a925c8cf4d7d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F5976-EBBB-46CF-B713-17029E49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BCA5C-BF2C-4ABE-9335-CD26292A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AD309-408D-486F-94DE-773FA81C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24E15-10F8-4713-B02B-7AA90D6F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DC964-2D63-4670-A4F7-B3434758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85875"/>
            <a:ext cx="95250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0B8A8-A690-4263-BC45-0A5012FF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66850"/>
            <a:ext cx="4000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2EA03-071B-4449-9344-D7659949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668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71E13-BBD5-46AA-B9C9-43021586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09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Un algorithme décrit une …………… avant le choix du langage.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E1EA4-353B-48B7-8FB3-606A8357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95250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6B20D-2775-4392-8C8C-311D7DC1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66975"/>
            <a:ext cx="4000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5F40C-8306-40B4-8408-FCC0A0C9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669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491C2-FEF8-4B69-BF43-1A95049B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09825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Un algorigramme rend visibles l’…………… et les …………… 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908E1-B828-4001-B194-BBA6AD40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86125"/>
            <a:ext cx="95250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B6590-89AA-42D5-9D22-26386C15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67100"/>
            <a:ext cx="4000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3F583-B8C6-4B49-BE95-57140E8E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671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63EA3-CAFB-4CFD-BE64-2BE925B3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099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Une séquence …………… des actions. Une condition choisit une …………… 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58BAF-B85C-4130-9E31-18D74099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95250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131AD-9117-4373-98BC-38D4297B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67225"/>
            <a:ext cx="4000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6763E-4D1B-4C0C-B089-9180C81B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672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1E900-35FF-4446-8C9F-DD17E264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10075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Une variable associe un ……………, un …………… et une …………… 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1DA4A6-A5AD-4ADE-A33C-6B98582A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À la suite : répéter, structurer et tester</a:t>
            </a:r>
          </a:p>
        </p:txBody>
      </p:sp>
    </p:spTree>
    <p:extLst>
      <p:ext uri="{BB962C8B-B14F-4D97-AF65-F5344CB8AC3E}">
        <p14:creationId xmlns:p14="http://schemas.microsoft.com/office/powerpoint/2010/main" val="15578733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6791A-6AEB-41B4-8BE5-EB72023E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A600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84cffac1b4dcd"/>
          <a:stretch xmlns:a="http://schemas.openxmlformats.org/drawingml/2006/main"/>
        </p:blipFill>
        <p:spPr>
          <a:xfrm xmlns:a="http://schemas.openxmlformats.org/drawingml/2006/main">
            <a:off x="8241302" y="523875"/>
            <a:ext cx="3138896" cy="6953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2B7C1-3C85-4579-AE3C-D2E98B38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619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4DD6A-DD27-47A7-A77A-79B0ECD7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PARTIE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512C8-A090-40D5-ADFE-0D52945A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Répéter, structurer, tester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B2207-21BB-4372-BB81-97DEF26B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D8E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B8D8E6"/>
                </a:solidFill>
                <a:latin typeface="DejaVu Sans"/>
                <a:ea typeface="DejaVu Sans"/>
                <a:cs typeface="DejaVu Sans"/>
              </a:rPr>
              <a:t>Boucles, fonctions, Python/C++ et débogage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CBC21-E323-4511-AFCB-C3793D4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2860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1160D-3723-4586-937B-0B92B1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ECDFD-A406-41EC-B802-CDBBF6E0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33875"/>
            <a:ext cx="22860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B668C-48F9-4E90-A9F8-1100D214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3387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DO…WHILE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ECD98-5BEE-4DF4-A665-A14FA04D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22860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2C341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FBBB1-1447-448C-890D-2AD8971E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646E9-46C1-4A27-8BD9-8F7B2A2E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22860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DD56B-4E52-4EFB-AEE6-428BC6BB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D359A-9055-47F9-B809-773111A4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D47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</p:spTree>
    <p:extLst>
      <p:ext uri="{BB962C8B-B14F-4D97-AF65-F5344CB8AC3E}">
        <p14:creationId xmlns:p14="http://schemas.microsoft.com/office/powerpoint/2010/main" val="14914804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75A67D-F096-4680-AEFF-1F7F6130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A8810-431D-4952-A825-0EA8A799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Choisir la bonne boucle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766FE-CBED-43E9-9303-C7198B45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6E837-0940-4FBA-A06A-9523B66B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BOUCLES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B00B9-CD76-474F-BCF0-8E3A23CD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d565212a54713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B1307-16B2-485D-B97A-E8D73698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C658B-EC22-48A4-B306-DE13D9E5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25D6A-49E3-418E-A82B-05182FBD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ACAEF-DB68-45B8-8055-4113082D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0733F-FFBC-4BA4-B514-A0E32500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3381375" cy="3810000"/>
          </a:xfrm>
          <a:prstGeom xmlns:a="http://schemas.openxmlformats.org/drawingml/2006/main" prst="roundRect">
            <a:avLst>
              <a:gd name="adj" fmla="val 6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104D3-834F-4A1D-B595-C370DDD6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2428875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FFC73-FCF8-444A-B2AF-0717626A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TANT QUE / WHILE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65DB2-D58D-4983-9ED4-93217D7A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Test avant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5AA72-3A54-40EA-89DC-441139EE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Nombre de tours inconnu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638EF-ED42-4085-9CEF-30514FCC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La boucle peut ne jamais s’exécuter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78E2D-483B-4F44-98C2-5B0EA53D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85875"/>
            <a:ext cx="3381375" cy="3810000"/>
          </a:xfrm>
          <a:prstGeom xmlns:a="http://schemas.openxmlformats.org/drawingml/2006/main" prst="roundRect">
            <a:avLst>
              <a:gd name="adj" fmla="val 6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7FC34-45F8-4FE0-A2E3-CBE524DB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71625"/>
            <a:ext cx="2428875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C8D38-E334-486E-BD25-44392771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57162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RÉPÉTER / DO…WHILE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EBCC2-435E-4BDF-8BF9-425DEE3B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Test après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BEE1B-5562-4216-B3D1-2B890034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Au moins une exécution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78896-98CE-460E-BDAF-E216E964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Utile pour une saisie ou un essai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A4150-58E8-4C04-9B76-BEBB6B8E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85875"/>
            <a:ext cx="3381375" cy="3810000"/>
          </a:xfrm>
          <a:prstGeom xmlns:a="http://schemas.openxmlformats.org/drawingml/2006/main" prst="roundRect">
            <a:avLst>
              <a:gd name="adj" fmla="val 6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7A7A3-1267-4909-A996-16BF51A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71625"/>
            <a:ext cx="2428875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82C341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B6D44-A201-4BBB-AAE2-C15CD7F7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7162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POUR / FOR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E4F3E-9F83-49A7-97AA-D2C5085A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Compteur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4C4FE3-2D0F-4628-ADE6-7FF8EEDF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Nombre de tours connu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FD038D-D9DB-4835-A38C-296237B8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Utile pour parcourir des mesures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D3271-035C-4B3B-83C7-28BF4CAD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672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Critère principal : sait-on à l’avance combien de ……………………… sont nécessaires ?</a:t>
            </a:r>
          </a:p>
        </p:txBody>
      </p:sp>
    </p:spTree>
    <p:extLst>
      <p:ext uri="{BB962C8B-B14F-4D97-AF65-F5344CB8AC3E}">
        <p14:creationId xmlns:p14="http://schemas.microsoft.com/office/powerpoint/2010/main" val="19215566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9E969-5995-4ECF-85E5-360C95D3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EAB38-6FE0-4A4E-89E7-C94260C0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5037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Boucle TANT QUE : recharge d’un vélo électrique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F67D5-49EE-4C3D-8194-94F190E7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CA18A-69A2-4E28-97B7-4B7B94B8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F63F5-06DD-42B7-9771-F4E18DF3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30dffb7c34cbc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52B30-EE34-4914-A0BF-8D09E898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61911-39BE-43A6-9995-0C4732C9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67CFF-33D0-41FB-A721-058AEB9E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3905250" cy="4857750"/>
          </a:xfrm>
          <a:prstGeom xmlns:a="http://schemas.openxmlformats.org/drawingml/2006/main" prst="roundRect">
            <a:avLst>
              <a:gd name="adj" fmla="val 53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4285B-6A7D-4547-8784-418FA693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Objectif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7F438-5753-4D0D-8134-8F618DF1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268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Charger jusqu’à 80 %, puis arrêter le chargeur.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D7045-009E-48BE-A0BB-D97E4718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2381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CC82E-5FD6-417B-BF72-061CE634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19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C341"/>
          </a:solidFill>
          <a:ln xmlns:a="http://schemas.openxmlformats.org/drawingml/2006/main" w="0">
            <a:solidFill>
              <a:srgbClr val="82C3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6D3AA-DC5A-4B95-8DCE-94444D70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1813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64 %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8738E-2149-4378-B29C-EA5A2A14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5433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état de charge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FB3F3-3032-4F30-92D9-E1249DE6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Le test a lieu avant chaque tour. Si SOC vaut déjà 80, la boucle ne s’exécute pas.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D01D3-1FFE-4C0E-8361-AB29C549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81125"/>
            <a:ext cx="6048375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0E366-F734-4345-9024-18EE7A57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495425"/>
            <a:ext cx="5781675" cy="2676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lire SOC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TANT QUE SOC &lt; 80 FAIRE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chargeur ← ON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attendre 1 s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lire SOC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TANT QUE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chargeur ← 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669C4-AD2B-4929-891D-E73D2E6F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67250"/>
            <a:ext cx="538162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CE8EC"/>
          </a:solidFill>
          <a:ln xmlns:a="http://schemas.openxmlformats.org/drawingml/2006/main" w="9525">
            <a:solidFill>
              <a:srgbClr val="E9425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FEE10-4B14-438D-A673-CF579BC6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425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E94256"/>
                </a:solidFill>
                <a:latin typeface="DejaVu Sans"/>
                <a:ea typeface="DejaVu Sans"/>
                <a:cs typeface="DejaVu Sans"/>
              </a:rPr>
              <a:t>Sécurité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33C5D-DDCC-4689-BFFA-E4D5BD6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6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988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Toujours actualiser SOC dans la boucle ; sinon elle peut devenir infinie.</a:t>
            </a:r>
          </a:p>
        </p:txBody>
      </p:sp>
    </p:spTree>
    <p:extLst>
      <p:ext uri="{BB962C8B-B14F-4D97-AF65-F5344CB8AC3E}">
        <p14:creationId xmlns:p14="http://schemas.microsoft.com/office/powerpoint/2010/main" val="13845666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AC4CA-FCC1-4A4D-A70A-886AC63B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A6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2F505-3BC2-4A50-A2C6-7A1DFCB1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Exercice 4 : remplir un stockage thermique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7F570-1E7E-4262-B005-2868F38B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D112D-4DB7-4E5C-A312-68E00E40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BD761-CB35-46F0-8B07-4D2D34A2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dd58d5f74491f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7B795-6EDA-4FB8-B20D-FA1AB1A1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A3307-94BB-4C4F-B9EF-B8C73D4C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FAC80-3F98-49B9-BCE5-C2B8818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C32FD-4AF3-4431-A3D2-D404C230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BE0BB-7F32-411A-8A39-360F8D38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4095750" cy="4762500"/>
          </a:xfrm>
          <a:prstGeom xmlns:a="http://schemas.openxmlformats.org/drawingml/2006/main" prst="roundRect">
            <a:avLst>
              <a:gd name="adj" fmla="val 5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49628-8161-4553-8151-321DA696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Règles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E63AE-4A73-453F-82E0-B6FA48C7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342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1. Démarrer si température &lt; 50 °C</a:t>
            </a:r>
          </a:p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2. Chauffer jusqu’à 60 °C</a:t>
            </a:r>
          </a:p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3. Arrêter après 15 min maximum</a:t>
            </a:r>
          </a:p>
          <a:p xmlns:a="http://schemas.openxmlformats.org/drawingml/2006/main"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4. Relire le capteur chaque minute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F003D-83FE-4B9F-938D-8C0E4CFA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34290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1248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Pourquoi ajouter un temps maximum 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C7F82-EDE7-4D7E-81AD-7A2E392F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6792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……………………………………………………</a:t>
            </a:r>
          </a:p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……………………………………………………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960EC-9F19-418C-9EDA-E7D81C29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85875"/>
            <a:ext cx="600075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592C6-5DD7-459A-95C4-AC47D42B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400175"/>
            <a:ext cx="573405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temps ← 0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lire température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 température &lt; …… ALORS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chauffage ← ……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TANT QUE température &lt; …… ET temps &lt; ……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attendre 1 min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temps ← ………………………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………………………………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FIN TANT QUE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chauffage ← ……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SI</a:t>
            </a:r>
          </a:p>
        </p:txBody>
      </p:sp>
    </p:spTree>
    <p:extLst>
      <p:ext uri="{BB962C8B-B14F-4D97-AF65-F5344CB8AC3E}">
        <p14:creationId xmlns:p14="http://schemas.microsoft.com/office/powerpoint/2010/main" val="12513161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B9699-7EA4-4420-B5C2-6F2C2411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E10D9-510E-4DF2-802D-E757624A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Boucle RÉPÉTER : démarrer un onduleur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D1F5C-0A54-4D1F-95EC-DBEA27B0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92565-901A-4B64-9840-73A47851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DO…WHILE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CCF8D-62E6-442E-B73D-8B1F8E19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4be8c9eaf46b0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A6A53-329A-4218-B8AC-303C8D93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64E0C-71F3-4800-B956-A652D8ED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69A70-58EE-484B-A865-AC989F36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D4DDF-937D-4B8B-BC5A-765B703D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8B713-44B7-4EDE-85B2-BAB432AA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95375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Le bloc s’exécute au moins une fois, car le test arrive à la fin.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652BC-92B9-4099-8CD7-CEEBF243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4953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4EEF5-65D4-414D-A78D-9F9DEFA0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09800"/>
            <a:ext cx="46863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PSEUDO-CODE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essais ← 0</a:t>
            </a:r>
          </a:p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RÉPÉTER</a:t>
            </a:r>
          </a:p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………………………………</a:t>
            </a:r>
          </a:p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essais ← ………………………</a:t>
            </a:r>
          </a:p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onduleur_ok ← ………………………</a:t>
            </a:r>
          </a:p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JUSQU’À ……………………… OU ………………………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CDD5F-40A1-4070-8F10-4D910A69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953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FFFE4-0BB9-4CD1-A696-04F14AC2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09800"/>
            <a:ext cx="46863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int essais = 0;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bool onduleurOk = false;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do {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………………………;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………………………;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onduleurOk = ………………………;</a:t>
            </a:r>
          </a:p>
          <a:p xmlns:a="http://schemas.openxmlformats.org/drawingml/2006/main"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} while (……………………… &amp;&amp; ………………………);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F5C73-A99B-41F2-BF1B-5E9EE334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81915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F6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84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Attention : JUSQU’À onduleur_ok correspond à while (!onduleurOk) en C++.</a:t>
            </a:r>
          </a:p>
        </p:txBody>
      </p:sp>
    </p:spTree>
    <p:extLst>
      <p:ext uri="{BB962C8B-B14F-4D97-AF65-F5344CB8AC3E}">
        <p14:creationId xmlns:p14="http://schemas.microsoft.com/office/powerpoint/2010/main" val="4407843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718C45-067E-40B2-A4E4-8D6BD26E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3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6EE93-F087-4EC7-AD66-2916B059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678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Boucle POUR : répéter un nombre connu de fois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52251-3932-43EC-ADD4-2CEA13C3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C341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1F092-603D-4EC2-8C57-399FA45D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B0354-0D3D-4736-9760-E027DA5C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88dddd5574e74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5F00C-B178-4A10-AF1C-815EBF35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17696-DD36-474D-A54B-05541FF8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D85A1-5C2C-4825-9092-77311B47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668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7682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Exemple : acquérir 8 mesures de puissance puis calculer une moyenne pour lisser les variations.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E84F5-C14D-497B-B50A-5436FDE5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4857750" cy="3000375"/>
          </a:xfrm>
          <a:prstGeom xmlns:a="http://schemas.openxmlformats.org/drawingml/2006/main" prst="roundRect">
            <a:avLst>
              <a:gd name="adj" fmla="val 5079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C5042-8544-4194-B813-5BB74D59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14550"/>
            <a:ext cx="4591050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somme ← 0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POUR i DE 1 À 8 FAIRE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lire mesure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somme ← somme + mesure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POUR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moyenne ← somme / 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EDF5A-DC61-4403-8C60-BFCC84A6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4619625" cy="3000375"/>
          </a:xfrm>
          <a:prstGeom xmlns:a="http://schemas.openxmlformats.org/drawingml/2006/main" prst="roundRect">
            <a:avLst>
              <a:gd name="adj" fmla="val 69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08304-3A70-4D22-B9E5-1065D478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C341"/>
          </a:solidFill>
          <a:ln xmlns:a="http://schemas.openxmlformats.org/drawingml/2006/main" w="0">
            <a:solidFill>
              <a:srgbClr val="82C34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4A127-7C39-400F-A64D-0F618D90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6220B-9CF7-446B-A0F1-90D871C7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62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Initialiser somme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A2196-9933-47D0-A30F-C19AED40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C341"/>
          </a:solidFill>
          <a:ln xmlns:a="http://schemas.openxmlformats.org/drawingml/2006/main" w="0">
            <a:solidFill>
              <a:srgbClr val="82C34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7C703-3062-4D1C-ABFB-318A5FA0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DF48D-830C-4AF6-83A7-ACBD8D9E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718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Accumuler 8 mesures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E45FB-0C84-46CE-8201-63F934F1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C341"/>
          </a:solidFill>
          <a:ln xmlns:a="http://schemas.openxmlformats.org/drawingml/2006/main" w="0">
            <a:solidFill>
              <a:srgbClr val="82C34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CFDCE-D2F5-4261-BBF8-53D24368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8891C-A97D-4CC0-9CBD-59D05B80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81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Diviser par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7917F-232C-40C0-8858-6DF2E3A3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EAF6D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188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La variable i compte les répétitions. La variable somme est un accumulateur.</a:t>
            </a:r>
          </a:p>
        </p:txBody>
      </p:sp>
    </p:spTree>
    <p:extLst>
      <p:ext uri="{BB962C8B-B14F-4D97-AF65-F5344CB8AC3E}">
        <p14:creationId xmlns:p14="http://schemas.microsoft.com/office/powerpoint/2010/main" val="18438350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0A0285-9759-4F3D-A826-142145BF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A6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028D9-EBF8-4D31-BF6F-EB7E15C5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347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Exercice 5 : puissance moyenne sur cinq mesures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1DC35-EBE8-4285-8647-F80B8BBC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0D904-B3F8-45B9-B3C3-9ADB2AFE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923A4-508D-421B-881A-2FDDB202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c6ad260754d48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B91AA-9EE4-460D-B1BC-A3690639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49ECE-F719-4AEA-A43E-246B3496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C37D3-EF57-4164-9D42-3803E7A6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A1DD4-03D2-4678-B0A1-A58615E3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D4698-1FFE-42E1-9C00-227D9948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143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E2FCB-3A42-437D-9B28-375D256D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920 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C4465-DE2C-48EF-9E0F-5F1B37CF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381125"/>
            <a:ext cx="1143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A855E-0D2E-4DD1-A4A8-FEF7F097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381125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980 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E4264-F104-4C4C-AA56-91E30B0F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1143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B7D79-6A12-44DB-A427-CF7BBB4F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950 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09BE9-A91C-4135-BC0B-34FC97F3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81125"/>
            <a:ext cx="1143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3D9EB-2897-4C41-A713-75522564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81125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1020 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BA3B1-1B64-4559-9A6D-12635F73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1143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49B16-70A9-416E-A0AD-E937627A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930 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8E110-8484-4599-BE9F-23BE5BD2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3333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Somme = ………………………</a:t>
            </a:r>
          </a:p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Moyenne = ………………………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E9BB2-C170-47AF-A46C-D89D0636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8953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5C7554-4C33-4955-AA7F-5C8F028B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28925"/>
            <a:ext cx="86868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mesures = [920, 980, 950, 1020, 930]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somme = ……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for mesure in ………………………: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somme = ………………………………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moyenne = ………………………………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print(moyenne)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AF02F1-7700-4084-9B41-95243B7E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29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Temps conseillé : 7 min</a:t>
            </a:r>
          </a:p>
        </p:txBody>
      </p:sp>
    </p:spTree>
    <p:extLst>
      <p:ext uri="{BB962C8B-B14F-4D97-AF65-F5344CB8AC3E}">
        <p14:creationId xmlns:p14="http://schemas.microsoft.com/office/powerpoint/2010/main" val="2925439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183C1E-3504-4701-AC4A-82C0007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53117-8D53-445D-B904-684106E8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076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Fonctions et procédures : éviter de répéter le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E9655-9303-4D4F-AD38-C2B67E71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B230F-2E6B-448B-9C2F-0C81BDB7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SOUS-PROGRAMMES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06495-D2AB-4FBD-BD67-E6F74D8C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14bccff964dda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514FE-FF77-4F53-AAE9-3CB2990E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ED202-D4B4-4990-B71D-2AEAD7EE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17599-434F-4921-847F-F3DDFCC4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71B9D-0C5C-4F8C-B2A3-32B3B242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C1020-221D-4322-B1D7-BB0387BF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2619375" cy="1190625"/>
          </a:xfrm>
          <a:prstGeom xmlns:a="http://schemas.openxmlformats.org/drawingml/2006/main" prst="roundRect">
            <a:avLst>
              <a:gd name="adj" fmla="val 17600"/>
            </a:avLst>
          </a:prstGeom>
          <a:solidFill xmlns:a="http://schemas.openxmlformats.org/drawingml/2006/main">
            <a:srgbClr val="DDF6F4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3C858-FC03-4695-8F71-3B937A9F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ENTRÉES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DCE8E-7F08-4626-8AF7-7CF7265D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14525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température</a:t>
            </a:r>
          </a:p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consigne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DCA8D-F6D0-453B-838E-7496A025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38325"/>
            <a:ext cx="53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5EB57-253D-42DE-AF29-C20D0192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2619375" cy="1190625"/>
          </a:xfrm>
          <a:prstGeom xmlns:a="http://schemas.openxmlformats.org/drawingml/2006/main" prst="roundRect">
            <a:avLst>
              <a:gd name="adj" fmla="val 17600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7E9AC-5CDD-4898-9AC3-CF586B98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192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FONCTION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14A61-B808-4288-8097-DFDCF9B8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14525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doit_chauffer()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F368F-2BF4-4840-B11C-503FAB31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38325"/>
            <a:ext cx="53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89222-F7CF-4628-ADC2-C24D28FB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76375"/>
            <a:ext cx="2619375" cy="1190625"/>
          </a:xfrm>
          <a:prstGeom xmlns:a="http://schemas.openxmlformats.org/drawingml/2006/main" prst="roundRect">
            <a:avLst>
              <a:gd name="adj" fmla="val 17600"/>
            </a:avLst>
          </a:prstGeom>
          <a:solidFill xmlns:a="http://schemas.openxmlformats.org/drawingml/2006/main">
            <a:srgbClr val="EAF6DC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25015-A74B-4234-BCC7-22D3C274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2C34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82C341"/>
                </a:solidFill>
                <a:latin typeface="DejaVu Sans"/>
                <a:ea typeface="DejaVu Sans"/>
                <a:cs typeface="DejaVu Sans"/>
              </a:rPr>
              <a:t>SORTIE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30F7E-D668-4EC2-AF60-12874E39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14525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VRAI / FAUX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14BEA-A6F2-44AF-8109-DFDF2B68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81375"/>
            <a:ext cx="9144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55CD0-842E-4C3E-B463-2A41B951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95675"/>
            <a:ext cx="8877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fonction doit_chauffer(………………………, ………………)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retourner …………………………………………</a:t>
            </a:r>
          </a:p>
          <a:p xmlns:a="http://schemas.openxmlformats.org/drawingml/2006/main"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fonction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02267-6F63-4EE0-8EC8-64624527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9525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587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Paramètres : données ………………</a:t>
            </a:r>
          </a:p>
          <a:p xmlns:a="http://schemas.openxmlformats.org/drawingml/2006/main">
            <a:pPr algn="ctr">
              <a:def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Valeur de retour : résultat ………………</a:t>
            </a:r>
          </a:p>
          <a:p xmlns:a="http://schemas.openxmlformats.org/drawingml/2006/main">
            <a:pPr algn="ctr">
              <a:def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Procédure : sous-programme sans résultat 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7014728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CF0B6-DAA2-4D86-9D90-5F8DEF26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82CE7-64AA-43CA-80BB-B5903630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Un même algorithme, deux langages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77E3F-BAD9-424D-B0EB-5349CD64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2355E-980A-4F17-BD7B-CF21BC25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PYTHON / C++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7E0A2-DD94-42DE-8DCC-2C33FF25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08e6d7d874bae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3BD52-44B4-4676-9A61-33618598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5443D-297B-4DC1-A324-4D516134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03CD4-9FDF-4942-A862-C69EB29B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0012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Règle : délester le chauffe-eau si la puissance totale dépasse 6 000 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BD194-051D-47D8-91E0-DA40376A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62125"/>
            <a:ext cx="2190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45F78-1D9D-4DF0-94CD-8FEBF72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62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PSEUDO-CODE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4B65E-A425-4914-A8AE-B527A083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3524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5263A-8630-4400-9DC3-3AB17BA5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47925"/>
            <a:ext cx="3257550" cy="248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 puissance &gt; 6000 ALORS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chauffe_eau ← OFF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SINON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chauffe_eau ← ON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40782-A77D-4F5B-9162-F249CDA3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2190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8A036-C629-4629-BA2D-03F48E7C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PYTHON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50A97-C220-4618-8B8F-D8412F42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524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32583-CC1F-43C4-8F20-72FE866B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47925"/>
            <a:ext cx="3257550" cy="248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if puissance &gt; 6000: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chauffe_eau = False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else: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chauffe_eau = 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19D98-8861-478B-AF17-ECC91AF4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62125"/>
            <a:ext cx="2190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914D6-60A1-4902-8E4F-5A7BFB8F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62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C++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24D09-8B36-4ABA-B6E8-143DF311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3524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496BF-86C2-4929-A2C5-21C793E2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47925"/>
            <a:ext cx="3257550" cy="248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if (puissance &gt; 6000) {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chauffeEau = false;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} else {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chauffeEau = true;</a:t>
            </a:r>
          </a:p>
          <a:p xmlns:a="http://schemas.openxmlformats.org/drawingml/2006/main"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360C8-76AA-45BD-9654-1CF0F55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24500"/>
            <a:ext cx="81915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DDF6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La logique reste identique. La syntaxe et les conventions changent.</a:t>
            </a:r>
          </a:p>
        </p:txBody>
      </p:sp>
    </p:spTree>
    <p:extLst>
      <p:ext uri="{BB962C8B-B14F-4D97-AF65-F5344CB8AC3E}">
        <p14:creationId xmlns:p14="http://schemas.microsoft.com/office/powerpoint/2010/main" val="11259085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50083-04BE-40A9-B5A1-FB7C619B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A6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1261C-4033-4214-8EA0-6C0690EA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Exercice 6 : déboguer le chauffage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0D0F4-03F4-4DC4-AE80-7BE844E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FF7EB-5B50-4A01-A372-4F10854F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DÉBOGAGE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2A094-E6B2-4B1A-8C3A-F959D2D2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4e3d4c8db44b1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BB0F8-CC9F-4FE1-9050-B7EEB4B6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B3EAB-2E44-49F8-A402-28B0F7B1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AD41E-EBF6-4654-9109-D391D5F5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05630-75D4-4021-88DA-2D4BC55F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E429E-B59C-4727-904F-4BC5EA19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0012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Exigence : afficher « Chauffage ON » quand temperature &lt; consigne.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2FF8F-5B00-4BFF-99B6-56D32C0D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953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5AF4B-29A6-4CB5-99B7-8ABC8165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46863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temperature = 18</a:t>
            </a:r>
          </a:p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consigne = 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if temperature &gt; consigne:</a:t>
            </a:r>
          </a:p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print("Chauffage ON")</a:t>
            </a:r>
          </a:p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else</a:t>
            </a:r>
          </a:p>
          <a:p xmlns:a="http://schemas.openxmlformats.org/drawingml/2006/main"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print("Chauffage OFF")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97D9E-2E99-4D24-8C57-FA34D7A4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9530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A19C8-D30B-4E88-A898-53952216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Repérer et corriger 2 erreurs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F158D-BB09-40F1-BC32-73751F75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57500"/>
            <a:ext cx="3905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9405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1. ………………………………………………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2. ………………………………………………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Code corrigé :</a:t>
            </a:r>
          </a:p>
          <a:p xmlns:a="http://schemas.openxmlformats.org/drawingml/2006/main">
            <a:pPr algn="l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…………………………………………………</a:t>
            </a:r>
          </a:p>
          <a:p xmlns:a="http://schemas.openxmlformats.org/drawingml/2006/main">
            <a:pPr algn="l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…………………………………………………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97041-6927-4B51-A33A-06782E5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Conseil : comparer l’exigence, la condition et la syntaxe ligne par ligne.</a:t>
            </a:r>
          </a:p>
        </p:txBody>
      </p:sp>
    </p:spTree>
    <p:extLst>
      <p:ext uri="{BB962C8B-B14F-4D97-AF65-F5344CB8AC3E}">
        <p14:creationId xmlns:p14="http://schemas.microsoft.com/office/powerpoint/2010/main" val="21107959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0E51B8-A103-4465-A6E3-C2731229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3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CB249-2CB0-43B6-8F7E-05EB0E6D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Tester avec une table de traces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6475B-2A38-4E00-A696-6D9E3A1F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C341"/>
          </a:solidFill>
          <a:ln xmlns:a="http://schemas.openxmlformats.org/drawingml/2006/main" w="9525">
            <a:solidFill>
              <a:srgbClr val="82C34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BCE7D-9632-43C1-8DF6-F8994BC4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9A294-F5E5-4E3D-8563-419454DC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3b0e896324cfd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D72DB-99E7-41FD-A464-111C0BF9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D796B-82D4-483E-8D94-2E3E96FE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8226F-88FA-490B-9180-6FC3BEC6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D7D2C-B955-4029-9487-51882989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3F26C-D0DB-47CE-A0EF-5BBD751E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0477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Exigence : chauffage ON si temperature &lt; 19 °C.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CA0CB-CA5E-46F3-A2FD-A40C43F0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5A3F6-6DAF-4CED-9760-A04C2059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F1F4D-A914-49D3-9F4A-D129C32C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097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875AF-8797-44C3-BFA2-54B108E7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09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Température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54579-F8ED-4C72-B35E-D4C30670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EC3CF-BAB7-4B9F-938A-2A4D5A05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Condition T &lt; 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ED4BD-C4C6-4D65-9F5A-64FCF2A9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5CE38-0D4C-4AB0-AA11-F4BE19A4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Sortie attendue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CB6B9-55A6-4F0A-BC82-638A431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7B7936-B3F3-4C43-A165-8A0A1D39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Pourquoi 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60A1B-8B2E-43CF-8F7A-0317FB3D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622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BEEB0-FA8D-4165-9A13-FFC7184E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622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Normal bas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2A1C2-87D9-4AC0-A7C9-5B88F88A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6220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24EE4C-4725-4FFC-A788-CABDDE85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622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18 °C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BDAD4F-A526-4FE4-A03B-FF497317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6220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77AF1-FD4F-4DF3-A1BE-FB856282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622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9FDB4C-0BBC-4181-A861-53472C2C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622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3376A6-C136-4865-B7EC-AB3C8964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622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5FD70A-519B-4DB6-A36E-79FCE176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6220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8B0142-69A5-4936-836C-285E8CEB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622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8263B9-1EA3-4D9C-ACC6-6F384DF1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7E4BAF-2DA9-48BE-B721-4E38D604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Limite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890AD3-0C08-4D2C-A06C-3EF2FBF3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4325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192F6E-B14B-4DA7-885C-B59C3593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432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19 °C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A501CF-EEB2-463D-90A2-4ADF16BA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ABA9A0-B15A-438F-8976-3C7E11ED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BE85C2-F529-48C2-8E81-74AFA6D8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432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AF63E7-3D3A-46C7-BB15-39DCADC7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43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9E85B0-7E6B-4779-9E63-2EF5E92B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5F2E91-C016-4757-9AB7-20C03743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68C6A2-433B-4F33-ADAB-89A7A047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A3D3C8-5B02-4511-A1BD-123CEA9D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Normal haut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518BDB-6FA0-4332-9AE1-B66AF84F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2430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8278FE-1871-4C69-B455-5A369A77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243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21 °C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F693D5-DF34-4CFD-A63B-E40D5BB8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2430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A03B0A-05BE-42C6-ACEC-2B7735AC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243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029951-DAA7-4EF8-AD99-DC35A143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243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CADBBB-A255-4858-BAE3-AC9FD67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243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281FA4-1D4B-4D7F-8F19-0C7FE25F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2430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E5EEFF-6795-4FD6-B6B6-C37DB360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243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24A7A1-7BA4-4500-9629-2D9495F5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91125"/>
            <a:ext cx="7905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6D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Toujours tester la valeur limite : elle révèle les erreurs entre &lt; et ≤.</a:t>
            </a:r>
          </a:p>
        </p:txBody>
      </p:sp>
    </p:spTree>
    <p:extLst>
      <p:ext uri="{BB962C8B-B14F-4D97-AF65-F5344CB8AC3E}">
        <p14:creationId xmlns:p14="http://schemas.microsoft.com/office/powerpoint/2010/main" val="11307187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12D6E-AC8E-47D8-BA80-88BC0560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25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EBB46-A25F-4626-A224-F64500D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Mini-défi pratique : gestion photovoltaïque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B2C56-D971-4D20-B4BC-AB2B14A3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4256"/>
          </a:solidFill>
          <a:ln xmlns:a="http://schemas.openxmlformats.org/drawingml/2006/main" w="9525">
            <a:solidFill>
              <a:srgbClr val="E942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A96D8-F47E-47B9-9114-7F3A8F58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MISE EN PRATIQUE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18C9C-A1C8-429B-8D25-54CEBFBC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ab6c095004d60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F0444-CF96-4413-8879-31A6AF32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7014A-F15F-48D0-8311-ED169FCB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B0582-91D7-4955-9EA2-67B5E13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EC967-50AB-4C2F-8378-42F00131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AC543-D16E-447C-A9F4-084BE896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3714750" cy="495300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425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662F3-C7ED-4D44-A999-656CA82B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425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E94256"/>
                </a:solidFill>
                <a:latin typeface="DejaVu Sans"/>
                <a:ea typeface="DejaVu Sans"/>
                <a:cs typeface="DejaVu Sans"/>
              </a:rPr>
              <a:t>20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19EA0-4A91-4656-9957-EFF490D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Entrées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8F2FA-50DD-42C1-8FB8-26E852B5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production, besoin, soc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F83E8-8EE1-4056-8825-9D14D068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Sorties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0C56E-32DB-4FF9-98F8-7E4CBFA5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charge, decharge, reseau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F7E5C-50C2-404B-BB55-3E77D587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Règles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5653B-A103-4589-845A-664C6106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charger : surplus et SOC &lt; 95%</a:t>
            </a:r>
          </a:p>
          <a:p xmlns:a="http://schemas.openxmlformats.org/drawingml/2006/main">
            <a:pPr algn="l">
              <a:defRPr sz="120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décharger : déficit et SOC &gt; 20%</a:t>
            </a:r>
          </a:p>
          <a:p xmlns:a="http://schemas.openxmlformats.org/drawingml/2006/main">
            <a:pPr algn="l">
              <a:defRPr sz="120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sinon : compléter par le réseau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BA10C-6BA1-403C-950F-F1CE28E9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7870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9425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E94256"/>
                </a:solidFill>
                <a:latin typeface="DejaVu Sans"/>
                <a:ea typeface="DejaVu Sans"/>
                <a:cs typeface="DejaVu Sans"/>
              </a:rPr>
              <a:t>Livrables : algorithme + code + 4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16754-20D1-49D8-9882-9FE28E4D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85875"/>
            <a:ext cx="6858000" cy="4333875"/>
          </a:xfrm>
          <a:prstGeom xmlns:a="http://schemas.openxmlformats.org/drawingml/2006/main" prst="roundRect">
            <a:avLst>
              <a:gd name="adj" fmla="val 3516"/>
            </a:avLst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101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ADC89-BEFD-48BE-AC1E-FAA30277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00175"/>
            <a:ext cx="6591300" cy="410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def gerer_energie(production, besoin, soc):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surplus = ………………………………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charge = ………………………………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decharge = ………………………………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reseau = ………………………………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return …………………………………………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# prévoir 4 tests :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# 1. surplus avec batterie disponible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# 2. déficit avec batterie disponible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# 3. déficit avec batterie trop faible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# 4. production égale au besoin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74FED-BAFE-4E11-A93D-1BFD5B8F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762625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8012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Critère de réussite : aucun ordre contradictoire et quatre scénarios validés.</a:t>
            </a:r>
          </a:p>
        </p:txBody>
      </p:sp>
    </p:spTree>
    <p:extLst>
      <p:ext uri="{BB962C8B-B14F-4D97-AF65-F5344CB8AC3E}">
        <p14:creationId xmlns:p14="http://schemas.microsoft.com/office/powerpoint/2010/main" val="16691130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85B07-40AE-4C29-92D1-67414A83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6DE7A-F508-4D43-BEB1-A8047760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Ce que je dois retenir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8A75D-6A88-4803-B6B6-7C152F97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7D577-D983-4614-A9E5-9B5E0830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ESSENTIEL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4DC6B-C50B-4A36-8900-C8C71DF3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4054652134004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0D50E-61F0-44D2-B4EC-57C640D6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0FDFE-FC38-4D1B-AFE0-5F4F2F95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79A2C-9247-4AD1-8659-FF6E1D0C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31D7E-C589-46CE-A004-CC4C70DD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F84C9-EFD7-4E45-A6D0-1EB41919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43000"/>
            <a:ext cx="1019175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321D1-EA8B-4CE1-BA02-118B3153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192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1. Un algorithme décrit une solution ……………………… du langage.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45756-EDEF-40F4-ABD0-E2D6E1D2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24050"/>
            <a:ext cx="1019175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F0E1F-0B14-4CD0-B74B-00C5185C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2. L’algorigramme représente ………………, ……………… et sens d’exécution.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819E9-9418-45FE-9CFB-B51D283C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05100"/>
            <a:ext cx="1019175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023BD-43B0-4C72-AD55-455B8060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3. SI choisit une …………… . WHILE, DO…WHILE et FOR …………… 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61F63-4E62-4EEE-A638-1EA01A5C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86150"/>
            <a:ext cx="1019175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50322-FA2A-4AB2-A08D-95D2CC1D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4. Une fonction reçoit des …………… et peut retourner une …………… 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6D9A3-CC60-4B25-BBB4-21D3C977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67200"/>
            <a:ext cx="1019175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5F442-360C-47E5-B45F-28D8B183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5. Python et C++ traduisent la même …………… avec des syntaxes différentes.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EF72F-8FD6-4B84-8487-12307EA5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48250"/>
            <a:ext cx="10191750" cy="59055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35DF5-FC31-4342-9F2F-CBBD3177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6. Un test pertinent couvre les cas normaux, …………… et erreurs.</a:t>
            </a:r>
          </a:p>
        </p:txBody>
      </p:sp>
    </p:spTree>
    <p:extLst>
      <p:ext uri="{BB962C8B-B14F-4D97-AF65-F5344CB8AC3E}">
        <p14:creationId xmlns:p14="http://schemas.microsoft.com/office/powerpoint/2010/main" val="7443220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0E3E74-FCDD-43A2-B429-8EFBCFC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A6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8C6F1-56A1-4696-80BB-75D2783C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Quiz de fin de cours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1FE68-11FC-445C-B754-C4BBF364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69E41-84EE-45E9-AEB9-9533A71B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AUTOÉVALUATION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177BD-C812-459A-9030-5AA78CAD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1ec0ecb2745c9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211B2-39A3-40E2-A425-F6569E43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B9F56-7C39-4EC2-9F09-9369BCBF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439B9-9B1D-4E1D-91FE-A3BEED73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A600"/>
          </a:solidFill>
          <a:ln xmlns:a="http://schemas.openxmlformats.org/drawingml/2006/main" w="9525">
            <a:solidFill>
              <a:srgbClr val="F7A6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A8FFC-B36B-4EA6-9C99-6AA801A9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1B018-9802-47B2-9773-A3A1EBFE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10858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162B0-22C2-4D88-BB13-F71B1784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4000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8A123-3124-4D8D-9685-CA4CDA7E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33370-6CB9-4B74-8568-5E8DB64D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1715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Quelle boucle choisir pour exactement 10 mesures 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2C98F-1005-4207-BCA9-70492E30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85900"/>
            <a:ext cx="828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rPr>
              <a:t>A  WHILE    B  FOR    C  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FF06B-3547-436D-B645-76FEE4A1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858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75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Réponse : ……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E5AA0-9A36-4DCE-97CF-EBCBBCE9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10858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6B20D-99FD-4CDC-A1E5-FD7E8883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4000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D8588-818E-410A-9950-EB69D5A9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719F0-8C8E-4990-8D06-12DB2047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050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Quel opérateur Python signifie « égal à » 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AD1FF-BB02-4BC5-8A96-A794843C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19350"/>
            <a:ext cx="828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rPr>
              <a:t>A  =    B  ==    C  !=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24520-73E9-402E-94B8-BEA5F61B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193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75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Réponse : ……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969F2-0FE9-4196-88BE-93D07F76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10858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47EF3-E23C-4C24-8B39-10ACB79B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4000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E6E72A-D643-4B9D-9866-F38A5EDA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42FE8F-A1D1-4F70-875E-1E528448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384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Un test d’algorigramme possède combien de sorties 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3BCFB-6D3F-439E-BE7D-9A15B31E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28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rPr>
              <a:t>A  1    B  2    C 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121EC-271F-41D5-B89D-A5728DB3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527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75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Réponse : ……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C4A0C-C4BF-43F3-ADEB-CE3A4751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10858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DB37F5-6FBF-44CE-BF1A-DC75A455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4000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5E6BB7-F29C-4BF4-9D29-BFAE037E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D125B4-9E52-4DC5-92A9-10D449F6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719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Quel cas vérifie le mieux la limite puissance &gt; 6 000 W 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D1C13B-13E7-41E3-9FE3-981FB151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0"/>
            <a:ext cx="828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rPr>
              <a:t>A  5000    B  6000    C  8000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6856C9-0F67-41E4-8517-3A4AB26A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862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75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Réponse : ……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A3563B-BF00-499B-A01F-93B39310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0858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2CF0B7-C120-480D-BBDF-DD2E6FCF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9675"/>
            <a:ext cx="4000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5D9A1E-65A5-48F8-9167-F098A8F1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96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590E34-AF7D-41B0-8198-AA79D4AC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053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Pourquoi relire un capteur dans une boucle WHILE 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4AB92A-ABA1-4663-BDC8-957EFA6C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19700"/>
            <a:ext cx="828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rPr>
              <a:t>A  actualiser la condition    B  ralentir    C  changer de type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934E5D-6692-4092-BE5D-5C4C62CA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19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875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Réponse : ……</a:t>
            </a:r>
          </a:p>
        </p:txBody>
      </p:sp>
    </p:spTree>
    <p:extLst>
      <p:ext uri="{BB962C8B-B14F-4D97-AF65-F5344CB8AC3E}">
        <p14:creationId xmlns:p14="http://schemas.microsoft.com/office/powerpoint/2010/main" val="19608116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18992-6564-4801-8706-E9904492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CA4DB-6E1A-440E-9C92-0F6A27A4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Applications EE pour aller plus loin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78FB9-F9DE-4C17-8B58-0FC7DEBB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BB539-1C0B-4170-AD49-AF36F5DF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OUVERTURE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39FCC-1F2D-41C3-B0E9-F660F2E7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cb69e686f474f"/>
          <a:stretch xmlns:a="http://schemas.openxmlformats.org/drawingml/2006/main"/>
        </p:blipFill>
        <p:spPr>
          <a:xfrm xmlns:a="http://schemas.openxmlformats.org/drawingml/2006/main">
            <a:off x="538299" y="6486525"/>
            <a:ext cx="1418953" cy="31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4F176-C17A-489E-85E0-24CE52BA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15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7A591-5A2C-40A9-B775-7E459299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98B74-B8CE-4353-8BB2-83578DDF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858500" cy="2143125"/>
          </a:xfrm>
          <a:prstGeom xmlns:a="http://schemas.openxmlformats.org/drawingml/2006/main" prst="roundRect">
            <a:avLst>
              <a:gd name="adj" fmla="val 9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212EE-78CF-4E18-97A5-86CB04F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À l’échelle d’un équipement ou d’un bâtiment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D0655-4439-490E-A88A-0462C84D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Optimiser une pompe à chaleur, piloter une borne de recharge, suivre les consommations, limiter une pointe de puissance ou valoriser une production photovoltaïque.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AAC8C-2557-41FC-9CEF-4636759F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1762125"/>
          </a:xfrm>
          <a:prstGeom xmlns:a="http://schemas.openxmlformats.org/drawingml/2006/main" prst="roundRect">
            <a:avLst>
              <a:gd name="adj" fmla="val 118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5A5B7-7982-4A19-88D0-B1775DAD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À l’échelle d’un réseau ou d’un territoire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1C8B0-B264-4608-99CD-072364A7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81500"/>
            <a:ext cx="1014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Comparer des scénarios de stockage, coordonner production et consommation, récupérer une énergie disponible et vérifier les performances par simulation et expérimentation.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777FC-2BAE-45CA-97AA-1580EABF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57150" tIns="38100" rIns="57150" bIns="38100" anchor="t">
            <a:normAutofit fontScale="9304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Méthode commune : mesurer → modéliser → décider → tester → améliorer</a:t>
            </a:r>
          </a:p>
        </p:txBody>
      </p:sp>
    </p:spTree>
    <p:extLst>
      <p:ext uri="{BB962C8B-B14F-4D97-AF65-F5344CB8AC3E}">
        <p14:creationId xmlns:p14="http://schemas.microsoft.com/office/powerpoint/2010/main" val="1675359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2026-09-17T04:38:01.8670000Z</dcterms:created>
  <dcterms:modified xsi:type="dcterms:W3CDTF">2026-09-17T04:38:01.8670000Z</dcterms:modified>
</coreProperties>
</file>