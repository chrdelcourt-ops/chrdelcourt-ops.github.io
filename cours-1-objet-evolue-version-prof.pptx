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5 min. Présenter la séance et insister sur le lien avec les objets du quotidien.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5 min. Montrer que le cours répond à O2, CO2.1 et CO2.2.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parler 4 à 5 élèves. Noter au tableau : besoin, usage, contrainte,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compléter les mots manquants : besoin, services, usages, contraintes, solution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7 min. Réponses attendues : énergie électrique, batterie, moteur, capteur, commande, coût, masse.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10 min. Faire donner un exemple par moteur : smartphone, trottinette, voiture, lampe, aspirateur.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6 min. Échange rapide. Faire identifier besoins/usages et solutions techniques.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le lien avec CO2.1. Donner un critère mesurable : autonomie, masse, coût, rendement, bruit.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7 min. Insister : invention ≠ innovation. Une innovation rencontre un usage ou un marché.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chercher d’autres compromis : puissance/bruit, poids/résistance, prix/qualité, autonomie/masse.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repérer M/E/I sur le vélo électrique.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Étude de cas inspirée de ressources pédagogiques Éduscol sur robot aspirateur.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Circuler et aider les binômes à formuler un compromis.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8 min. Faire corriger au tableau et forcer la formulation des compromis.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7 min. Faire citer batteries, matériaux, réparabilité, recyclage.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10 min. Préparer la restitution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10 à 12 min. Interroger quelques groupes et corriger les formulations.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5 min. Faire copier la méthode et rappeler qu’elle sera réutilisée en activité/projet.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 : 5 min. Faire recopier la synthèse complète.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30352"/>
            <a:ext cx="3657600" cy="8138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874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7A93"/>
                </a:solidFill>
              </a:rPr>
              <a:t>1re STI2D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685800" y="2331720"/>
            <a:ext cx="621792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Comment un objet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évolue-t-il ?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13232" y="37033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Cours dialogué • durée conseillée : 1 h 30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13232" y="4160520"/>
            <a:ext cx="57150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3B55"/>
                </a:solidFill>
              </a:rPr>
              <a:t>VERSION PROFESSEUR : cours complet, réponses et corrigés intégrés.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3232" y="48006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7323A"/>
                </a:solidFill>
              </a:rPr>
              <a:t>Besoin → Usage → Cahier des charges → Innovation → Compromis → MEI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0" y="1188720"/>
            <a:ext cx="3566160" cy="530352"/>
          </a:xfrm>
          <a:prstGeom prst="rect">
            <a:avLst/>
          </a:prstGeom>
          <a:solidFill>
            <a:srgbClr val="00A7C8"/>
          </a:solidFill>
          <a:ln>
            <a:solidFill>
              <a:srgbClr val="00A7C8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Objet technique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0" y="2057400"/>
            <a:ext cx="1554480" cy="822960"/>
          </a:xfrm>
          <a:prstGeom prst="rect">
            <a:avLst/>
          </a:prstGeom>
          <a:solidFill>
            <a:srgbClr val="FFC20E"/>
          </a:solidFill>
          <a:ln>
            <a:solidFill>
              <a:srgbClr val="FFC20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323A"/>
                </a:solidFill>
              </a:rPr>
              <a:t>Besoin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27323A"/>
                </a:solidFill>
              </a:rPr>
              <a:t>Usage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326880" y="2057400"/>
            <a:ext cx="1737360" cy="822960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Innovation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973568" y="3429000"/>
            <a:ext cx="2377440" cy="1097280"/>
          </a:xfrm>
          <a:prstGeom prst="rect">
            <a:avLst/>
          </a:prstGeom>
          <a:solidFill>
            <a:srgbClr val="C9D500"/>
          </a:solidFill>
          <a:ln>
            <a:solidFill>
              <a:srgbClr val="C9D50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323A"/>
                </a:solidFill>
              </a:rPr>
              <a:t>Matière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7323A"/>
                </a:solidFill>
              </a:rPr>
              <a:t>Énergie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7323A"/>
                </a:solidFill>
              </a:rPr>
              <a:t>Information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Objectifs de la séance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OBJECTIFS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2/20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1508760"/>
            <a:ext cx="80467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À la fin de la séance, je dois être capable de :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2148840"/>
            <a:ext cx="3200400" cy="96012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1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Expliquer pourquoi un objet technique évolue.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480560" y="2148840"/>
            <a:ext cx="3200400" cy="96012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2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Relier une évolution à un besoin, un usage, une contrainte ou une innovation.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8229600" y="2148840"/>
            <a:ext cx="3200400" cy="96012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3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Identifier ce qui change dans Matière – Énergie – Information.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51560" y="3977640"/>
            <a:ext cx="9966960" cy="91440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À faire écrire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Cette séance sert à comprendre comment et pourquoi les objets techniques changent dans le temps.</a:t>
            </a:r>
            <a:endParaRPr lang="en-US" sz="1530" dirty="0"/>
          </a:p>
        </p:txBody>
      </p:sp>
      <p:sp>
        <p:nvSpPr>
          <p:cNvPr id="13" name="Text 10"/>
          <p:cNvSpPr/>
          <p:nvPr/>
        </p:nvSpPr>
        <p:spPr>
          <a:xfrm>
            <a:off x="1051560" y="5303520"/>
            <a:ext cx="9875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Consigne de classe : les élèves écrivent les encadrés « À ÉCRIRE » et complètent les blancs.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demande le programme officiel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REPÈRE BO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3/20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508760"/>
            <a:ext cx="4663440" cy="10058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Objectif O2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Identifier les éléments influents du développement d’un produit.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663440" cy="10972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27323A"/>
                </a:solidFill>
              </a:rPr>
              <a:t>CO2.1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27323A"/>
                </a:solidFill>
              </a:rPr>
              <a:t>Décoder le cahier des charges d’un produit, participer, si besoin, à sa modification.</a:t>
            </a:r>
            <a:endParaRPr lang="en-US" sz="1620" dirty="0"/>
          </a:p>
        </p:txBody>
      </p:sp>
      <p:sp>
        <p:nvSpPr>
          <p:cNvPr id="10" name="Text 7"/>
          <p:cNvSpPr/>
          <p:nvPr/>
        </p:nvSpPr>
        <p:spPr>
          <a:xfrm>
            <a:off x="777240" y="4114800"/>
            <a:ext cx="4663440" cy="96012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27323A"/>
                </a:solidFill>
              </a:rPr>
              <a:t>CO2.2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27323A"/>
                </a:solidFill>
              </a:rPr>
              <a:t>Évaluer la compétitivité d’un produit d’un point de vue technique et économique.</a:t>
            </a:r>
            <a:endParaRPr lang="en-US" sz="1620" dirty="0"/>
          </a:p>
        </p:txBody>
      </p:sp>
      <p:sp>
        <p:nvSpPr>
          <p:cNvPr id="11" name="Text 8"/>
          <p:cNvSpPr/>
          <p:nvPr/>
        </p:nvSpPr>
        <p:spPr>
          <a:xfrm>
            <a:off x="6126480" y="1600200"/>
            <a:ext cx="4846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Dans ce cours, on ne décrit pas seulement un objet : on cherche les raisons de son évolution.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26480" y="2834640"/>
            <a:ext cx="48463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7323A"/>
                </a:solidFill>
              </a:rPr>
              <a:t>On mobilise : besoin, fonctions, cahier des charges, contraintes, innovation, coût, impact environnemental et approche Matière – Énergie – Information.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2648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Référence : BO spécial n°1 du 22 janvier 2019, programme STI2D cycle terminal.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de départ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ÉCHANGE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4/20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23A"/>
                </a:solidFill>
              </a:rPr>
              <a:t>Prenez un objet que vous utilisez tous les jours.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6675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7A93"/>
                </a:solidFill>
              </a:rPr>
              <a:t>Qu’est-ce qui a changé en 10, 20 ou 30 ans ?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822960" y="2880360"/>
            <a:ext cx="3383280" cy="987552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Téléphone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Taille • écran • photo • connexion • applications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480560" y="2880360"/>
            <a:ext cx="3383280" cy="987552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Voiture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Sécurité • consommation • assistance • énergie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138160" y="2880360"/>
            <a:ext cx="3383280" cy="987552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Aspirateur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Puissance • autonomie • robotisation • capteurs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4754880"/>
            <a:ext cx="9875520" cy="86868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Réponses possibles : smartphone → écran tactile / applications ; voiture → aides à la conduite ; aspirateur → robot aspirateur avec capteurs.</a:t>
            </a:r>
            <a:endParaRPr lang="en-US" sz="15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Produit, besoin et usage : le point de départ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5/20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508760"/>
            <a:ext cx="3200400" cy="10058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BESOIN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Ce que l’utilisateur cherche à satisfaire.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80560" y="1508760"/>
            <a:ext cx="3200400" cy="10058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FONCTION / SERVICE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Ce que le produit doit rendre possible.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1508760"/>
            <a:ext cx="3200400" cy="100584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SOLUTION TECHNIQUE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La manière concrète dont la fonction est réalisée.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14400" y="3154680"/>
            <a:ext cx="10287000" cy="150876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TRACE ÉCRITE N°1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 produit technique répond à un besoin et rend un ou plusieurs services.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Il évolue lorsque les usages, les contraintes ou les solutions techniques changent.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La fonction principale peut rester la même alors que la solution technique évolue.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914400" y="5074920"/>
            <a:ext cx="102870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7323A"/>
                </a:solidFill>
              </a:rPr>
              <a:t>Exemple : le besoin « se déplacer » reste le même, mais les solutions vélo → vélo électrique modifient énergie, masse et coût.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évolution se lit dans une lignée de produits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ÉCHANGE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6/20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98755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Une lignée de produits compare plusieurs objets qui répondent au même besoin.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2286000"/>
            <a:ext cx="150876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Vélo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classique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2404872" y="2679192"/>
            <a:ext cx="685800" cy="0"/>
          </a:xfrm>
          <a:prstGeom prst="line">
            <a:avLst/>
          </a:prstGeom>
          <a:noFill/>
          <a:ln w="2159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017520" y="2286000"/>
            <a:ext cx="1508760" cy="7772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VTT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4599432" y="2679192"/>
            <a:ext cx="685800" cy="0"/>
          </a:xfrm>
          <a:prstGeom prst="line">
            <a:avLst/>
          </a:prstGeom>
          <a:noFill/>
          <a:ln w="2159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212080" y="2286000"/>
            <a:ext cx="150876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Vélo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pliable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793992" y="2679192"/>
            <a:ext cx="685800" cy="0"/>
          </a:xfrm>
          <a:prstGeom prst="line">
            <a:avLst/>
          </a:prstGeom>
          <a:noFill/>
          <a:ln w="2159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406640" y="2286000"/>
            <a:ext cx="1508760" cy="7772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Vélo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électrique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988552" y="2679192"/>
            <a:ext cx="685800" cy="0"/>
          </a:xfrm>
          <a:prstGeom prst="line">
            <a:avLst/>
          </a:prstGeom>
          <a:noFill/>
          <a:ln w="21590">
            <a:solidFill>
              <a:srgbClr val="666666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601200" y="2286000"/>
            <a:ext cx="150876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VAE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27323A"/>
                </a:solidFill>
              </a:rPr>
              <a:t>connecté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60120" y="4069080"/>
            <a:ext cx="10058400" cy="77724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À faire écrire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Une lignée de produits montre l’évolution des solutions techniques qui répondent à un même besoin.</a:t>
            </a:r>
            <a:endParaRPr lang="en-US" sz="1530" dirty="0"/>
          </a:p>
        </p:txBody>
      </p:sp>
      <p:sp>
        <p:nvSpPr>
          <p:cNvPr id="19" name="Text 16"/>
          <p:cNvSpPr/>
          <p:nvPr/>
        </p:nvSpPr>
        <p:spPr>
          <a:xfrm>
            <a:off x="960120" y="516636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7A93"/>
                </a:solidFill>
              </a:rPr>
              <a:t>Question : qu’est-ce qui change entre un vélo classique et un vélo électrique ?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 grands moteurs de l’évolution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7/20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2880360" cy="82296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Besoins &amp; usages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attentes, accessibilité, nouveaux usages</a:t>
            </a:r>
            <a:endParaRPr lang="en-US" sz="1480" dirty="0"/>
          </a:p>
        </p:txBody>
      </p:sp>
      <p:sp>
        <p:nvSpPr>
          <p:cNvPr id="9" name="Text 6"/>
          <p:cNvSpPr/>
          <p:nvPr/>
        </p:nvSpPr>
        <p:spPr>
          <a:xfrm>
            <a:off x="4160520" y="1417320"/>
            <a:ext cx="2880360" cy="82296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Progrès techniques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capteurs, matériaux, calcul, réseaux</a:t>
            </a:r>
            <a:endParaRPr lang="en-US" sz="1480" dirty="0"/>
          </a:p>
        </p:txBody>
      </p:sp>
      <p:sp>
        <p:nvSpPr>
          <p:cNvPr id="10" name="Text 7"/>
          <p:cNvSpPr/>
          <p:nvPr/>
        </p:nvSpPr>
        <p:spPr>
          <a:xfrm>
            <a:off x="7589520" y="1417320"/>
            <a:ext cx="2880360" cy="82296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Économie &amp; concurrence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prix, coût, marché, différenciation</a:t>
            </a:r>
            <a:endParaRPr lang="en-US" sz="148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2880360" cy="82296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Environnement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énergie, ressources, réparabilité, fin de vie</a:t>
            </a:r>
            <a:endParaRPr lang="en-US" sz="1480" dirty="0"/>
          </a:p>
        </p:txBody>
      </p:sp>
      <p:sp>
        <p:nvSpPr>
          <p:cNvPr id="12" name="Text 9"/>
          <p:cNvSpPr/>
          <p:nvPr/>
        </p:nvSpPr>
        <p:spPr>
          <a:xfrm>
            <a:off x="4160520" y="2743200"/>
            <a:ext cx="2880360" cy="82296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Normes &amp; sécurité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lois, normes, responsabilité</a:t>
            </a:r>
            <a:endParaRPr lang="en-US" sz="1480" dirty="0"/>
          </a:p>
        </p:txBody>
      </p:sp>
      <p:sp>
        <p:nvSpPr>
          <p:cNvPr id="13" name="Text 10"/>
          <p:cNvSpPr/>
          <p:nvPr/>
        </p:nvSpPr>
        <p:spPr>
          <a:xfrm>
            <a:off x="7589520" y="2743200"/>
            <a:ext cx="2880360" cy="82296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Ergonomie &amp; design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confort, simplicité, image</a:t>
            </a:r>
            <a:endParaRPr lang="en-US" sz="1480" dirty="0"/>
          </a:p>
        </p:txBody>
      </p:sp>
      <p:sp>
        <p:nvSpPr>
          <p:cNvPr id="14" name="Text 11"/>
          <p:cNvSpPr/>
          <p:nvPr/>
        </p:nvSpPr>
        <p:spPr>
          <a:xfrm>
            <a:off x="2788920" y="4069080"/>
            <a:ext cx="2880360" cy="82296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Société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27323A"/>
                </a:solidFill>
              </a:rPr>
              <a:t>modes de vie, infrastructures, culture</a:t>
            </a:r>
            <a:endParaRPr lang="en-US" sz="1480" dirty="0"/>
          </a:p>
        </p:txBody>
      </p:sp>
      <p:sp>
        <p:nvSpPr>
          <p:cNvPr id="15" name="Text 12"/>
          <p:cNvSpPr/>
          <p:nvPr/>
        </p:nvSpPr>
        <p:spPr>
          <a:xfrm>
            <a:off x="960120" y="5303520"/>
            <a:ext cx="10058400" cy="68580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TRACE ÉCRITE N°2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 produit évolue rarement pour une seule raison : plusieurs facteurs se combinent.</a:t>
            </a:r>
            <a:endParaRPr lang="en-US" sz="1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Exemple : pourquoi le smartphone a-t-il autant évolué ?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EXEMPLE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8/20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Même objet de départ : communiquer. Mais les usages ont explosé.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74320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Photo / vidéo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nouvel usage majeur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617720" y="2148840"/>
            <a:ext cx="2743200" cy="7772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Navigation GPS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service intégré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321040" y="2148840"/>
            <a:ext cx="274320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Paiement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sécurité + NFC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4400" y="3429000"/>
            <a:ext cx="2743200" cy="7772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Écran tactile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ergonomie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4617720" y="3429000"/>
            <a:ext cx="2743200" cy="77724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Réseaux sociaux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connexion permanente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321040" y="3429000"/>
            <a:ext cx="2743200" cy="77724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Batterie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compromis autonomie / masse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4400" y="5074920"/>
            <a:ext cx="10104120" cy="77724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Correction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Le smartphone évolue parce que les usages des utilisateurs changent et parce que les solutions techniques progressent.</a:t>
            </a:r>
            <a:endParaRPr lang="en-US" sz="15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 besoin au cahier des charges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9/20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Un objet évolue quand le cahier des charges change ou quand une meilleure solution apparaît.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2240280"/>
            <a:ext cx="1828800" cy="68580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Besoin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2862072" y="2578608"/>
            <a:ext cx="62179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520440" y="2240280"/>
            <a:ext cx="18288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Exigences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5422392" y="2578608"/>
            <a:ext cx="62179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6080760" y="2240280"/>
            <a:ext cx="18288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Critères</a:t>
            </a:r>
            <a:endParaRPr lang="en-US" sz="1750" dirty="0"/>
          </a:p>
          <a:p>
            <a:pPr algn="ctr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mesurables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82712" y="2578608"/>
            <a:ext cx="621792" cy="0"/>
          </a:xfrm>
          <a:prstGeom prst="line">
            <a:avLst/>
          </a:prstGeom>
          <a:noFill/>
          <a:ln w="190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8641080" y="2240280"/>
            <a:ext cx="18288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Solutions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60120" y="3474720"/>
            <a:ext cx="9784080" cy="68580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27323A"/>
                </a:solidFill>
              </a:rPr>
              <a:t>Exemple vélo électrique : autonomie ≥ 60 km • masse ≤ 25 kg • prix cible • temps de recharge • freinage • réparabilité</a:t>
            </a:r>
            <a:endParaRPr lang="en-US" sz="1630" dirty="0"/>
          </a:p>
        </p:txBody>
      </p:sp>
      <p:sp>
        <p:nvSpPr>
          <p:cNvPr id="17" name="Text 14"/>
          <p:cNvSpPr/>
          <p:nvPr/>
        </p:nvSpPr>
        <p:spPr>
          <a:xfrm>
            <a:off x="960120" y="4892040"/>
            <a:ext cx="9875520" cy="86868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TRACE ÉCRITE N°3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Le cahier des charges traduit le besoin en exigences et critères vérifiables. Son évolution peut entraîner une nouvelle solution technique.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Lien BO : CO2.1.</a:t>
            </a:r>
            <a:endParaRPr lang="en-US" sz="15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: plusieurs formes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ÉCHANGE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10/20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554480"/>
            <a:ext cx="4846320" cy="1170432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Innovation de produit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Produit nouveau ou sensiblement amélioré.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Ex. lampe connectée.</a:t>
            </a:r>
            <a:endParaRPr lang="en-US" sz="1660" dirty="0"/>
          </a:p>
        </p:txBody>
      </p:sp>
      <p:sp>
        <p:nvSpPr>
          <p:cNvPr id="9" name="Text 6"/>
          <p:cNvSpPr/>
          <p:nvPr/>
        </p:nvSpPr>
        <p:spPr>
          <a:xfrm>
            <a:off x="6172200" y="1554480"/>
            <a:ext cx="4846320" cy="11704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Innovation de procédé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Nouvelle manière de fabriquer.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Ex. impression 3D.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4846320" cy="1170432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Innovation marketing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Nouvelle présentation, vente ou usage.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Ex. location longue durée.</a:t>
            </a:r>
            <a:endParaRPr lang="en-US" sz="1660" dirty="0"/>
          </a:p>
        </p:txBody>
      </p:sp>
      <p:sp>
        <p:nvSpPr>
          <p:cNvPr id="11" name="Text 8"/>
          <p:cNvSpPr/>
          <p:nvPr/>
        </p:nvSpPr>
        <p:spPr>
          <a:xfrm>
            <a:off x="6172200" y="3337560"/>
            <a:ext cx="4846320" cy="117043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Innovation de rupture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Changement fort qui transforme le marché.</a:t>
            </a:r>
            <a:endParaRPr lang="en-US" sz="1660" dirty="0"/>
          </a:p>
          <a:p>
            <a:pPr algn="l" indent="0" marL="0">
              <a:buNone/>
            </a:pPr>
            <a:r>
              <a:rPr lang="en-US" sz="1660" b="1" dirty="0">
                <a:solidFill>
                  <a:srgbClr val="27323A"/>
                </a:solidFill>
              </a:rPr>
              <a:t>Ex. smartphone.</a:t>
            </a:r>
            <a:endParaRPr lang="en-US" sz="1660" dirty="0"/>
          </a:p>
        </p:txBody>
      </p:sp>
      <p:sp>
        <p:nvSpPr>
          <p:cNvPr id="12" name="Text 9"/>
          <p:cNvSpPr/>
          <p:nvPr/>
        </p:nvSpPr>
        <p:spPr>
          <a:xfrm>
            <a:off x="1051560" y="5166360"/>
            <a:ext cx="9784080" cy="64008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Correction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Non. Une innovation peut être une amélioration significative, une nouvelle manière de produire ou de vendre, ou une rupture dans les usages.</a:t>
            </a:r>
            <a:endParaRPr lang="en-US" sz="15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Évoluer, c’est souvent chercher un compromis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11/20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9509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7323A"/>
                </a:solidFill>
              </a:rPr>
              <a:t>Exemple : augmenter l’autonomie d’un vélo électrique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914400" y="2240280"/>
            <a:ext cx="1828800" cy="68580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AUTONOMIE +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57600" y="1828800"/>
            <a:ext cx="2148840" cy="667512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7323A"/>
                </a:solidFill>
              </a:rPr>
              <a:t>Coût ↑</a:t>
            </a:r>
            <a:endParaRPr lang="en-US" sz="1720" dirty="0"/>
          </a:p>
        </p:txBody>
      </p:sp>
      <p:sp>
        <p:nvSpPr>
          <p:cNvPr id="11" name="Text 8"/>
          <p:cNvSpPr/>
          <p:nvPr/>
        </p:nvSpPr>
        <p:spPr>
          <a:xfrm>
            <a:off x="6126480" y="1828800"/>
            <a:ext cx="2148840" cy="667512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7323A"/>
                </a:solidFill>
              </a:rPr>
              <a:t>Masse ↑</a:t>
            </a:r>
            <a:endParaRPr lang="en-US" sz="1720" dirty="0"/>
          </a:p>
        </p:txBody>
      </p:sp>
      <p:sp>
        <p:nvSpPr>
          <p:cNvPr id="12" name="Text 9"/>
          <p:cNvSpPr/>
          <p:nvPr/>
        </p:nvSpPr>
        <p:spPr>
          <a:xfrm>
            <a:off x="3657600" y="2971800"/>
            <a:ext cx="2148840" cy="667512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7323A"/>
                </a:solidFill>
              </a:rPr>
              <a:t>Impact batterie ↑</a:t>
            </a:r>
            <a:endParaRPr lang="en-US" sz="1720" dirty="0"/>
          </a:p>
        </p:txBody>
      </p:sp>
      <p:sp>
        <p:nvSpPr>
          <p:cNvPr id="13" name="Text 10"/>
          <p:cNvSpPr/>
          <p:nvPr/>
        </p:nvSpPr>
        <p:spPr>
          <a:xfrm>
            <a:off x="6126480" y="2971800"/>
            <a:ext cx="2148840" cy="667512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27323A"/>
                </a:solidFill>
              </a:rPr>
              <a:t>Confort / usage</a:t>
            </a:r>
            <a:endParaRPr lang="en-US" sz="1720" dirty="0"/>
          </a:p>
        </p:txBody>
      </p:sp>
      <p:sp>
        <p:nvSpPr>
          <p:cNvPr id="14" name="Text 11"/>
          <p:cNvSpPr/>
          <p:nvPr/>
        </p:nvSpPr>
        <p:spPr>
          <a:xfrm>
            <a:off x="960120" y="4709160"/>
            <a:ext cx="9966960" cy="96012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TRACE ÉCRITE N°4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Une évolution est un compromis entre fonction, performance, coût, réalisation et impact environnemental. Améliorer un critère peut en dégrader un autre.</a:t>
            </a:r>
            <a:endParaRPr lang="en-US" sz="15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Repérer ce qui change : Matière – Énergie – Information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12/20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600200"/>
            <a:ext cx="3154680" cy="114300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MATIÈRE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structure • matériaux • formes • assemblages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26280" y="1600200"/>
            <a:ext cx="3154680" cy="114300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ÉNERGIE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7323A"/>
                </a:solidFill>
              </a:rPr>
              <a:t>source • stockage • conversion • rendement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0" y="1600200"/>
            <a:ext cx="3154680" cy="114300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INFORMATION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capteurs • traitement • commande • communication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3657600"/>
            <a:ext cx="9966960" cy="109728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TRACE ÉCRITE N°5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Pour analyser une évolution technique, je cherche ce qui change dans la matière, l’énergie et l’information. Une évolution importante touche souvent plusieurs de ces domaines en même temps.</a:t>
            </a:r>
            <a:endParaRPr lang="en-US" sz="1530" dirty="0"/>
          </a:p>
        </p:txBody>
      </p:sp>
      <p:sp>
        <p:nvSpPr>
          <p:cNvPr id="12" name="Text 9"/>
          <p:cNvSpPr/>
          <p:nvPr/>
        </p:nvSpPr>
        <p:spPr>
          <a:xfrm>
            <a:off x="960120" y="5166360"/>
            <a:ext cx="987552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Exemple : vélo électrique = cadre/batterie (M) + énergie électrique (E) + capteur de pédalage et commande (I).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Étude de cas : de l’aspirateur classique au robot aspirateur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ÉTUDE DE CAS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13/20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3200400" cy="9144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Aspirateur classique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L’utilisateur guide, branche et déplace.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434840" y="1554480"/>
            <a:ext cx="3200400" cy="91440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Aspirateur sans fil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Batterie + mobilité.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046720" y="1554480"/>
            <a:ext cx="3200400" cy="91440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Robot aspirateur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Capteurs + programme + autonomie partielle.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98755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A93"/>
                </a:solidFill>
              </a:rPr>
              <a:t>L’évolution ne porte pas seulement sur la puissance : elle transforme l’usage.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60120" y="4251960"/>
            <a:ext cx="9921240" cy="114300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Correction possible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Besoin amélioré : nettoyer avec moins d’intervention humaine.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Solutions nouvelles : batterie, capteurs, algorithme, motorisation des roues.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Compromis : coût plus élevé, entretien, efficacité variable, batterie.</a:t>
            </a:r>
            <a:endParaRPr lang="en-US" sz="15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À vous de diagnostiquer une évolution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ACTIVITÉ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14/20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</a:rPr>
              <a:t>En binômes — 5 minutes : choisissez vélo électrique, smartphone, lampe LED, robot aspirateur ou voiture hybride.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743200" cy="475488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323A"/>
                </a:solidFill>
              </a:rPr>
              <a:t>1. Besoin / usage</a:t>
            </a:r>
            <a:endParaRPr lang="en-US" sz="1520" dirty="0"/>
          </a:p>
        </p:txBody>
      </p:sp>
      <p:sp>
        <p:nvSpPr>
          <p:cNvPr id="10" name="Text 7"/>
          <p:cNvSpPr/>
          <p:nvPr/>
        </p:nvSpPr>
        <p:spPr>
          <a:xfrm>
            <a:off x="3794760" y="2148840"/>
            <a:ext cx="7086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7323A"/>
                </a:solidFill>
              </a:rPr>
              <a:t>Ex. automatiser, gagner du temps, économiser l’énergie.</a:t>
            </a:r>
            <a:endParaRPr lang="en-US" sz="1360" dirty="0"/>
          </a:p>
        </p:txBody>
      </p:sp>
      <p:sp>
        <p:nvSpPr>
          <p:cNvPr id="11" name="Text 8"/>
          <p:cNvSpPr/>
          <p:nvPr/>
        </p:nvSpPr>
        <p:spPr>
          <a:xfrm>
            <a:off x="914400" y="2807208"/>
            <a:ext cx="2743200" cy="475488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323A"/>
                </a:solidFill>
              </a:rPr>
              <a:t>2. Ce qui évolue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3794760" y="2807208"/>
            <a:ext cx="7086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7323A"/>
                </a:solidFill>
              </a:rPr>
              <a:t>Moteur, batterie, capteurs, logiciel, matériaux.</a:t>
            </a:r>
            <a:endParaRPr lang="en-US" sz="1360" dirty="0"/>
          </a:p>
        </p:txBody>
      </p:sp>
      <p:sp>
        <p:nvSpPr>
          <p:cNvPr id="13" name="Text 10"/>
          <p:cNvSpPr/>
          <p:nvPr/>
        </p:nvSpPr>
        <p:spPr>
          <a:xfrm>
            <a:off x="914400" y="3465576"/>
            <a:ext cx="2743200" cy="475488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323A"/>
                </a:solidFill>
              </a:rPr>
              <a:t>3. Cause principale</a:t>
            </a:r>
            <a:endParaRPr lang="en-US" sz="1520" dirty="0"/>
          </a:p>
        </p:txBody>
      </p:sp>
      <p:sp>
        <p:nvSpPr>
          <p:cNvPr id="14" name="Text 11"/>
          <p:cNvSpPr/>
          <p:nvPr/>
        </p:nvSpPr>
        <p:spPr>
          <a:xfrm>
            <a:off x="3794760" y="3465576"/>
            <a:ext cx="7086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7323A"/>
                </a:solidFill>
              </a:rPr>
              <a:t>Usage, progrès technique, environnement, sécurité, coût.</a:t>
            </a:r>
            <a:endParaRPr lang="en-US" sz="1360" dirty="0"/>
          </a:p>
        </p:txBody>
      </p:sp>
      <p:sp>
        <p:nvSpPr>
          <p:cNvPr id="15" name="Text 12"/>
          <p:cNvSpPr/>
          <p:nvPr/>
        </p:nvSpPr>
        <p:spPr>
          <a:xfrm>
            <a:off x="914400" y="4123944"/>
            <a:ext cx="2743200" cy="475488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323A"/>
                </a:solidFill>
              </a:rPr>
              <a:t>4. MEI</a:t>
            </a:r>
            <a:endParaRPr lang="en-US" sz="1520" dirty="0"/>
          </a:p>
        </p:txBody>
      </p:sp>
      <p:sp>
        <p:nvSpPr>
          <p:cNvPr id="16" name="Text 13"/>
          <p:cNvSpPr/>
          <p:nvPr/>
        </p:nvSpPr>
        <p:spPr>
          <a:xfrm>
            <a:off x="3794760" y="4123944"/>
            <a:ext cx="7086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7323A"/>
                </a:solidFill>
              </a:rPr>
              <a:t>Identifier Matière, Énergie, Information.</a:t>
            </a:r>
            <a:endParaRPr lang="en-US" sz="1360" dirty="0"/>
          </a:p>
        </p:txBody>
      </p:sp>
      <p:sp>
        <p:nvSpPr>
          <p:cNvPr id="17" name="Text 14"/>
          <p:cNvSpPr/>
          <p:nvPr/>
        </p:nvSpPr>
        <p:spPr>
          <a:xfrm>
            <a:off x="914400" y="4782312"/>
            <a:ext cx="2743200" cy="475488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7323A"/>
                </a:solidFill>
              </a:rPr>
              <a:t>5. Compromis</a:t>
            </a:r>
            <a:endParaRPr lang="en-US" sz="1520" dirty="0"/>
          </a:p>
        </p:txBody>
      </p:sp>
      <p:sp>
        <p:nvSpPr>
          <p:cNvPr id="18" name="Text 15"/>
          <p:cNvSpPr/>
          <p:nvPr/>
        </p:nvSpPr>
        <p:spPr>
          <a:xfrm>
            <a:off x="3794760" y="4782312"/>
            <a:ext cx="7086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60" dirty="0">
                <a:solidFill>
                  <a:srgbClr val="27323A"/>
                </a:solidFill>
              </a:rPr>
              <a:t>Gain obtenu + limite ou effet négatif.</a:t>
            </a:r>
            <a:endParaRPr lang="en-US" sz="13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Correction collective : robot aspirateur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CORRECTION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15/20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Correction attendue complète.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2148840" cy="438912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Besoin / usage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3154680" y="196596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Nettoyer avec moins d’intervention humaine.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822960" y="2560320"/>
            <a:ext cx="2148840" cy="438912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Solutions nouvelles</a:t>
            </a:r>
            <a:endParaRPr lang="en-US" sz="1370" dirty="0"/>
          </a:p>
        </p:txBody>
      </p:sp>
      <p:sp>
        <p:nvSpPr>
          <p:cNvPr id="12" name="Text 9"/>
          <p:cNvSpPr/>
          <p:nvPr/>
        </p:nvSpPr>
        <p:spPr>
          <a:xfrm>
            <a:off x="3154680" y="256032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Batterie, roues motorisées, capteurs, logiciel de navigation.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22960" y="3154680"/>
            <a:ext cx="214884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Matière</a:t>
            </a:r>
            <a:endParaRPr lang="en-US" sz="1370" dirty="0"/>
          </a:p>
        </p:txBody>
      </p:sp>
      <p:sp>
        <p:nvSpPr>
          <p:cNvPr id="14" name="Text 11"/>
          <p:cNvSpPr/>
          <p:nvPr/>
        </p:nvSpPr>
        <p:spPr>
          <a:xfrm>
            <a:off x="3154680" y="315468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Forme compacte, brosses, bac, roues, matériaux plastiques.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822960" y="3749040"/>
            <a:ext cx="214884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Énergie</a:t>
            </a:r>
            <a:endParaRPr lang="en-US" sz="1370" dirty="0"/>
          </a:p>
        </p:txBody>
      </p:sp>
      <p:sp>
        <p:nvSpPr>
          <p:cNvPr id="16" name="Text 13"/>
          <p:cNvSpPr/>
          <p:nvPr/>
        </p:nvSpPr>
        <p:spPr>
          <a:xfrm>
            <a:off x="3154680" y="374904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Batterie rechargeable, moteurs aspiration + déplacement.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22960" y="4343400"/>
            <a:ext cx="214884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Information</a:t>
            </a:r>
            <a:endParaRPr lang="en-US" sz="1370" dirty="0"/>
          </a:p>
        </p:txBody>
      </p:sp>
      <p:sp>
        <p:nvSpPr>
          <p:cNvPr id="18" name="Text 15"/>
          <p:cNvSpPr/>
          <p:nvPr/>
        </p:nvSpPr>
        <p:spPr>
          <a:xfrm>
            <a:off x="3154680" y="434340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Capteurs obstacles / vide, algorithme, programmation, parfois application.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22960" y="4937760"/>
            <a:ext cx="2148840" cy="438912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70" b="1" dirty="0">
                <a:solidFill>
                  <a:srgbClr val="27323A"/>
                </a:solidFill>
              </a:rPr>
              <a:t>Compromis</a:t>
            </a:r>
            <a:endParaRPr lang="en-US" sz="1370" dirty="0"/>
          </a:p>
        </p:txBody>
      </p:sp>
      <p:sp>
        <p:nvSpPr>
          <p:cNvPr id="20" name="Text 17"/>
          <p:cNvSpPr/>
          <p:nvPr/>
        </p:nvSpPr>
        <p:spPr>
          <a:xfrm>
            <a:off x="3154680" y="4937760"/>
            <a:ext cx="79095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7323A"/>
                </a:solidFill>
              </a:rPr>
              <a:t>Autonomie limitée, coût, bruit, entretien, efficacité variable.</a:t>
            </a:r>
            <a:endParaRPr lang="en-US" sz="13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L’environnement peut imposer une évolution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ÉCHANGE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16/20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10332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Un produit n’est pas évalué uniquement pendant son utilisation : on regarde tout son cycle de vie.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1600200" cy="68580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Matières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premières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2542032" y="2761488"/>
            <a:ext cx="502920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3108960" y="2423160"/>
            <a:ext cx="1600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Fabrication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782312" y="2761488"/>
            <a:ext cx="502920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349240" y="2423160"/>
            <a:ext cx="1600200" cy="68580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Transport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022592" y="2761488"/>
            <a:ext cx="502920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589520" y="2423160"/>
            <a:ext cx="1600200" cy="6858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Utilisation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9262872" y="2761488"/>
            <a:ext cx="502920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9829800" y="2423160"/>
            <a:ext cx="1600200" cy="685800"/>
          </a:xfrm>
          <a:prstGeom prst="rect">
            <a:avLst/>
          </a:prstGeom>
          <a:solidFill>
            <a:srgbClr val="F0F6D3"/>
          </a:solidFill>
          <a:ln w="12700">
            <a:solidFill>
              <a:srgbClr val="C9D500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Fin de vie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60120" y="4206240"/>
            <a:ext cx="9966960" cy="96012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Correction possible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Une évolution peut réduire une consommation ou un impact, mais elle peut aussi créer un nouveau problème : extraction de ressources, batterie, recyclage, coût, obsolescence.</a:t>
            </a:r>
            <a:endParaRPr lang="en-US" sz="15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Mini-défi : imaginez la prochaine évolution d’un objet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ACTIVITÉ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17/20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Groupes de 3 ou 4 — 10 minutes de préparation.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057400"/>
            <a:ext cx="10332720" cy="59436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Choisissez un objet : vélo • lampe • sac • voiture • montre • casque audio • trottinette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2971800"/>
            <a:ext cx="9921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7323A"/>
                </a:solidFill>
              </a:rPr>
              <a:t>Besoin ou usage à améliorer : sécurité, autonomie, simplicité, écologie, coût.</a:t>
            </a:r>
            <a:endParaRPr lang="en-US" sz="1520" dirty="0"/>
          </a:p>
        </p:txBody>
      </p:sp>
      <p:sp>
        <p:nvSpPr>
          <p:cNvPr id="11" name="Text 8"/>
          <p:cNvSpPr/>
          <p:nvPr/>
        </p:nvSpPr>
        <p:spPr>
          <a:xfrm>
            <a:off x="1051560" y="3593592"/>
            <a:ext cx="9921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7323A"/>
                </a:solidFill>
              </a:rPr>
              <a:t>Solution proposée : capteurs, matériaux, batterie, application, modularité.</a:t>
            </a:r>
            <a:endParaRPr lang="en-US" sz="1520" dirty="0"/>
          </a:p>
        </p:txBody>
      </p:sp>
      <p:sp>
        <p:nvSpPr>
          <p:cNvPr id="12" name="Text 9"/>
          <p:cNvSpPr/>
          <p:nvPr/>
        </p:nvSpPr>
        <p:spPr>
          <a:xfrm>
            <a:off x="1051560" y="4215384"/>
            <a:ext cx="9921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7323A"/>
                </a:solidFill>
              </a:rPr>
              <a:t>Ce qui change en M/E/I : identifier au moins un changement dans un domaine.</a:t>
            </a:r>
            <a:endParaRPr lang="en-US" sz="1520" dirty="0"/>
          </a:p>
        </p:txBody>
      </p:sp>
      <p:sp>
        <p:nvSpPr>
          <p:cNvPr id="13" name="Text 10"/>
          <p:cNvSpPr/>
          <p:nvPr/>
        </p:nvSpPr>
        <p:spPr>
          <a:xfrm>
            <a:off x="1051560" y="4837176"/>
            <a:ext cx="9921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27323A"/>
                </a:solidFill>
              </a:rPr>
              <a:t>Compromis ou limite : coût, complexité, masse, impact, maintenance.</a:t>
            </a:r>
            <a:endParaRPr lang="en-US" sz="15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Restitution flash : on argumente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ORAL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18/20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7323A"/>
                </a:solidFill>
              </a:rPr>
              <a:t>Chaque groupe : 45 secondes.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7280" y="2057400"/>
            <a:ext cx="4663440" cy="182880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Notre objet évolue parce que …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Nous proposons …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Cela améliore …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7323A"/>
                </a:solidFill>
              </a:rPr>
              <a:t>Mais cela crée comme compromis …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400800" y="2057400"/>
            <a:ext cx="4389120" cy="1828800"/>
          </a:xfrm>
          <a:prstGeom prst="rect">
            <a:avLst/>
          </a:prstGeom>
          <a:solidFill>
            <a:srgbClr val="FFF8DA"/>
          </a:solidFill>
          <a:ln w="12700">
            <a:solidFill>
              <a:srgbClr val="FFC20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Critères d’écoute</a:t>
            </a:r>
            <a:endParaRPr lang="en-US" sz="1750" dirty="0"/>
          </a:p>
          <a:p>
            <a:pPr algn="l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1. Le besoin est-il clair ?</a:t>
            </a:r>
            <a:endParaRPr lang="en-US" sz="1750" dirty="0"/>
          </a:p>
          <a:p>
            <a:pPr algn="l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2. La solution est-elle identifiable ?</a:t>
            </a:r>
            <a:endParaRPr lang="en-US" sz="1750" dirty="0"/>
          </a:p>
          <a:p>
            <a:pPr algn="l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3. Le lien M/E/I est-il présent ?</a:t>
            </a:r>
            <a:endParaRPr lang="en-US" sz="1750" dirty="0"/>
          </a:p>
          <a:p>
            <a:pPr algn="l" indent="0" marL="0">
              <a:buNone/>
            </a:pPr>
            <a:r>
              <a:rPr lang="en-US" sz="1750" b="1" dirty="0">
                <a:solidFill>
                  <a:srgbClr val="27323A"/>
                </a:solidFill>
              </a:rPr>
              <a:t>4. Le compromis est-il formulé ?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97280" y="4754880"/>
            <a:ext cx="9692640" cy="68580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À faire écrire :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Une bonne explication technique relie toujours une évolution à une cause et à un compromis.</a:t>
            </a:r>
            <a:endParaRPr lang="en-US" sz="15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Méthode : expliquer l’évolution d’un objet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19/20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1645920" cy="86868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1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Besoin / usage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2395728" y="2258568"/>
            <a:ext cx="475488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2926080" y="1828800"/>
            <a:ext cx="1645920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2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Évolution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636008" y="2258568"/>
            <a:ext cx="475488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5166360" y="1828800"/>
            <a:ext cx="1645920" cy="86868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3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Causes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876288" y="2258568"/>
            <a:ext cx="475488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7406640" y="1828800"/>
            <a:ext cx="1645920" cy="86868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4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MEI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9116568" y="2258568"/>
            <a:ext cx="475488" cy="0"/>
          </a:xfrm>
          <a:prstGeom prst="line">
            <a:avLst/>
          </a:prstGeom>
          <a:noFill/>
          <a:ln w="1778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9646920" y="1828800"/>
            <a:ext cx="1645920" cy="86868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5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27323A"/>
                </a:solidFill>
              </a:rPr>
              <a:t>Compromis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60120" y="3794760"/>
            <a:ext cx="10058400" cy="822960"/>
          </a:xfrm>
          <a:prstGeom prst="rect">
            <a:avLst/>
          </a:prstGeom>
          <a:solidFill>
            <a:srgbClr val="FFF4F5"/>
          </a:solidFill>
          <a:ln w="12700">
            <a:solidFill>
              <a:srgbClr val="EF3B55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MÉTHODE À NOTER</a:t>
            </a:r>
            <a:endParaRPr lang="en-US" sz="1530" dirty="0"/>
          </a:p>
          <a:p>
            <a:pPr algn="l" indent="0" marL="0">
              <a:buNone/>
            </a:pPr>
            <a:r>
              <a:rPr lang="en-US" sz="1530" dirty="0">
                <a:solidFill>
                  <a:srgbClr val="27323A"/>
                </a:solidFill>
              </a:rPr>
              <a:t>Pour expliquer l’évolution d’un objet : besoin → changements → causes → Matière/Énergie/Information → compromis.</a:t>
            </a:r>
            <a:endParaRPr lang="en-US" sz="1530" dirty="0"/>
          </a:p>
        </p:txBody>
      </p:sp>
      <p:sp>
        <p:nvSpPr>
          <p:cNvPr id="18" name="Text 15"/>
          <p:cNvSpPr/>
          <p:nvPr/>
        </p:nvSpPr>
        <p:spPr>
          <a:xfrm>
            <a:off x="960120" y="5074920"/>
            <a:ext cx="9875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66666"/>
                </a:solidFill>
              </a:rPr>
              <a:t>Cette méthode est réutilisable dans une étude de dossier, un mini-projet ou une évaluation.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ogo-Marie_Rivier-01-1024x227 (1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64592"/>
            <a:ext cx="214884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0040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32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QUE JE DOIS RETENIR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768096"/>
            <a:ext cx="1417320" cy="310896"/>
          </a:xfrm>
          <a:prstGeom prst="rect">
            <a:avLst/>
          </a:prstGeom>
          <a:solidFill>
            <a:srgbClr val="EF3B55"/>
          </a:solidFill>
          <a:ln>
            <a:solidFill>
              <a:srgbClr val="EF3B5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À ÉCRIRE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02920" y="1161288"/>
            <a:ext cx="11155680" cy="0"/>
          </a:xfrm>
          <a:prstGeom prst="line">
            <a:avLst/>
          </a:prstGeom>
          <a:noFill/>
          <a:ln w="12700">
            <a:solidFill>
              <a:srgbClr val="D9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473952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1re STI2D • Comment un objet évolue-t-il ? • Version professeur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064240" y="647395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20/20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68680" y="1353312"/>
            <a:ext cx="10424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7323A"/>
                </a:solidFill>
              </a:rPr>
              <a:t>1. Un produit évolue pour mieux répondre à un besoin ou à un contexte qui change.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1975104"/>
            <a:ext cx="1042416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7323A"/>
                </a:solidFill>
              </a:rPr>
              <a:t>2. Les principaux moteurs sont : usages, progrès techniques, économie, environnement, normes/sécurité, ergonomie/design et contexte sociétal.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596896"/>
            <a:ext cx="10424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7323A"/>
                </a:solidFill>
              </a:rPr>
              <a:t>3. Une lignée de produits compare des solutions successives répondant à un même besoin.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3218688"/>
            <a:ext cx="1042416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7323A"/>
                </a:solidFill>
              </a:rPr>
              <a:t>4. Le cahier des charges transforme le besoin en exigences et critères vérifiables.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8680" y="3840480"/>
            <a:ext cx="10424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7323A"/>
                </a:solidFill>
              </a:rPr>
              <a:t>5. J’analyse les changements avec Matière – Énergie – Information.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68680" y="4462272"/>
            <a:ext cx="1042416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9E4E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7323A"/>
                </a:solidFill>
              </a:rPr>
              <a:t>6. Toute évolution est un compromis : améliorer une performance peut augmenter le coût, la complexité ou l’impact environnemental.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05840" y="5349240"/>
            <a:ext cx="9966960" cy="502920"/>
          </a:xfrm>
          <a:prstGeom prst="rect">
            <a:avLst/>
          </a:prstGeom>
          <a:solidFill>
            <a:srgbClr val="EAF8FB"/>
          </a:solidFill>
          <a:ln w="12700">
            <a:solidFill>
              <a:srgbClr val="00A7C8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7323A"/>
                </a:solidFill>
              </a:rPr>
              <a:t>Méthode : BESOIN → ÉVOLUTION → CAUSES → MEI → COMPROMIS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8680" y="6053328"/>
            <a:ext cx="104241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6666"/>
                </a:solidFill>
              </a:rPr>
              <a:t>Références : BO spécial n°1 du 22/01/2019, programme STI2D cycle terminal ; ressources Éduscol STI.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Marie Rivier Éducation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1re STI2D - Comment un objet évolue-t-il ?</dc:subject>
  <dc:creator>Christophe Delcourt</dc:creator>
  <cp:lastModifiedBy>Christophe Delcourt</cp:lastModifiedBy>
  <cp:revision>1</cp:revision>
  <dcterms:created xsi:type="dcterms:W3CDTF">2026-09-09T10:53:04Z</dcterms:created>
  <dcterms:modified xsi:type="dcterms:W3CDTF">2026-09-09T10:53:04Z</dcterms:modified>
</cp:coreProperties>
</file>