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7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Image 5"/>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91DD2373-0785-4CC2-80CE-AB891A3DA919}"/>
              </a:ext>
            </a:extLst>
          </p:cNvPr>
          <p:cNvSpPr>
            <a:spLocks noGrp="1"/>
          </p:cNvSpPr>
          <p:nvPr/>
        </p:nvSpPr>
        <p:spPr>
          <a:xfrm>
            <a:off x="704850" y="609600"/>
            <a:ext cx="10572750" cy="714375"/>
          </a:xfrm>
          <a:prstGeom prst="rect">
            <a:avLst/>
          </a:prstGeom>
          <a:noFill/>
          <a:ln w="0">
            <a:noFill/>
          </a:ln>
        </p:spPr>
        <p:txBody>
          <a:bodyPr anchor="t">
            <a:noAutofit/>
          </a:bodyPr>
          <a:lstStyle/>
          <a:p>
            <a:pPr>
              <a:defRPr sz="3300" b="1">
                <a:solidFill>
                  <a:srgbClr val="15304B"/>
                </a:solidFill>
                <a:latin typeface="Aptos"/>
                <a:ea typeface="Aptos"/>
                <a:cs typeface="Aptos"/>
              </a:defRPr>
            </a:pPr>
            <a:r>
              <a:rPr sz="3300" b="1">
                <a:solidFill>
                  <a:srgbClr val="15304B"/>
                </a:solidFill>
                <a:latin typeface="Aptos"/>
                <a:ea typeface="Aptos"/>
                <a:cs typeface="Aptos"/>
              </a:rPr>
              <a:t>Le diagramme de Gantt</a:t>
            </a:r>
          </a:p>
        </p:txBody>
      </p:sp>
      <p:sp>
        <p:nvSpPr>
          <p:cNvPr id="3" name="Rectangle 2">
            <a:extLst>
              <a:ext uri="{FF2B5EF4-FFF2-40B4-BE49-F238E27FC236}">
                <a16:creationId xmlns:a16="http://schemas.microsoft.com/office/drawing/2014/main" id="{4EA1FB96-F5E6-4EE6-BE1F-9BAC86E6468F}"/>
              </a:ext>
            </a:extLst>
          </p:cNvPr>
          <p:cNvSpPr>
            <a:spLocks noGrp="1"/>
          </p:cNvSpPr>
          <p:nvPr/>
        </p:nvSpPr>
        <p:spPr>
          <a:xfrm>
            <a:off x="733425" y="1438275"/>
            <a:ext cx="10572750" cy="400050"/>
          </a:xfrm>
          <a:prstGeom prst="rect">
            <a:avLst/>
          </a:prstGeom>
          <a:noFill/>
          <a:ln w="0">
            <a:noFill/>
          </a:ln>
        </p:spPr>
        <p:txBody>
          <a:bodyPr anchor="t">
            <a:noAutofit/>
          </a:bodyPr>
          <a:lstStyle/>
          <a:p>
            <a:pPr>
              <a:defRPr sz="1425" b="1">
                <a:solidFill>
                  <a:srgbClr val="23739A"/>
                </a:solidFill>
                <a:latin typeface="Aptos"/>
                <a:ea typeface="Aptos"/>
                <a:cs typeface="Aptos"/>
              </a:defRPr>
            </a:pPr>
            <a:r>
              <a:rPr sz="1425" b="1">
                <a:solidFill>
                  <a:srgbClr val="23739A"/>
                </a:solidFill>
                <a:latin typeface="Aptos"/>
                <a:ea typeface="Aptos"/>
                <a:cs typeface="Aptos"/>
              </a:rPr>
              <a:t>1re STI2D · Lycée Marie Rivier</a:t>
            </a:r>
          </a:p>
        </p:txBody>
      </p:sp>
      <p:sp>
        <p:nvSpPr>
          <p:cNvPr id="4" name="Rectangle 3">
            <a:extLst>
              <a:ext uri="{FF2B5EF4-FFF2-40B4-BE49-F238E27FC236}">
                <a16:creationId xmlns:a16="http://schemas.microsoft.com/office/drawing/2014/main" id="{ED95CB3D-9ACD-46B1-9524-6E4A6BB202B6}"/>
              </a:ext>
            </a:extLst>
          </p:cNvPr>
          <p:cNvSpPr>
            <a:spLocks noGrp="1"/>
          </p:cNvSpPr>
          <p:nvPr/>
        </p:nvSpPr>
        <p:spPr>
          <a:xfrm>
            <a:off x="762000" y="2143125"/>
            <a:ext cx="10477500" cy="2286000"/>
          </a:xfrm>
          <a:prstGeom prst="rect">
            <a:avLst/>
          </a:prstGeom>
          <a:noFill/>
          <a:ln w="0">
            <a:noFill/>
          </a:ln>
        </p:spPr>
        <p:txBody>
          <a:bodyPr anchor="t">
            <a:noAutofit/>
          </a:bodyPr>
          <a:lstStyle/>
          <a:p>
            <a:pPr algn="ctr">
              <a:defRPr sz="2175" b="0">
                <a:solidFill>
                  <a:srgbClr val="173651"/>
                </a:solidFill>
                <a:latin typeface="Aptos"/>
                <a:ea typeface="Aptos"/>
                <a:cs typeface="Aptos"/>
              </a:defRPr>
            </a:pPr>
            <a:r>
              <a:rPr sz="2175" b="0" dirty="0" err="1">
                <a:solidFill>
                  <a:srgbClr val="173651"/>
                </a:solidFill>
                <a:latin typeface="Aptos"/>
                <a:ea typeface="Aptos"/>
                <a:cs typeface="Aptos"/>
              </a:rPr>
              <a:t>Organiser</a:t>
            </a:r>
            <a:r>
              <a:rPr sz="2175" b="0" dirty="0">
                <a:solidFill>
                  <a:srgbClr val="173651"/>
                </a:solidFill>
                <a:latin typeface="Aptos"/>
                <a:ea typeface="Aptos"/>
                <a:cs typeface="Aptos"/>
              </a:rPr>
              <a:t> un </a:t>
            </a:r>
            <a:r>
              <a:rPr sz="2175" b="0" dirty="0" err="1">
                <a:solidFill>
                  <a:srgbClr val="173651"/>
                </a:solidFill>
                <a:latin typeface="Aptos"/>
                <a:ea typeface="Aptos"/>
                <a:cs typeface="Aptos"/>
              </a:rPr>
              <a:t>projet</a:t>
            </a:r>
            <a:r>
              <a:rPr sz="2175" b="0" dirty="0">
                <a:solidFill>
                  <a:srgbClr val="173651"/>
                </a:solidFill>
                <a:latin typeface="Aptos"/>
                <a:ea typeface="Aptos"/>
                <a:cs typeface="Aptos"/>
              </a:rPr>
              <a:t> technique et </a:t>
            </a:r>
            <a:r>
              <a:rPr sz="2175" b="0" dirty="0" err="1">
                <a:solidFill>
                  <a:srgbClr val="173651"/>
                </a:solidFill>
                <a:latin typeface="Aptos"/>
                <a:ea typeface="Aptos"/>
                <a:cs typeface="Aptos"/>
              </a:rPr>
              <a:t>vérifier</a:t>
            </a:r>
            <a:r>
              <a:rPr sz="2175" b="0" dirty="0">
                <a:solidFill>
                  <a:srgbClr val="173651"/>
                </a:solidFill>
                <a:latin typeface="Aptos"/>
                <a:ea typeface="Aptos"/>
                <a:cs typeface="Aptos"/>
              </a:rPr>
              <a:t> </a:t>
            </a:r>
            <a:r>
              <a:rPr sz="2175" b="0" dirty="0" err="1">
                <a:solidFill>
                  <a:srgbClr val="173651"/>
                </a:solidFill>
                <a:latin typeface="Aptos"/>
                <a:ea typeface="Aptos"/>
                <a:cs typeface="Aptos"/>
              </a:rPr>
              <a:t>sa</a:t>
            </a:r>
            <a:r>
              <a:rPr sz="2175" b="0" dirty="0">
                <a:solidFill>
                  <a:srgbClr val="173651"/>
                </a:solidFill>
                <a:latin typeface="Aptos"/>
                <a:ea typeface="Aptos"/>
                <a:cs typeface="Aptos"/>
              </a:rPr>
              <a:t> date de livraison</a:t>
            </a:r>
          </a:p>
        </p:txBody>
      </p:sp>
      <p:sp>
        <p:nvSpPr>
          <p:cNvPr id="5" name="Rectangle 4">
            <a:extLst>
              <a:ext uri="{FF2B5EF4-FFF2-40B4-BE49-F238E27FC236}">
                <a16:creationId xmlns:a16="http://schemas.microsoft.com/office/drawing/2014/main" id="{005D3F74-825C-4473-AAA9-0BCD59070D0B}"/>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01</a:t>
            </a:r>
          </a:p>
        </p:txBody>
      </p:sp>
    </p:spTree>
    <p:extLst>
      <p:ext uri="{BB962C8B-B14F-4D97-AF65-F5344CB8AC3E}">
        <p14:creationId xmlns:p14="http://schemas.microsoft.com/office/powerpoint/2010/main" val="651067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FF5F8"/>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190EC804-F37C-466C-B5E8-5F78F953E14D}"/>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Partie 1 · Comprendre et lire</a:t>
            </a:r>
          </a:p>
        </p:txBody>
      </p:sp>
      <p:sp>
        <p:nvSpPr>
          <p:cNvPr id="3" name="Rectangle 2">
            <a:extLst>
              <a:ext uri="{FF2B5EF4-FFF2-40B4-BE49-F238E27FC236}">
                <a16:creationId xmlns:a16="http://schemas.microsoft.com/office/drawing/2014/main" id="{29A1ABFA-BA0B-45B8-9F97-80DF4D096E11}"/>
              </a:ext>
            </a:extLst>
          </p:cNvPr>
          <p:cNvSpPr>
            <a:spLocks noGrp="1"/>
          </p:cNvSpPr>
          <p:nvPr/>
        </p:nvSpPr>
        <p:spPr>
          <a:xfrm>
            <a:off x="733425" y="1438275"/>
            <a:ext cx="10572750" cy="400050"/>
          </a:xfrm>
          <a:prstGeom prst="rect">
            <a:avLst/>
          </a:prstGeom>
          <a:noFill/>
          <a:ln w="0">
            <a:noFill/>
          </a:ln>
        </p:spPr>
        <p:txBody>
          <a:bodyPr anchor="t">
            <a:noAutofit/>
          </a:bodyPr>
          <a:lstStyle/>
          <a:p>
            <a:pPr>
              <a:defRPr sz="1425" b="1">
                <a:solidFill>
                  <a:srgbClr val="23739A"/>
                </a:solidFill>
                <a:latin typeface="Aptos"/>
                <a:ea typeface="Aptos"/>
                <a:cs typeface="Aptos"/>
              </a:defRPr>
            </a:pPr>
            <a:r>
              <a:rPr sz="1425" b="1">
                <a:solidFill>
                  <a:srgbClr val="23739A"/>
                </a:solidFill>
                <a:latin typeface="Aptos"/>
                <a:ea typeface="Aptos"/>
                <a:cs typeface="Aptos"/>
              </a:rPr>
              <a:t>Question de départ : comment organiser les étapes du projet ?</a:t>
            </a:r>
          </a:p>
        </p:txBody>
      </p:sp>
      <p:sp>
        <p:nvSpPr>
          <p:cNvPr id="4" name="Rectangle 3">
            <a:extLst>
              <a:ext uri="{FF2B5EF4-FFF2-40B4-BE49-F238E27FC236}">
                <a16:creationId xmlns:a16="http://schemas.microsoft.com/office/drawing/2014/main" id="{A158CE2C-B157-488F-8D62-C4F7CEF8917E}"/>
              </a:ext>
            </a:extLst>
          </p:cNvPr>
          <p:cNvSpPr>
            <a:spLocks noGrp="1"/>
          </p:cNvSpPr>
          <p:nvPr/>
        </p:nvSpPr>
        <p:spPr>
          <a:xfrm>
            <a:off x="762000" y="2143125"/>
            <a:ext cx="10477500" cy="400050"/>
          </a:xfrm>
          <a:prstGeom prst="rect">
            <a:avLst/>
          </a:prstGeom>
          <a:noFill/>
          <a:ln w="0">
            <a:noFill/>
          </a:ln>
        </p:spPr>
        <p:txBody>
          <a:bodyPr anchor="t">
            <a:noAutofit/>
          </a:bodyPr>
          <a:lstStyle/>
          <a:p>
            <a:pPr>
              <a:defRPr sz="1575" b="1">
                <a:solidFill>
                  <a:srgbClr val="23739A"/>
                </a:solidFill>
                <a:latin typeface="Aptos"/>
                <a:ea typeface="Aptos"/>
                <a:cs typeface="Aptos"/>
              </a:defRPr>
            </a:pPr>
            <a:r>
              <a:rPr sz="1575" b="1">
                <a:solidFill>
                  <a:srgbClr val="23739A"/>
                </a:solidFill>
                <a:latin typeface="Aptos"/>
                <a:ea typeface="Aptos"/>
                <a:cs typeface="Aptos"/>
              </a:rPr>
              <a:t>COURS · 1re STI2D</a:t>
            </a:r>
          </a:p>
        </p:txBody>
      </p:sp>
      <p:sp>
        <p:nvSpPr>
          <p:cNvPr id="5" name="Rectangle 4">
            <a:extLst>
              <a:ext uri="{FF2B5EF4-FFF2-40B4-BE49-F238E27FC236}">
                <a16:creationId xmlns:a16="http://schemas.microsoft.com/office/drawing/2014/main" id="{B6C2694A-C088-44DB-912A-56BFD7D2272B}"/>
              </a:ext>
            </a:extLst>
          </p:cNvPr>
          <p:cNvSpPr>
            <a:spLocks noGrp="1"/>
          </p:cNvSpPr>
          <p:nvPr/>
        </p:nvSpPr>
        <p:spPr>
          <a:xfrm>
            <a:off x="762000" y="2905125"/>
            <a:ext cx="10382250" cy="1809750"/>
          </a:xfrm>
          <a:prstGeom prst="rect">
            <a:avLst/>
          </a:prstGeom>
          <a:noFill/>
          <a:ln w="0">
            <a:noFill/>
          </a:ln>
        </p:spPr>
        <p:txBody>
          <a:bodyPr anchor="t">
            <a:noAutofit/>
          </a:bodyPr>
          <a:lstStyle/>
          <a:p>
            <a:pPr>
              <a:defRPr sz="2100" b="0">
                <a:solidFill>
                  <a:srgbClr val="173651"/>
                </a:solidFill>
                <a:latin typeface="Aptos"/>
                <a:ea typeface="Aptos"/>
                <a:cs typeface="Aptos"/>
              </a:defRPr>
            </a:pPr>
            <a:r>
              <a:rPr sz="2100" b="0">
                <a:solidFill>
                  <a:srgbClr val="173651"/>
                </a:solidFill>
                <a:latin typeface="Aptos"/>
                <a:ea typeface="Aptos"/>
                <a:cs typeface="Aptos"/>
              </a:rPr>
              <a:t>Nous partirons d’un projet concret : réaliser une station météo connectée. Nous identifierons les informations du planning, puis nous apprendrons à lire un premier Gantt sur cinq jours.</a:t>
            </a:r>
          </a:p>
        </p:txBody>
      </p:sp>
      <p:sp>
        <p:nvSpPr>
          <p:cNvPr id="7" name="Rectangle 6">
            <a:extLst>
              <a:ext uri="{FF2B5EF4-FFF2-40B4-BE49-F238E27FC236}">
                <a16:creationId xmlns:a16="http://schemas.microsoft.com/office/drawing/2014/main" id="{F5B3ADAA-6E55-4730-B0FB-DFAD7DF2D0D1}"/>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03</a:t>
            </a:r>
          </a:p>
        </p:txBody>
      </p:sp>
    </p:spTree>
    <p:extLst>
      <p:ext uri="{BB962C8B-B14F-4D97-AF65-F5344CB8AC3E}">
        <p14:creationId xmlns:p14="http://schemas.microsoft.com/office/powerpoint/2010/main" val="1053949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FA248B3D-ED71-4C2E-A919-AA5F6FF41781}"/>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Un défi de projet</a:t>
            </a:r>
          </a:p>
        </p:txBody>
      </p:sp>
      <p:sp>
        <p:nvSpPr>
          <p:cNvPr id="4" name="Rectangle 3">
            <a:extLst>
              <a:ext uri="{FF2B5EF4-FFF2-40B4-BE49-F238E27FC236}">
                <a16:creationId xmlns:a16="http://schemas.microsoft.com/office/drawing/2014/main" id="{9A6832FD-7BBC-46D0-B352-FCD308F76B9E}"/>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Notre équipe doit présenter une station météo connectée. Il faut définir le besoin, choisir les capteurs, réaliser la carte, programmer et tester.</a:t>
            </a:r>
          </a:p>
          <a:p>
            <a:pPr>
              <a:defRPr sz="1950" b="0">
                <a:solidFill>
                  <a:srgbClr val="173651"/>
                </a:solidFill>
                <a:latin typeface="Aptos"/>
                <a:ea typeface="Aptos"/>
                <a:cs typeface="Aptos"/>
              </a:defRPr>
            </a:pPr>
            <a:r>
              <a:rPr sz="1950" b="0">
                <a:solidFill>
                  <a:srgbClr val="173651"/>
                </a:solidFill>
                <a:latin typeface="Aptos"/>
                <a:ea typeface="Aptos"/>
                <a:cs typeface="Aptos"/>
              </a:rPr>
              <a:t>La démonstration a une date fixée : comment savoir si nous serons prêts ?</a:t>
            </a:r>
          </a:p>
        </p:txBody>
      </p:sp>
      <p:sp>
        <p:nvSpPr>
          <p:cNvPr id="5" name="Rectangle 4">
            <a:extLst>
              <a:ext uri="{FF2B5EF4-FFF2-40B4-BE49-F238E27FC236}">
                <a16:creationId xmlns:a16="http://schemas.microsoft.com/office/drawing/2014/main" id="{85426724-A9F3-40FD-B9B4-A3EFF0688AE3}"/>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À discuter avec la classe</a:t>
            </a:r>
          </a:p>
        </p:txBody>
      </p:sp>
      <p:sp>
        <p:nvSpPr>
          <p:cNvPr id="6" name="Rectangle 5">
            <a:extLst>
              <a:ext uri="{FF2B5EF4-FFF2-40B4-BE49-F238E27FC236}">
                <a16:creationId xmlns:a16="http://schemas.microsoft.com/office/drawing/2014/main" id="{10DFAC7C-58C6-43CD-9545-12DDF923FC14}"/>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Lister trois conséquences d’un oubli de planification : un test impossible avant la programmation, deux personnes prévues sur la même machine ou une présentation annoncée avant la fin des essais.</a:t>
            </a:r>
          </a:p>
        </p:txBody>
      </p:sp>
      <p:sp>
        <p:nvSpPr>
          <p:cNvPr id="7" name="Rectangle 6">
            <a:extLst>
              <a:ext uri="{FF2B5EF4-FFF2-40B4-BE49-F238E27FC236}">
                <a16:creationId xmlns:a16="http://schemas.microsoft.com/office/drawing/2014/main" id="{22D29F8B-F39F-4E4D-BD7C-30299831BA3D}"/>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04</a:t>
            </a:r>
          </a:p>
        </p:txBody>
      </p:sp>
    </p:spTree>
    <p:extLst>
      <p:ext uri="{BB962C8B-B14F-4D97-AF65-F5344CB8AC3E}">
        <p14:creationId xmlns:p14="http://schemas.microsoft.com/office/powerpoint/2010/main" val="3418352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39EC780D-2E45-46BD-95A2-C3C13AAE9B46}"/>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Ce que la séance doit permettre</a:t>
            </a:r>
          </a:p>
        </p:txBody>
      </p:sp>
      <p:sp>
        <p:nvSpPr>
          <p:cNvPr id="4" name="Rectangle 3">
            <a:extLst>
              <a:ext uri="{FF2B5EF4-FFF2-40B4-BE49-F238E27FC236}">
                <a16:creationId xmlns:a16="http://schemas.microsoft.com/office/drawing/2014/main" id="{AF1CB1A4-F7B7-4D24-A624-E26D8D58EAA5}"/>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lang="fr-FR" sz="1950" b="0" dirty="0">
                <a:solidFill>
                  <a:srgbClr val="173651"/>
                </a:solidFill>
                <a:latin typeface="Aptos"/>
                <a:ea typeface="Aptos"/>
                <a:cs typeface="Aptos"/>
              </a:rPr>
              <a:t>Planifier </a:t>
            </a:r>
            <a:r>
              <a:rPr sz="1950" b="0" dirty="0">
                <a:solidFill>
                  <a:srgbClr val="173651"/>
                </a:solidFill>
                <a:latin typeface="Aptos"/>
                <a:ea typeface="Aptos"/>
                <a:cs typeface="Aptos"/>
              </a:rPr>
              <a:t>un </a:t>
            </a:r>
            <a:r>
              <a:rPr sz="1950" b="0" dirty="0" err="1">
                <a:solidFill>
                  <a:srgbClr val="173651"/>
                </a:solidFill>
                <a:latin typeface="Aptos"/>
                <a:ea typeface="Aptos"/>
                <a:cs typeface="Aptos"/>
              </a:rPr>
              <a:t>projet</a:t>
            </a:r>
            <a:r>
              <a:rPr sz="1950" b="0" dirty="0">
                <a:solidFill>
                  <a:srgbClr val="173651"/>
                </a:solidFill>
                <a:latin typeface="Aptos"/>
                <a:ea typeface="Aptos"/>
                <a:cs typeface="Aptos"/>
              </a:rPr>
              <a:t> </a:t>
            </a:r>
            <a:r>
              <a:rPr sz="1950" b="0" dirty="0" err="1">
                <a:solidFill>
                  <a:srgbClr val="173651"/>
                </a:solidFill>
                <a:latin typeface="Aptos"/>
                <a:ea typeface="Aptos"/>
                <a:cs typeface="Aptos"/>
              </a:rPr>
              <a:t>consiste</a:t>
            </a:r>
            <a:r>
              <a:rPr sz="1950" b="0" dirty="0">
                <a:solidFill>
                  <a:srgbClr val="173651"/>
                </a:solidFill>
                <a:latin typeface="Aptos"/>
                <a:ea typeface="Aptos"/>
                <a:cs typeface="Aptos"/>
              </a:rPr>
              <a:t> à </a:t>
            </a:r>
            <a:r>
              <a:rPr sz="1950" b="0" dirty="0" err="1">
                <a:solidFill>
                  <a:srgbClr val="173651"/>
                </a:solidFill>
                <a:latin typeface="Aptos"/>
                <a:ea typeface="Aptos"/>
                <a:cs typeface="Aptos"/>
              </a:rPr>
              <a:t>découper</a:t>
            </a:r>
            <a:r>
              <a:rPr sz="1950" b="0" dirty="0">
                <a:solidFill>
                  <a:srgbClr val="173651"/>
                </a:solidFill>
                <a:latin typeface="Aptos"/>
                <a:ea typeface="Aptos"/>
                <a:cs typeface="Aptos"/>
              </a:rPr>
              <a:t> le travail, </a:t>
            </a:r>
            <a:r>
              <a:rPr sz="1950" b="0" dirty="0" err="1">
                <a:solidFill>
                  <a:srgbClr val="173651"/>
                </a:solidFill>
                <a:latin typeface="Aptos"/>
                <a:ea typeface="Aptos"/>
                <a:cs typeface="Aptos"/>
              </a:rPr>
              <a:t>organiser</a:t>
            </a:r>
            <a:r>
              <a:rPr sz="1950" b="0" dirty="0">
                <a:solidFill>
                  <a:srgbClr val="173651"/>
                </a:solidFill>
                <a:latin typeface="Aptos"/>
                <a:ea typeface="Aptos"/>
                <a:cs typeface="Aptos"/>
              </a:rPr>
              <a:t> les </a:t>
            </a:r>
            <a:r>
              <a:rPr sz="1950" b="0" dirty="0" err="1">
                <a:solidFill>
                  <a:srgbClr val="173651"/>
                </a:solidFill>
                <a:latin typeface="Aptos"/>
                <a:ea typeface="Aptos"/>
                <a:cs typeface="Aptos"/>
              </a:rPr>
              <a:t>étapes</a:t>
            </a:r>
            <a:r>
              <a:rPr sz="1950" b="0" dirty="0">
                <a:solidFill>
                  <a:srgbClr val="173651"/>
                </a:solidFill>
                <a:latin typeface="Aptos"/>
                <a:ea typeface="Aptos"/>
                <a:cs typeface="Aptos"/>
              </a:rPr>
              <a:t> et </a:t>
            </a:r>
            <a:r>
              <a:rPr sz="1950" b="0" dirty="0" err="1">
                <a:solidFill>
                  <a:srgbClr val="173651"/>
                </a:solidFill>
                <a:latin typeface="Aptos"/>
                <a:ea typeface="Aptos"/>
                <a:cs typeface="Aptos"/>
              </a:rPr>
              <a:t>suivre</a:t>
            </a:r>
            <a:r>
              <a:rPr sz="1950" b="0" dirty="0">
                <a:solidFill>
                  <a:srgbClr val="173651"/>
                </a:solidFill>
                <a:latin typeface="Aptos"/>
                <a:ea typeface="Aptos"/>
                <a:cs typeface="Aptos"/>
              </a:rPr>
              <a:t> </a:t>
            </a:r>
            <a:r>
              <a:rPr sz="1950" b="0" dirty="0" err="1">
                <a:solidFill>
                  <a:srgbClr val="173651"/>
                </a:solidFill>
                <a:latin typeface="Aptos"/>
                <a:ea typeface="Aptos"/>
                <a:cs typeface="Aptos"/>
              </a:rPr>
              <a:t>leur</a:t>
            </a:r>
            <a:r>
              <a:rPr sz="1950" b="0" dirty="0">
                <a:solidFill>
                  <a:srgbClr val="173651"/>
                </a:solidFill>
                <a:latin typeface="Aptos"/>
                <a:ea typeface="Aptos"/>
                <a:cs typeface="Aptos"/>
              </a:rPr>
              <a:t> </a:t>
            </a:r>
            <a:r>
              <a:rPr sz="1950" b="0" dirty="0" err="1">
                <a:solidFill>
                  <a:srgbClr val="173651"/>
                </a:solidFill>
                <a:latin typeface="Aptos"/>
                <a:ea typeface="Aptos"/>
                <a:cs typeface="Aptos"/>
              </a:rPr>
              <a:t>avancement</a:t>
            </a:r>
            <a:r>
              <a:rPr sz="1950" b="0" dirty="0">
                <a:solidFill>
                  <a:srgbClr val="173651"/>
                </a:solidFill>
                <a:latin typeface="Aptos"/>
                <a:ea typeface="Aptos"/>
                <a:cs typeface="Aptos"/>
              </a:rPr>
              <a:t>. Le </a:t>
            </a:r>
            <a:r>
              <a:rPr sz="1950" b="0" dirty="0" err="1">
                <a:solidFill>
                  <a:srgbClr val="173651"/>
                </a:solidFill>
                <a:latin typeface="Aptos"/>
                <a:ea typeface="Aptos"/>
                <a:cs typeface="Aptos"/>
              </a:rPr>
              <a:t>programme</a:t>
            </a:r>
            <a:r>
              <a:rPr sz="1950" b="0" dirty="0">
                <a:solidFill>
                  <a:srgbClr val="173651"/>
                </a:solidFill>
                <a:latin typeface="Aptos"/>
                <a:ea typeface="Aptos"/>
                <a:cs typeface="Aptos"/>
              </a:rPr>
              <a:t> cite le </a:t>
            </a:r>
            <a:r>
              <a:rPr sz="1950" b="0" dirty="0" err="1">
                <a:solidFill>
                  <a:srgbClr val="173651"/>
                </a:solidFill>
                <a:latin typeface="Aptos"/>
                <a:ea typeface="Aptos"/>
                <a:cs typeface="Aptos"/>
              </a:rPr>
              <a:t>diagramme</a:t>
            </a:r>
            <a:r>
              <a:rPr sz="1950" b="0" dirty="0">
                <a:solidFill>
                  <a:srgbClr val="173651"/>
                </a:solidFill>
                <a:latin typeface="Aptos"/>
                <a:ea typeface="Aptos"/>
                <a:cs typeface="Aptos"/>
              </a:rPr>
              <a:t> de Gantt et le </a:t>
            </a:r>
            <a:r>
              <a:rPr sz="1950" b="0" dirty="0" err="1">
                <a:solidFill>
                  <a:srgbClr val="173651"/>
                </a:solidFill>
                <a:latin typeface="Aptos"/>
                <a:ea typeface="Aptos"/>
                <a:cs typeface="Aptos"/>
              </a:rPr>
              <a:t>chemin</a:t>
            </a:r>
            <a:r>
              <a:rPr sz="1950" b="0" dirty="0">
                <a:solidFill>
                  <a:srgbClr val="173651"/>
                </a:solidFill>
                <a:latin typeface="Aptos"/>
                <a:ea typeface="Aptos"/>
                <a:cs typeface="Aptos"/>
              </a:rPr>
              <a:t> critique </a:t>
            </a:r>
            <a:r>
              <a:rPr sz="1950" b="0" dirty="0" err="1">
                <a:solidFill>
                  <a:srgbClr val="173651"/>
                </a:solidFill>
                <a:latin typeface="Aptos"/>
                <a:ea typeface="Aptos"/>
                <a:cs typeface="Aptos"/>
              </a:rPr>
              <a:t>parmi</a:t>
            </a:r>
            <a:r>
              <a:rPr sz="1950" b="0" dirty="0">
                <a:solidFill>
                  <a:srgbClr val="173651"/>
                </a:solidFill>
                <a:latin typeface="Aptos"/>
                <a:ea typeface="Aptos"/>
                <a:cs typeface="Aptos"/>
              </a:rPr>
              <a:t> les </a:t>
            </a:r>
            <a:r>
              <a:rPr sz="1950" b="0" dirty="0" err="1">
                <a:solidFill>
                  <a:srgbClr val="173651"/>
                </a:solidFill>
                <a:latin typeface="Aptos"/>
                <a:ea typeface="Aptos"/>
                <a:cs typeface="Aptos"/>
              </a:rPr>
              <a:t>outils</a:t>
            </a:r>
            <a:r>
              <a:rPr sz="1950" b="0" dirty="0">
                <a:solidFill>
                  <a:srgbClr val="173651"/>
                </a:solidFill>
                <a:latin typeface="Aptos"/>
                <a:ea typeface="Aptos"/>
                <a:cs typeface="Aptos"/>
              </a:rPr>
              <a:t> </a:t>
            </a:r>
            <a:r>
              <a:rPr sz="1950" b="0" dirty="0" err="1">
                <a:solidFill>
                  <a:srgbClr val="173651"/>
                </a:solidFill>
                <a:latin typeface="Aptos"/>
                <a:ea typeface="Aptos"/>
                <a:cs typeface="Aptos"/>
              </a:rPr>
              <a:t>adaptés</a:t>
            </a:r>
            <a:r>
              <a:rPr sz="1950" b="0" dirty="0">
                <a:solidFill>
                  <a:srgbClr val="173651"/>
                </a:solidFill>
                <a:latin typeface="Aptos"/>
                <a:ea typeface="Aptos"/>
                <a:cs typeface="Aptos"/>
              </a:rPr>
              <a:t>.</a:t>
            </a:r>
          </a:p>
          <a:p>
            <a:pPr>
              <a:defRPr sz="1950" b="0">
                <a:solidFill>
                  <a:srgbClr val="173651"/>
                </a:solidFill>
                <a:latin typeface="Aptos"/>
                <a:ea typeface="Aptos"/>
                <a:cs typeface="Aptos"/>
              </a:defRPr>
            </a:pPr>
            <a:r>
              <a:rPr sz="1950" b="0" dirty="0" err="1">
                <a:solidFill>
                  <a:srgbClr val="173651"/>
                </a:solidFill>
                <a:latin typeface="Aptos"/>
                <a:ea typeface="Aptos"/>
                <a:cs typeface="Aptos"/>
              </a:rPr>
              <a:t>Aujourd’hui</a:t>
            </a:r>
            <a:r>
              <a:rPr sz="1950" b="0" dirty="0">
                <a:solidFill>
                  <a:srgbClr val="173651"/>
                </a:solidFill>
                <a:latin typeface="Aptos"/>
                <a:ea typeface="Aptos"/>
                <a:cs typeface="Aptos"/>
              </a:rPr>
              <a:t> : lire un planning, le </a:t>
            </a:r>
            <a:r>
              <a:rPr sz="1950" b="0" dirty="0" err="1">
                <a:solidFill>
                  <a:srgbClr val="173651"/>
                </a:solidFill>
                <a:latin typeface="Aptos"/>
                <a:ea typeface="Aptos"/>
                <a:cs typeface="Aptos"/>
              </a:rPr>
              <a:t>construire</a:t>
            </a:r>
            <a:r>
              <a:rPr sz="1950" b="0" dirty="0">
                <a:solidFill>
                  <a:srgbClr val="173651"/>
                </a:solidFill>
                <a:latin typeface="Aptos"/>
                <a:ea typeface="Aptos"/>
                <a:cs typeface="Aptos"/>
              </a:rPr>
              <a:t>, </a:t>
            </a:r>
            <a:r>
              <a:rPr sz="1950" b="0" dirty="0" err="1">
                <a:solidFill>
                  <a:srgbClr val="173651"/>
                </a:solidFill>
                <a:latin typeface="Aptos"/>
                <a:ea typeface="Aptos"/>
                <a:cs typeface="Aptos"/>
              </a:rPr>
              <a:t>puis</a:t>
            </a:r>
            <a:r>
              <a:rPr sz="1950" b="0" dirty="0">
                <a:solidFill>
                  <a:srgbClr val="173651"/>
                </a:solidFill>
                <a:latin typeface="Aptos"/>
                <a:ea typeface="Aptos"/>
                <a:cs typeface="Aptos"/>
              </a:rPr>
              <a:t> </a:t>
            </a:r>
            <a:r>
              <a:rPr sz="1950" b="0" dirty="0" err="1">
                <a:solidFill>
                  <a:srgbClr val="173651"/>
                </a:solidFill>
                <a:latin typeface="Aptos"/>
                <a:ea typeface="Aptos"/>
                <a:cs typeface="Aptos"/>
              </a:rPr>
              <a:t>mesurer</a:t>
            </a:r>
            <a:r>
              <a:rPr sz="1950" b="0" dirty="0">
                <a:solidFill>
                  <a:srgbClr val="173651"/>
                </a:solidFill>
                <a:latin typeface="Aptos"/>
                <a:ea typeface="Aptos"/>
                <a:cs typeface="Aptos"/>
              </a:rPr>
              <a:t> </a:t>
            </a:r>
            <a:r>
              <a:rPr sz="1950" b="0" dirty="0" err="1">
                <a:solidFill>
                  <a:srgbClr val="173651"/>
                </a:solidFill>
                <a:latin typeface="Aptos"/>
                <a:ea typeface="Aptos"/>
                <a:cs typeface="Aptos"/>
              </a:rPr>
              <a:t>l’effet</a:t>
            </a:r>
            <a:r>
              <a:rPr sz="1950" b="0" dirty="0">
                <a:solidFill>
                  <a:srgbClr val="173651"/>
                </a:solidFill>
                <a:latin typeface="Aptos"/>
                <a:ea typeface="Aptos"/>
                <a:cs typeface="Aptos"/>
              </a:rPr>
              <a:t> d’un retard.</a:t>
            </a:r>
          </a:p>
        </p:txBody>
      </p:sp>
      <p:sp>
        <p:nvSpPr>
          <p:cNvPr id="7" name="Rectangle 6">
            <a:extLst>
              <a:ext uri="{FF2B5EF4-FFF2-40B4-BE49-F238E27FC236}">
                <a16:creationId xmlns:a16="http://schemas.microsoft.com/office/drawing/2014/main" id="{E52E17CC-2D90-4079-B978-C7B578B8418C}"/>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05</a:t>
            </a:r>
          </a:p>
        </p:txBody>
      </p:sp>
    </p:spTree>
    <p:extLst>
      <p:ext uri="{BB962C8B-B14F-4D97-AF65-F5344CB8AC3E}">
        <p14:creationId xmlns:p14="http://schemas.microsoft.com/office/powerpoint/2010/main" val="1397673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0D99F1C0-10D9-4167-B9E2-48CA34B07DD3}"/>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Pourquoi planifier ?</a:t>
            </a:r>
          </a:p>
        </p:txBody>
      </p:sp>
      <p:sp>
        <p:nvSpPr>
          <p:cNvPr id="4" name="Rectangle 3">
            <a:extLst>
              <a:ext uri="{FF2B5EF4-FFF2-40B4-BE49-F238E27FC236}">
                <a16:creationId xmlns:a16="http://schemas.microsoft.com/office/drawing/2014/main" id="{09C406D7-FD21-480A-A6B6-554EF2CFA823}"/>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Une liste de tâches indique ce qu’il faut faire. Elle ne dit pas quand commencer, quelles activités peuvent avancer en parallèle ni ce qu’un retard va modifier.</a:t>
            </a:r>
          </a:p>
          <a:p>
            <a:pPr>
              <a:defRPr sz="1950" b="0">
                <a:solidFill>
                  <a:srgbClr val="173651"/>
                </a:solidFill>
                <a:latin typeface="Aptos"/>
                <a:ea typeface="Aptos"/>
                <a:cs typeface="Aptos"/>
              </a:defRPr>
            </a:pPr>
            <a:r>
              <a:rPr sz="1950" b="0">
                <a:solidFill>
                  <a:srgbClr val="173651"/>
                </a:solidFill>
                <a:latin typeface="Aptos"/>
                <a:ea typeface="Aptos"/>
                <a:cs typeface="Aptos"/>
              </a:rPr>
              <a:t>Le planning sert à coordonner l’équipe, à tenir une échéance et à décider quoi ajuster lorsque le projet évolue.</a:t>
            </a:r>
          </a:p>
        </p:txBody>
      </p:sp>
      <p:sp>
        <p:nvSpPr>
          <p:cNvPr id="5" name="Rectangle 4">
            <a:extLst>
              <a:ext uri="{FF2B5EF4-FFF2-40B4-BE49-F238E27FC236}">
                <a16:creationId xmlns:a16="http://schemas.microsoft.com/office/drawing/2014/main" id="{1B824319-F7DC-412A-962A-1677C3F5711D}"/>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Exemple concret</a:t>
            </a:r>
          </a:p>
        </p:txBody>
      </p:sp>
      <p:sp>
        <p:nvSpPr>
          <p:cNvPr id="6" name="Rectangle 5">
            <a:extLst>
              <a:ext uri="{FF2B5EF4-FFF2-40B4-BE49-F238E27FC236}">
                <a16:creationId xmlns:a16="http://schemas.microsoft.com/office/drawing/2014/main" id="{2DAAB7E9-D60B-485D-BCE7-2B2C5548BEB0}"/>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Si les composants arrivent après la date prévue pour l’assemblage, il faut déplacer ce montage et parfois les tests. Un Gantt donne immédiatement les tâches concernées et la nouvelle date à vérifier.</a:t>
            </a:r>
          </a:p>
        </p:txBody>
      </p:sp>
      <p:sp>
        <p:nvSpPr>
          <p:cNvPr id="7" name="Rectangle 6">
            <a:extLst>
              <a:ext uri="{FF2B5EF4-FFF2-40B4-BE49-F238E27FC236}">
                <a16:creationId xmlns:a16="http://schemas.microsoft.com/office/drawing/2014/main" id="{626EB202-3EAA-4CF3-9340-5A6CED9CC11C}"/>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06</a:t>
            </a:r>
          </a:p>
        </p:txBody>
      </p:sp>
    </p:spTree>
    <p:extLst>
      <p:ext uri="{BB962C8B-B14F-4D97-AF65-F5344CB8AC3E}">
        <p14:creationId xmlns:p14="http://schemas.microsoft.com/office/powerpoint/2010/main" val="106668295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838AADFD-5E3E-409A-BBFE-55A2765E76C6}"/>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Un projet se découpe en tâches</a:t>
            </a:r>
          </a:p>
        </p:txBody>
      </p:sp>
      <p:sp>
        <p:nvSpPr>
          <p:cNvPr id="4" name="Rectangle 3">
            <a:extLst>
              <a:ext uri="{FF2B5EF4-FFF2-40B4-BE49-F238E27FC236}">
                <a16:creationId xmlns:a16="http://schemas.microsoft.com/office/drawing/2014/main" id="{17E58595-306C-46A9-8BF5-637CE4D0080E}"/>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Une tâche désigne une action précise qui produit un résultat vérifiable : « choisir un capteur de température », par exemple.</a:t>
            </a:r>
          </a:p>
          <a:p>
            <a:pPr>
              <a:defRPr sz="1950" b="0">
                <a:solidFill>
                  <a:srgbClr val="173651"/>
                </a:solidFill>
                <a:latin typeface="Aptos"/>
                <a:ea typeface="Aptos"/>
                <a:cs typeface="Aptos"/>
              </a:defRPr>
            </a:pPr>
            <a:r>
              <a:rPr sz="1950" b="0">
                <a:solidFill>
                  <a:srgbClr val="173651"/>
                </a:solidFill>
                <a:latin typeface="Aptos"/>
                <a:ea typeface="Aptos"/>
                <a:cs typeface="Aptos"/>
              </a:rPr>
              <a:t>On évite une tâche trop large comme « faire la station ». On identifie aussi les personnes et le matériel nécessaires pour savoir si deux actions peuvent être réalisées en même temps.</a:t>
            </a:r>
          </a:p>
        </p:txBody>
      </p:sp>
      <p:sp>
        <p:nvSpPr>
          <p:cNvPr id="5" name="Rectangle 4">
            <a:extLst>
              <a:ext uri="{FF2B5EF4-FFF2-40B4-BE49-F238E27FC236}">
                <a16:creationId xmlns:a16="http://schemas.microsoft.com/office/drawing/2014/main" id="{EDE6195F-DF7F-42E9-9AE3-E15B538BC03B}"/>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Comment reconnaître une bonne tâche ?</a:t>
            </a:r>
          </a:p>
        </p:txBody>
      </p:sp>
      <p:sp>
        <p:nvSpPr>
          <p:cNvPr id="6" name="Rectangle 5">
            <a:extLst>
              <a:ext uri="{FF2B5EF4-FFF2-40B4-BE49-F238E27FC236}">
                <a16:creationId xmlns:a16="http://schemas.microsoft.com/office/drawing/2014/main" id="{0471F807-6DFB-492F-89D6-2A6223545E4A}"/>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 Réaliser le prototype » est trop large. « Câbler le capteur sur la carte » décrit une action que l’on peut confier à une personne, estimer en durée et vérifier lorsqu’elle est terminée.</a:t>
            </a:r>
          </a:p>
        </p:txBody>
      </p:sp>
      <p:sp>
        <p:nvSpPr>
          <p:cNvPr id="7" name="Rectangle 6">
            <a:extLst>
              <a:ext uri="{FF2B5EF4-FFF2-40B4-BE49-F238E27FC236}">
                <a16:creationId xmlns:a16="http://schemas.microsoft.com/office/drawing/2014/main" id="{723ECD15-5C75-4E46-BC49-2948D610977F}"/>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07</a:t>
            </a:r>
          </a:p>
        </p:txBody>
      </p:sp>
    </p:spTree>
    <p:extLst>
      <p:ext uri="{BB962C8B-B14F-4D97-AF65-F5344CB8AC3E}">
        <p14:creationId xmlns:p14="http://schemas.microsoft.com/office/powerpoint/2010/main" val="20215899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7A9D601F-A886-4C20-97AD-F00DE0FE629A}"/>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Les données d’une tâche</a:t>
            </a:r>
          </a:p>
        </p:txBody>
      </p:sp>
      <p:sp>
        <p:nvSpPr>
          <p:cNvPr id="4" name="Rectangle 3">
            <a:extLst>
              <a:ext uri="{FF2B5EF4-FFF2-40B4-BE49-F238E27FC236}">
                <a16:creationId xmlns:a16="http://schemas.microsoft.com/office/drawing/2014/main" id="{D9BE5B1A-46E4-4417-B0E8-237A77335E32}"/>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Pour chaque tâche, le planning indique au minimum un nom, une durée et les tâches qui doivent être terminées avant elle. On peut ajouter un responsable, une ressource et un état d’avancement.</a:t>
            </a:r>
          </a:p>
          <a:p>
            <a:pPr>
              <a:defRPr sz="1950" b="0">
                <a:solidFill>
                  <a:srgbClr val="173651"/>
                </a:solidFill>
                <a:latin typeface="Aptos"/>
                <a:ea typeface="Aptos"/>
                <a:cs typeface="Aptos"/>
              </a:defRPr>
            </a:pPr>
            <a:r>
              <a:rPr sz="1950" b="0">
                <a:solidFill>
                  <a:srgbClr val="173651"/>
                </a:solidFill>
                <a:latin typeface="Aptos"/>
                <a:ea typeface="Aptos"/>
                <a:cs typeface="Aptos"/>
              </a:rPr>
              <a:t>Exemple : « Tester le capteur », 2 jours, après « Programmer le capteur », binôme A.</a:t>
            </a:r>
          </a:p>
        </p:txBody>
      </p:sp>
      <p:sp>
        <p:nvSpPr>
          <p:cNvPr id="5" name="Rectangle 4">
            <a:extLst>
              <a:ext uri="{FF2B5EF4-FFF2-40B4-BE49-F238E27FC236}">
                <a16:creationId xmlns:a16="http://schemas.microsoft.com/office/drawing/2014/main" id="{D6FB16C2-2D28-4985-B240-2C11B067CB72}"/>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Durée et effort : deux idées différentes</a:t>
            </a:r>
          </a:p>
        </p:txBody>
      </p:sp>
      <p:sp>
        <p:nvSpPr>
          <p:cNvPr id="6" name="Rectangle 5">
            <a:extLst>
              <a:ext uri="{FF2B5EF4-FFF2-40B4-BE49-F238E27FC236}">
                <a16:creationId xmlns:a16="http://schemas.microsoft.com/office/drawing/2014/main" id="{945A1005-B249-450A-98BF-4BFE62A30A53}"/>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Si deux élèves travaillent ensemble pendant une journée, la tâche occupe un jour dans le calendrier, mais elle représente deux journées de travail de personne. Dans ce cours, nous calculons surtout les jours de calendrier.</a:t>
            </a:r>
          </a:p>
        </p:txBody>
      </p:sp>
      <p:sp>
        <p:nvSpPr>
          <p:cNvPr id="7" name="Rectangle 6">
            <a:extLst>
              <a:ext uri="{FF2B5EF4-FFF2-40B4-BE49-F238E27FC236}">
                <a16:creationId xmlns:a16="http://schemas.microsoft.com/office/drawing/2014/main" id="{B546727B-03AA-4C3D-9C13-E84AE0D43E2A}"/>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08</a:t>
            </a:r>
          </a:p>
        </p:txBody>
      </p:sp>
    </p:spTree>
    <p:extLst>
      <p:ext uri="{BB962C8B-B14F-4D97-AF65-F5344CB8AC3E}">
        <p14:creationId xmlns:p14="http://schemas.microsoft.com/office/powerpoint/2010/main" val="7639569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3873E718-0DA0-417B-B287-6AB32E91FD3A}"/>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Définition du diagramme de Gantt</a:t>
            </a:r>
          </a:p>
        </p:txBody>
      </p:sp>
      <p:sp>
        <p:nvSpPr>
          <p:cNvPr id="4" name="Rectangle 3">
            <a:extLst>
              <a:ext uri="{FF2B5EF4-FFF2-40B4-BE49-F238E27FC236}">
                <a16:creationId xmlns:a16="http://schemas.microsoft.com/office/drawing/2014/main" id="{7961FAB4-8181-4099-86DE-370BE748C2E0}"/>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Le diagramme de Gantt est un outil de ................ : il place les tâches d’un projet sur une échelle de ................ .</a:t>
            </a:r>
          </a:p>
          <a:p>
            <a:pPr>
              <a:defRPr sz="1950" b="0">
                <a:solidFill>
                  <a:srgbClr val="173651"/>
                </a:solidFill>
                <a:latin typeface="Aptos"/>
                <a:ea typeface="Aptos"/>
                <a:cs typeface="Aptos"/>
              </a:defRPr>
            </a:pPr>
            <a:r>
              <a:rPr sz="1950" b="0">
                <a:solidFill>
                  <a:srgbClr val="173651"/>
                </a:solidFill>
                <a:latin typeface="Aptos"/>
                <a:ea typeface="Aptos"/>
                <a:cs typeface="Aptos"/>
              </a:rPr>
              <a:t>Une barre horizontale indique le ................, la ................ et la ................ d’une tâche.</a:t>
            </a:r>
          </a:p>
        </p:txBody>
      </p:sp>
      <p:sp>
        <p:nvSpPr>
          <p:cNvPr id="5" name="Rectangle 4">
            <a:extLst>
              <a:ext uri="{FF2B5EF4-FFF2-40B4-BE49-F238E27FC236}">
                <a16:creationId xmlns:a16="http://schemas.microsoft.com/office/drawing/2014/main" id="{E7CCCE13-E2EE-4FE0-8189-8592230F4631}"/>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Pourquoi cette représentation est utile</a:t>
            </a:r>
          </a:p>
        </p:txBody>
      </p:sp>
      <p:sp>
        <p:nvSpPr>
          <p:cNvPr id="6" name="Rectangle 5">
            <a:extLst>
              <a:ext uri="{FF2B5EF4-FFF2-40B4-BE49-F238E27FC236}">
                <a16:creationId xmlns:a16="http://schemas.microsoft.com/office/drawing/2014/main" id="{321E49D9-5593-4E7D-B2F4-5FEABE3D8F14}"/>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Avec la même vue, on repère les tâches à venir, celles qui se chevauchent et la date prévue du résultat. Le diagramme doit être actualisé quand les durées ou les contraintes changent.</a:t>
            </a:r>
          </a:p>
        </p:txBody>
      </p:sp>
      <p:sp>
        <p:nvSpPr>
          <p:cNvPr id="7" name="Rectangle 6">
            <a:extLst>
              <a:ext uri="{FF2B5EF4-FFF2-40B4-BE49-F238E27FC236}">
                <a16:creationId xmlns:a16="http://schemas.microsoft.com/office/drawing/2014/main" id="{AFA8732B-1225-4EFF-9215-917667A31B71}"/>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09</a:t>
            </a:r>
          </a:p>
        </p:txBody>
      </p:sp>
    </p:spTree>
    <p:extLst>
      <p:ext uri="{BB962C8B-B14F-4D97-AF65-F5344CB8AC3E}">
        <p14:creationId xmlns:p14="http://schemas.microsoft.com/office/powerpoint/2010/main" val="1453985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C8910773-CC3F-4CC9-A121-8DC929E6F764}"/>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Comment lire le diagramme ?</a:t>
            </a:r>
          </a:p>
        </p:txBody>
      </p:sp>
      <p:sp>
        <p:nvSpPr>
          <p:cNvPr id="4" name="Rectangle 3">
            <a:extLst>
              <a:ext uri="{FF2B5EF4-FFF2-40B4-BE49-F238E27FC236}">
                <a16:creationId xmlns:a16="http://schemas.microsoft.com/office/drawing/2014/main" id="{8652592B-38CA-4A58-A640-ECF06883C118}"/>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À gauche : une ligne par tâche, avec éventuellement la durée et le précédent. À droite : un calendrier.</a:t>
            </a:r>
          </a:p>
          <a:p>
            <a:pPr>
              <a:defRPr sz="1950" b="0">
                <a:solidFill>
                  <a:srgbClr val="173651"/>
                </a:solidFill>
                <a:latin typeface="Aptos"/>
                <a:ea typeface="Aptos"/>
                <a:cs typeface="Aptos"/>
              </a:defRPr>
            </a:pPr>
            <a:r>
              <a:rPr sz="1950" b="0">
                <a:solidFill>
                  <a:srgbClr val="173651"/>
                </a:solidFill>
                <a:latin typeface="Aptos"/>
                <a:ea typeface="Aptos"/>
                <a:cs typeface="Aptos"/>
              </a:rPr>
              <a:t>La position de la barre indique quand la tâche a lieu ; sa longueur indique combien de périodes elle occupe. Deux barres qui occupent les mêmes jours signalent des activités simultanées.</a:t>
            </a:r>
          </a:p>
        </p:txBody>
      </p:sp>
      <p:sp>
        <p:nvSpPr>
          <p:cNvPr id="5" name="Rectangle 4">
            <a:extLst>
              <a:ext uri="{FF2B5EF4-FFF2-40B4-BE49-F238E27FC236}">
                <a16:creationId xmlns:a16="http://schemas.microsoft.com/office/drawing/2014/main" id="{21D66C37-BA89-4EDE-836B-7B21661D7F51}"/>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Lecture guidée</a:t>
            </a:r>
          </a:p>
        </p:txBody>
      </p:sp>
      <p:sp>
        <p:nvSpPr>
          <p:cNvPr id="6" name="Rectangle 5">
            <a:extLst>
              <a:ext uri="{FF2B5EF4-FFF2-40B4-BE49-F238E27FC236}">
                <a16:creationId xmlns:a16="http://schemas.microsoft.com/office/drawing/2014/main" id="{7EF80D0E-FDED-473C-851D-AD42973510C8}"/>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Une barre située sous J4, J5 et J6 correspond à trois jours de travail. Si une autre barre apparaît sur J5 et J6, ces deux activités se chevauchent pendant deux jours.</a:t>
            </a:r>
          </a:p>
        </p:txBody>
      </p:sp>
      <p:sp>
        <p:nvSpPr>
          <p:cNvPr id="7" name="Rectangle 6">
            <a:extLst>
              <a:ext uri="{FF2B5EF4-FFF2-40B4-BE49-F238E27FC236}">
                <a16:creationId xmlns:a16="http://schemas.microsoft.com/office/drawing/2014/main" id="{3CE24533-66BA-471B-BACC-31841C419D14}"/>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10</a:t>
            </a:r>
          </a:p>
        </p:txBody>
      </p:sp>
    </p:spTree>
    <p:extLst>
      <p:ext uri="{BB962C8B-B14F-4D97-AF65-F5344CB8AC3E}">
        <p14:creationId xmlns:p14="http://schemas.microsoft.com/office/powerpoint/2010/main" val="901040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F373A9BD-EF98-4CA1-85A3-BA7E22B12ADA}"/>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Notre convention de calendrier</a:t>
            </a:r>
          </a:p>
        </p:txBody>
      </p:sp>
      <p:sp>
        <p:nvSpPr>
          <p:cNvPr id="4" name="Rectangle 3">
            <a:extLst>
              <a:ext uri="{FF2B5EF4-FFF2-40B4-BE49-F238E27FC236}">
                <a16:creationId xmlns:a16="http://schemas.microsoft.com/office/drawing/2014/main" id="{602B42ED-6435-4280-B621-058C81081923}"/>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Dans les exercices, J1, J2, J3… représentent des jours de travail successifs. Les week-ends ne sont pas comptés. Une tâche de 3 jours commençant J4 occupe J4, J5 et J6.</a:t>
            </a:r>
          </a:p>
          <a:p>
            <a:pPr>
              <a:defRPr sz="1950" b="0">
                <a:solidFill>
                  <a:srgbClr val="173651"/>
                </a:solidFill>
                <a:latin typeface="Aptos"/>
                <a:ea typeface="Aptos"/>
                <a:cs typeface="Aptos"/>
              </a:defRPr>
            </a:pPr>
            <a:r>
              <a:rPr sz="1950" b="0">
                <a:solidFill>
                  <a:srgbClr val="173651"/>
                </a:solidFill>
                <a:latin typeface="Aptos"/>
                <a:ea typeface="Aptos"/>
                <a:cs typeface="Aptos"/>
              </a:rPr>
              <a:t>Avec un lien « fin puis début », sa tâche suivante peut démarrer J7. Une date réelle dépend aussi du calendrier choisi dans le logiciel.</a:t>
            </a:r>
          </a:p>
        </p:txBody>
      </p:sp>
      <p:sp>
        <p:nvSpPr>
          <p:cNvPr id="5" name="Rectangle 4">
            <a:extLst>
              <a:ext uri="{FF2B5EF4-FFF2-40B4-BE49-F238E27FC236}">
                <a16:creationId xmlns:a16="http://schemas.microsoft.com/office/drawing/2014/main" id="{9DC4C4A8-764F-4294-9F7F-D95781B7062A}"/>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Petit calcul</a:t>
            </a:r>
          </a:p>
        </p:txBody>
      </p:sp>
      <p:sp>
        <p:nvSpPr>
          <p:cNvPr id="6" name="Rectangle 5">
            <a:extLst>
              <a:ext uri="{FF2B5EF4-FFF2-40B4-BE49-F238E27FC236}">
                <a16:creationId xmlns:a16="http://schemas.microsoft.com/office/drawing/2014/main" id="{4D16E932-6C29-4913-B9AC-6A02943076BB}"/>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Début J4 et durée 3 : fin J6, car J4 compte comme premier jour. Si la tâche suivante doit attendre sa fin, elle démarre au plus tôt J7. Sur une vraie semaine, un week-end peut séparer ces deux dates.</a:t>
            </a:r>
          </a:p>
        </p:txBody>
      </p:sp>
      <p:sp>
        <p:nvSpPr>
          <p:cNvPr id="7" name="Rectangle 6">
            <a:extLst>
              <a:ext uri="{FF2B5EF4-FFF2-40B4-BE49-F238E27FC236}">
                <a16:creationId xmlns:a16="http://schemas.microsoft.com/office/drawing/2014/main" id="{A42A93B7-3940-4115-AD41-4DE4B1E3F8D5}"/>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11</a:t>
            </a:r>
          </a:p>
        </p:txBody>
      </p:sp>
    </p:spTree>
    <p:extLst>
      <p:ext uri="{BB962C8B-B14F-4D97-AF65-F5344CB8AC3E}">
        <p14:creationId xmlns:p14="http://schemas.microsoft.com/office/powerpoint/2010/main" val="473361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Image 6"/>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ED669B32-3317-4F6C-8096-77840800AC4D}"/>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Premier Gantt : cinq jours</a:t>
            </a:r>
          </a:p>
        </p:txBody>
      </p:sp>
      <p:graphicFrame>
        <p:nvGraphicFramePr>
          <p:cNvPr id="10" name="Tableau 9"/>
          <p:cNvGraphicFramePr/>
          <p:nvPr/>
        </p:nvGraphicFramePr>
        <p:xfrm>
          <a:off x="742950" y="2209800"/>
          <a:ext cx="10706100" cy="2857500"/>
        </p:xfrm>
        <a:graphic>
          <a:graphicData uri="http://schemas.openxmlformats.org/drawingml/2006/table">
            <a:tbl>
              <a:tblPr/>
              <a:tblGrid>
                <a:gridCol w="4667250">
                  <a:extLst>
                    <a:ext uri="{9D8B030D-6E8A-4147-A177-3AD203B41FA5}">
                      <a16:colId xmlns:a16="http://schemas.microsoft.com/office/drawing/2014/main" val="20000"/>
                    </a:ext>
                  </a:extLst>
                </a:gridCol>
                <a:gridCol w="1209675">
                  <a:extLst>
                    <a:ext uri="{9D8B030D-6E8A-4147-A177-3AD203B41FA5}">
                      <a16:colId xmlns:a16="http://schemas.microsoft.com/office/drawing/2014/main" val="20001"/>
                    </a:ext>
                  </a:extLst>
                </a:gridCol>
                <a:gridCol w="1209675">
                  <a:extLst>
                    <a:ext uri="{9D8B030D-6E8A-4147-A177-3AD203B41FA5}">
                      <a16:colId xmlns:a16="http://schemas.microsoft.com/office/drawing/2014/main" val="20002"/>
                    </a:ext>
                  </a:extLst>
                </a:gridCol>
                <a:gridCol w="1209675">
                  <a:extLst>
                    <a:ext uri="{9D8B030D-6E8A-4147-A177-3AD203B41FA5}">
                      <a16:colId xmlns:a16="http://schemas.microsoft.com/office/drawing/2014/main" val="20003"/>
                    </a:ext>
                  </a:extLst>
                </a:gridCol>
                <a:gridCol w="1209675">
                  <a:extLst>
                    <a:ext uri="{9D8B030D-6E8A-4147-A177-3AD203B41FA5}">
                      <a16:colId xmlns:a16="http://schemas.microsoft.com/office/drawing/2014/main" val="20004"/>
                    </a:ext>
                  </a:extLst>
                </a:gridCol>
                <a:gridCol w="1200150">
                  <a:extLst>
                    <a:ext uri="{9D8B030D-6E8A-4147-A177-3AD203B41FA5}">
                      <a16:colId xmlns:a16="http://schemas.microsoft.com/office/drawing/2014/main" val="20005"/>
                    </a:ext>
                  </a:extLst>
                </a:gridCol>
              </a:tblGrid>
              <a:tr h="714375">
                <a:tc>
                  <a:txBody>
                    <a:bodyPr/>
                    <a:lstStyle/>
                    <a:p>
                      <a:r>
                        <a:rPr sz="1575" b="1">
                          <a:solidFill>
                            <a:srgbClr val="FFFFFF"/>
                          </a:solidFill>
                          <a:latin typeface="Aptos"/>
                          <a:ea typeface="Aptos"/>
                          <a:cs typeface="Aptos"/>
                        </a:rPr>
                        <a:t>Tâche</a:t>
                      </a:r>
                    </a:p>
                  </a:txBody>
                  <a:tcPr>
                    <a:solidFill>
                      <a:srgbClr val="15304B"/>
                    </a:solidFill>
                  </a:tcPr>
                </a:tc>
                <a:tc>
                  <a:txBody>
                    <a:bodyPr/>
                    <a:lstStyle/>
                    <a:p>
                      <a:r>
                        <a:rPr sz="1575" b="1">
                          <a:solidFill>
                            <a:srgbClr val="FFFFFF"/>
                          </a:solidFill>
                          <a:latin typeface="Aptos"/>
                          <a:ea typeface="Aptos"/>
                          <a:cs typeface="Aptos"/>
                        </a:rPr>
                        <a:t>Lundi</a:t>
                      </a:r>
                    </a:p>
                  </a:txBody>
                  <a:tcPr>
                    <a:solidFill>
                      <a:srgbClr val="15304B"/>
                    </a:solidFill>
                  </a:tcPr>
                </a:tc>
                <a:tc>
                  <a:txBody>
                    <a:bodyPr/>
                    <a:lstStyle/>
                    <a:p>
                      <a:r>
                        <a:rPr sz="1575" b="1">
                          <a:solidFill>
                            <a:srgbClr val="FFFFFF"/>
                          </a:solidFill>
                          <a:latin typeface="Aptos"/>
                          <a:ea typeface="Aptos"/>
                          <a:cs typeface="Aptos"/>
                        </a:rPr>
                        <a:t>Mardi</a:t>
                      </a:r>
                    </a:p>
                  </a:txBody>
                  <a:tcPr>
                    <a:solidFill>
                      <a:srgbClr val="15304B"/>
                    </a:solidFill>
                  </a:tcPr>
                </a:tc>
                <a:tc>
                  <a:txBody>
                    <a:bodyPr/>
                    <a:lstStyle/>
                    <a:p>
                      <a:r>
                        <a:rPr sz="1575" b="1">
                          <a:solidFill>
                            <a:srgbClr val="FFFFFF"/>
                          </a:solidFill>
                          <a:latin typeface="Aptos"/>
                          <a:ea typeface="Aptos"/>
                          <a:cs typeface="Aptos"/>
                        </a:rPr>
                        <a:t>Mercredi</a:t>
                      </a:r>
                    </a:p>
                  </a:txBody>
                  <a:tcPr>
                    <a:solidFill>
                      <a:srgbClr val="15304B"/>
                    </a:solidFill>
                  </a:tcPr>
                </a:tc>
                <a:tc>
                  <a:txBody>
                    <a:bodyPr/>
                    <a:lstStyle/>
                    <a:p>
                      <a:r>
                        <a:rPr sz="1575" b="1">
                          <a:solidFill>
                            <a:srgbClr val="FFFFFF"/>
                          </a:solidFill>
                          <a:latin typeface="Aptos"/>
                          <a:ea typeface="Aptos"/>
                          <a:cs typeface="Aptos"/>
                        </a:rPr>
                        <a:t>Jeudi</a:t>
                      </a:r>
                    </a:p>
                  </a:txBody>
                  <a:tcPr>
                    <a:solidFill>
                      <a:srgbClr val="15304B"/>
                    </a:solidFill>
                  </a:tcPr>
                </a:tc>
                <a:tc>
                  <a:txBody>
                    <a:bodyPr/>
                    <a:lstStyle/>
                    <a:p>
                      <a:r>
                        <a:rPr sz="1575" b="1">
                          <a:solidFill>
                            <a:srgbClr val="FFFFFF"/>
                          </a:solidFill>
                          <a:latin typeface="Aptos"/>
                          <a:ea typeface="Aptos"/>
                          <a:cs typeface="Aptos"/>
                        </a:rPr>
                        <a:t>Vendredi</a:t>
                      </a:r>
                    </a:p>
                  </a:txBody>
                  <a:tcPr>
                    <a:solidFill>
                      <a:srgbClr val="15304B"/>
                    </a:solidFill>
                  </a:tcPr>
                </a:tc>
                <a:extLst>
                  <a:ext uri="{0D108BD9-81ED-4DB2-BD59-A6C34878D82A}">
                    <a16:rowId xmlns:a16="http://schemas.microsoft.com/office/drawing/2014/main" val="10000"/>
                  </a:ext>
                </a:extLst>
              </a:tr>
              <a:tr h="714375">
                <a:tc>
                  <a:txBody>
                    <a:bodyPr/>
                    <a:lstStyle/>
                    <a:p>
                      <a:r>
                        <a:rPr sz="1650" b="0">
                          <a:solidFill>
                            <a:srgbClr val="173651"/>
                          </a:solidFill>
                          <a:latin typeface="Aptos"/>
                          <a:ea typeface="Aptos"/>
                          <a:cs typeface="Aptos"/>
                        </a:rPr>
                        <a:t>Étude du besoin</a:t>
                      </a:r>
                    </a:p>
                  </a:txBody>
                  <a:tcPr>
                    <a:solidFill>
                      <a:srgbClr val="FFFFFF"/>
                    </a:solidFill>
                  </a:tcPr>
                </a:tc>
                <a:tc>
                  <a:txBody>
                    <a:bodyPr/>
                    <a:lstStyle/>
                    <a:p>
                      <a:r>
                        <a:rPr sz="1650" b="1">
                          <a:solidFill>
                            <a:srgbClr val="15304B"/>
                          </a:solidFill>
                          <a:latin typeface="Aptos"/>
                          <a:ea typeface="Aptos"/>
                          <a:cs typeface="Aptos"/>
                        </a:rPr>
                        <a:t>■</a:t>
                      </a:r>
                    </a:p>
                  </a:txBody>
                  <a:tcPr>
                    <a:solidFill>
                      <a:srgbClr val="D9EBF3"/>
                    </a:solidFill>
                  </a:tcPr>
                </a:tc>
                <a:tc>
                  <a:txBody>
                    <a:bodyPr/>
                    <a:lstStyle/>
                    <a:p>
                      <a:r>
                        <a:rPr sz="1650" b="1">
                          <a:solidFill>
                            <a:srgbClr val="15304B"/>
                          </a:solidFill>
                          <a:latin typeface="Aptos"/>
                          <a:ea typeface="Aptos"/>
                          <a:cs typeface="Aptos"/>
                        </a:rPr>
                        <a:t>■</a:t>
                      </a:r>
                    </a:p>
                  </a:txBody>
                  <a:tcPr>
                    <a:solidFill>
                      <a:srgbClr val="D9EBF3"/>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1"/>
                  </a:ext>
                </a:extLst>
              </a:tr>
              <a:tr h="714375">
                <a:tc>
                  <a:txBody>
                    <a:bodyPr/>
                    <a:lstStyle/>
                    <a:p>
                      <a:r>
                        <a:rPr sz="1650" b="0">
                          <a:solidFill>
                            <a:srgbClr val="173651"/>
                          </a:solidFill>
                          <a:latin typeface="Aptos"/>
                          <a:ea typeface="Aptos"/>
                          <a:cs typeface="Aptos"/>
                        </a:rPr>
                        <a:t>Choix de la solution</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r>
                        <a:rPr sz="1650" b="1">
                          <a:solidFill>
                            <a:srgbClr val="15304B"/>
                          </a:solidFill>
                          <a:latin typeface="Aptos"/>
                          <a:ea typeface="Aptos"/>
                          <a:cs typeface="Aptos"/>
                        </a:rPr>
                        <a:t>■</a:t>
                      </a:r>
                    </a:p>
                  </a:txBody>
                  <a:tcPr>
                    <a:solidFill>
                      <a:srgbClr val="DDF1E7"/>
                    </a:solidFill>
                  </a:tcPr>
                </a:tc>
                <a:tc>
                  <a:txBody>
                    <a:bodyPr/>
                    <a:lstStyle/>
                    <a:p>
                      <a:r>
                        <a:rPr sz="1650" b="1">
                          <a:solidFill>
                            <a:srgbClr val="15304B"/>
                          </a:solidFill>
                          <a:latin typeface="Aptos"/>
                          <a:ea typeface="Aptos"/>
                          <a:cs typeface="Aptos"/>
                        </a:rPr>
                        <a:t>■</a:t>
                      </a:r>
                    </a:p>
                  </a:txBody>
                  <a:tcPr>
                    <a:solidFill>
                      <a:srgbClr val="DDF1E7"/>
                    </a:solidFill>
                  </a:tcPr>
                </a:tc>
                <a:tc>
                  <a:txBody>
                    <a:bodyPr/>
                    <a:lstStyle/>
                    <a:p>
                      <a:endParaRPr/>
                    </a:p>
                  </a:txBody>
                  <a:tcPr>
                    <a:solidFill>
                      <a:srgbClr val="EFF5F8"/>
                    </a:solidFill>
                  </a:tcPr>
                </a:tc>
                <a:extLst>
                  <a:ext uri="{0D108BD9-81ED-4DB2-BD59-A6C34878D82A}">
                    <a16:rowId xmlns:a16="http://schemas.microsoft.com/office/drawing/2014/main" val="10002"/>
                  </a:ext>
                </a:extLst>
              </a:tr>
              <a:tr h="714375">
                <a:tc>
                  <a:txBody>
                    <a:bodyPr/>
                    <a:lstStyle/>
                    <a:p>
                      <a:r>
                        <a:rPr sz="1650" b="0">
                          <a:solidFill>
                            <a:srgbClr val="173651"/>
                          </a:solidFill>
                          <a:latin typeface="Aptos"/>
                          <a:ea typeface="Aptos"/>
                          <a:cs typeface="Aptos"/>
                        </a:rPr>
                        <a:t>Présentation</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r>
                        <a:rPr sz="1650" b="1">
                          <a:solidFill>
                            <a:srgbClr val="15304B"/>
                          </a:solidFill>
                          <a:latin typeface="Aptos"/>
                          <a:ea typeface="Aptos"/>
                          <a:cs typeface="Aptos"/>
                        </a:rPr>
                        <a:t>◆</a:t>
                      </a:r>
                    </a:p>
                  </a:txBody>
                  <a:tcPr>
                    <a:solidFill>
                      <a:srgbClr val="FBE8D5"/>
                    </a:solidFill>
                  </a:tcPr>
                </a:tc>
                <a:extLst>
                  <a:ext uri="{0D108BD9-81ED-4DB2-BD59-A6C34878D82A}">
                    <a16:rowId xmlns:a16="http://schemas.microsoft.com/office/drawing/2014/main" val="10003"/>
                  </a:ext>
                </a:extLst>
              </a:tr>
            </a:tbl>
          </a:graphicData>
        </a:graphic>
      </p:graphicFrame>
      <p:sp>
        <p:nvSpPr>
          <p:cNvPr id="5" name="Rectangle 4">
            <a:extLst>
              <a:ext uri="{FF2B5EF4-FFF2-40B4-BE49-F238E27FC236}">
                <a16:creationId xmlns:a16="http://schemas.microsoft.com/office/drawing/2014/main" id="{6803ECD5-0529-4CD4-91AD-614EA2DCD19F}"/>
              </a:ext>
            </a:extLst>
          </p:cNvPr>
          <p:cNvSpPr>
            <a:spLocks noGrp="1"/>
          </p:cNvSpPr>
          <p:nvPr/>
        </p:nvSpPr>
        <p:spPr>
          <a:xfrm>
            <a:off x="742950" y="5334000"/>
            <a:ext cx="10477500" cy="762000"/>
          </a:xfrm>
          <a:prstGeom prst="rect">
            <a:avLst/>
          </a:prstGeom>
          <a:noFill/>
          <a:ln w="0">
            <a:noFill/>
          </a:ln>
        </p:spPr>
        <p:txBody>
          <a:bodyPr anchor="t">
            <a:noAutofit/>
          </a:bodyPr>
          <a:lstStyle/>
          <a:p>
            <a:pPr>
              <a:defRPr sz="1800" b="0">
                <a:solidFill>
                  <a:srgbClr val="173651"/>
                </a:solidFill>
                <a:latin typeface="Aptos"/>
                <a:ea typeface="Aptos"/>
                <a:cs typeface="Aptos"/>
              </a:defRPr>
            </a:pPr>
            <a:r>
              <a:rPr sz="1800" b="0">
                <a:solidFill>
                  <a:srgbClr val="173651"/>
                </a:solidFill>
                <a:latin typeface="Aptos"/>
                <a:ea typeface="Aptos"/>
                <a:cs typeface="Aptos"/>
              </a:rPr>
              <a:t>Questions : quand commence le choix ? Que marque le losange du vendredi ?</a:t>
            </a:r>
          </a:p>
        </p:txBody>
      </p:sp>
      <p:sp>
        <p:nvSpPr>
          <p:cNvPr id="6" name="Rectangle 5">
            <a:extLst>
              <a:ext uri="{FF2B5EF4-FFF2-40B4-BE49-F238E27FC236}">
                <a16:creationId xmlns:a16="http://schemas.microsoft.com/office/drawing/2014/main" id="{A450DDFA-4549-4E9F-BB27-7B46A3655522}"/>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12</a:t>
            </a:r>
          </a:p>
        </p:txBody>
      </p:sp>
    </p:spTree>
    <p:extLst>
      <p:ext uri="{BB962C8B-B14F-4D97-AF65-F5344CB8AC3E}">
        <p14:creationId xmlns:p14="http://schemas.microsoft.com/office/powerpoint/2010/main" val="2135917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A190913C-3BF1-47CD-9920-6E1693B00B72}"/>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Lire le premier Gantt</a:t>
            </a:r>
          </a:p>
        </p:txBody>
      </p:sp>
      <p:sp>
        <p:nvSpPr>
          <p:cNvPr id="4" name="Rectangle 3">
            <a:extLst>
              <a:ext uri="{FF2B5EF4-FFF2-40B4-BE49-F238E27FC236}">
                <a16:creationId xmlns:a16="http://schemas.microsoft.com/office/drawing/2014/main" id="{4724602A-6361-40EB-A7FF-418AB34C5B65}"/>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1. Quand commence la recherche d’une solution ? ................</a:t>
            </a:r>
          </a:p>
          <a:p>
            <a:pPr>
              <a:defRPr sz="1950" b="0">
                <a:solidFill>
                  <a:srgbClr val="173651"/>
                </a:solidFill>
                <a:latin typeface="Aptos"/>
                <a:ea typeface="Aptos"/>
                <a:cs typeface="Aptos"/>
              </a:defRPr>
            </a:pPr>
            <a:r>
              <a:rPr sz="1950" b="0">
                <a:solidFill>
                  <a:srgbClr val="173651"/>
                </a:solidFill>
                <a:latin typeface="Aptos"/>
                <a:ea typeface="Aptos"/>
                <a:cs typeface="Aptos"/>
              </a:rPr>
              <a:t>2. Quelle est la durée totale du projet ? ................</a:t>
            </a:r>
          </a:p>
          <a:p>
            <a:pPr>
              <a:defRPr sz="1950" b="0">
                <a:solidFill>
                  <a:srgbClr val="173651"/>
                </a:solidFill>
                <a:latin typeface="Aptos"/>
                <a:ea typeface="Aptos"/>
                <a:cs typeface="Aptos"/>
              </a:defRPr>
            </a:pPr>
            <a:r>
              <a:rPr sz="1950" b="0">
                <a:solidFill>
                  <a:srgbClr val="173651"/>
                </a:solidFill>
                <a:latin typeface="Aptos"/>
                <a:ea typeface="Aptos"/>
                <a:cs typeface="Aptos"/>
              </a:rPr>
              <a:t>3. Que signifie le losange placé le vendredi ? ................</a:t>
            </a:r>
          </a:p>
        </p:txBody>
      </p:sp>
      <p:sp>
        <p:nvSpPr>
          <p:cNvPr id="5" name="Rectangle 4">
            <a:extLst>
              <a:ext uri="{FF2B5EF4-FFF2-40B4-BE49-F238E27FC236}">
                <a16:creationId xmlns:a16="http://schemas.microsoft.com/office/drawing/2014/main" id="{8D6BF91C-D675-476B-9AD7-D7275D608EC2}"/>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À justifier à l’oral</a:t>
            </a:r>
          </a:p>
        </p:txBody>
      </p:sp>
      <p:sp>
        <p:nvSpPr>
          <p:cNvPr id="6" name="Rectangle 5">
            <a:extLst>
              <a:ext uri="{FF2B5EF4-FFF2-40B4-BE49-F238E27FC236}">
                <a16:creationId xmlns:a16="http://schemas.microsoft.com/office/drawing/2014/main" id="{EF24FA8C-EA62-41AD-9E9E-F89B0E002065}"/>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Ne donnez pas seulement un jour : appuyez la réponse sur la fin de la barre précédente et sur le type de lien entre les deux activités.</a:t>
            </a:r>
          </a:p>
        </p:txBody>
      </p:sp>
      <p:sp>
        <p:nvSpPr>
          <p:cNvPr id="7" name="Rectangle 6">
            <a:extLst>
              <a:ext uri="{FF2B5EF4-FFF2-40B4-BE49-F238E27FC236}">
                <a16:creationId xmlns:a16="http://schemas.microsoft.com/office/drawing/2014/main" id="{7042240F-FA43-413A-A665-27FA5E8A9AC3}"/>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13</a:t>
            </a:r>
          </a:p>
        </p:txBody>
      </p:sp>
    </p:spTree>
    <p:extLst>
      <p:ext uri="{BB962C8B-B14F-4D97-AF65-F5344CB8AC3E}">
        <p14:creationId xmlns:p14="http://schemas.microsoft.com/office/powerpoint/2010/main" val="5453996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FF5F8"/>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C23BEDB7-F637-4148-BCBD-B3373E56B742}"/>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Partie 2 · Construire le Gantt</a:t>
            </a:r>
          </a:p>
        </p:txBody>
      </p:sp>
      <p:sp>
        <p:nvSpPr>
          <p:cNvPr id="3" name="Rectangle 2">
            <a:extLst>
              <a:ext uri="{FF2B5EF4-FFF2-40B4-BE49-F238E27FC236}">
                <a16:creationId xmlns:a16="http://schemas.microsoft.com/office/drawing/2014/main" id="{9A631734-DED2-418B-866E-27BEEFCC49CA}"/>
              </a:ext>
            </a:extLst>
          </p:cNvPr>
          <p:cNvSpPr>
            <a:spLocks noGrp="1"/>
          </p:cNvSpPr>
          <p:nvPr/>
        </p:nvSpPr>
        <p:spPr>
          <a:xfrm>
            <a:off x="733425" y="1438275"/>
            <a:ext cx="10572750" cy="400050"/>
          </a:xfrm>
          <a:prstGeom prst="rect">
            <a:avLst/>
          </a:prstGeom>
          <a:noFill/>
          <a:ln w="0">
            <a:noFill/>
          </a:ln>
        </p:spPr>
        <p:txBody>
          <a:bodyPr anchor="t">
            <a:noAutofit/>
          </a:bodyPr>
          <a:lstStyle/>
          <a:p>
            <a:pPr>
              <a:defRPr sz="1425" b="1">
                <a:solidFill>
                  <a:srgbClr val="23739A"/>
                </a:solidFill>
                <a:latin typeface="Aptos"/>
                <a:ea typeface="Aptos"/>
                <a:cs typeface="Aptos"/>
              </a:defRPr>
            </a:pPr>
            <a:r>
              <a:rPr sz="1425" b="1">
                <a:solidFill>
                  <a:srgbClr val="23739A"/>
                </a:solidFill>
                <a:latin typeface="Aptos"/>
                <a:ea typeface="Aptos"/>
                <a:cs typeface="Aptos"/>
              </a:rPr>
              <a:t>Méthode guidée : du tableau de tâches au diagramme</a:t>
            </a:r>
          </a:p>
        </p:txBody>
      </p:sp>
      <p:sp>
        <p:nvSpPr>
          <p:cNvPr id="5" name="Rectangle 4">
            <a:extLst>
              <a:ext uri="{FF2B5EF4-FFF2-40B4-BE49-F238E27FC236}">
                <a16:creationId xmlns:a16="http://schemas.microsoft.com/office/drawing/2014/main" id="{20D49F78-8F07-4C76-8C3D-35F31426EE3D}"/>
              </a:ext>
            </a:extLst>
          </p:cNvPr>
          <p:cNvSpPr>
            <a:spLocks noGrp="1"/>
          </p:cNvSpPr>
          <p:nvPr/>
        </p:nvSpPr>
        <p:spPr>
          <a:xfrm>
            <a:off x="762000" y="2905125"/>
            <a:ext cx="10382250" cy="1809750"/>
          </a:xfrm>
          <a:prstGeom prst="rect">
            <a:avLst/>
          </a:prstGeom>
          <a:noFill/>
          <a:ln w="0">
            <a:noFill/>
          </a:ln>
        </p:spPr>
        <p:txBody>
          <a:bodyPr anchor="t">
            <a:noAutofit/>
          </a:bodyPr>
          <a:lstStyle/>
          <a:p>
            <a:pPr>
              <a:defRPr sz="2100" b="0">
                <a:solidFill>
                  <a:srgbClr val="173651"/>
                </a:solidFill>
                <a:latin typeface="Aptos"/>
                <a:ea typeface="Aptos"/>
                <a:cs typeface="Aptos"/>
              </a:defRPr>
            </a:pPr>
            <a:r>
              <a:rPr sz="2100" b="0">
                <a:solidFill>
                  <a:srgbClr val="173651"/>
                </a:solidFill>
                <a:latin typeface="Aptos"/>
                <a:ea typeface="Aptos"/>
                <a:cs typeface="Aptos"/>
              </a:rPr>
              <a:t>Avant de colorier les barres, nous allons préciser les durées et les précédents. Nous calculerons les débuts au plus tôt, puis nous tracerons le Gantt de la station météo.</a:t>
            </a:r>
          </a:p>
        </p:txBody>
      </p:sp>
      <p:sp>
        <p:nvSpPr>
          <p:cNvPr id="6" name="Rectangle 5">
            <a:extLst>
              <a:ext uri="{FF2B5EF4-FFF2-40B4-BE49-F238E27FC236}">
                <a16:creationId xmlns:a16="http://schemas.microsoft.com/office/drawing/2014/main" id="{DDB09A40-1AE3-4AB1-B407-7EC7602589BB}"/>
              </a:ext>
            </a:extLst>
          </p:cNvPr>
          <p:cNvSpPr>
            <a:spLocks noGrp="1"/>
          </p:cNvSpPr>
          <p:nvPr/>
        </p:nvSpPr>
        <p:spPr>
          <a:xfrm>
            <a:off x="762000" y="5362575"/>
            <a:ext cx="10477500" cy="714375"/>
          </a:xfrm>
          <a:prstGeom prst="rect">
            <a:avLst/>
          </a:prstGeom>
          <a:noFill/>
          <a:ln w="0">
            <a:noFill/>
          </a:ln>
        </p:spPr>
        <p:txBody>
          <a:bodyPr anchor="t">
            <a:noAutofit/>
          </a:bodyPr>
          <a:lstStyle/>
          <a:p>
            <a:pPr>
              <a:defRPr sz="1500" b="0">
                <a:solidFill>
                  <a:srgbClr val="496577"/>
                </a:solidFill>
                <a:latin typeface="Aptos"/>
                <a:ea typeface="Aptos"/>
                <a:cs typeface="Aptos"/>
              </a:defRPr>
            </a:pPr>
            <a:r>
              <a:rPr sz="1500" b="0">
                <a:solidFill>
                  <a:srgbClr val="496577"/>
                </a:solidFill>
                <a:latin typeface="Aptos"/>
                <a:ea typeface="Aptos"/>
                <a:cs typeface="Aptos"/>
              </a:rPr>
              <a:t>À l’issue de cette partie, je pourrai expliquer ou réaliser cette étape du planning.</a:t>
            </a:r>
          </a:p>
        </p:txBody>
      </p:sp>
      <p:sp>
        <p:nvSpPr>
          <p:cNvPr id="7" name="Rectangle 6">
            <a:extLst>
              <a:ext uri="{FF2B5EF4-FFF2-40B4-BE49-F238E27FC236}">
                <a16:creationId xmlns:a16="http://schemas.microsoft.com/office/drawing/2014/main" id="{A744F570-0DF7-40F0-A9D2-C980F5C706F8}"/>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14</a:t>
            </a:r>
          </a:p>
        </p:txBody>
      </p:sp>
    </p:spTree>
    <p:extLst>
      <p:ext uri="{BB962C8B-B14F-4D97-AF65-F5344CB8AC3E}">
        <p14:creationId xmlns:p14="http://schemas.microsoft.com/office/powerpoint/2010/main" val="722566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22EE601E-304D-4853-AD60-AD124583E019}"/>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Une dépendance : fin puis début</a:t>
            </a:r>
          </a:p>
        </p:txBody>
      </p:sp>
      <p:sp>
        <p:nvSpPr>
          <p:cNvPr id="4" name="Rectangle 3">
            <a:extLst>
              <a:ext uri="{FF2B5EF4-FFF2-40B4-BE49-F238E27FC236}">
                <a16:creationId xmlns:a16="http://schemas.microsoft.com/office/drawing/2014/main" id="{1F77E883-9593-4DA3-96EE-B3D8F3C8A238}"/>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Si B dépend de A, B commence après la fin de A. Ce lien est appelé « fin puis début ».</a:t>
            </a:r>
          </a:p>
          <a:p>
            <a:pPr>
              <a:defRPr sz="1950" b="0">
                <a:solidFill>
                  <a:srgbClr val="173651"/>
                </a:solidFill>
                <a:latin typeface="Aptos"/>
                <a:ea typeface="Aptos"/>
                <a:cs typeface="Aptos"/>
              </a:defRPr>
            </a:pPr>
            <a:r>
              <a:rPr sz="1950" b="0">
                <a:solidFill>
                  <a:srgbClr val="173651"/>
                </a:solidFill>
                <a:latin typeface="Aptos"/>
                <a:ea typeface="Aptos"/>
                <a:cs typeface="Aptos"/>
              </a:rPr>
              <a:t>Exemple : la recherche de composants commence après la définition du besoin. Si l’étude prend un jour de plus, la recherche peut être décalée, puis les tâches qui en dépendent.</a:t>
            </a:r>
          </a:p>
        </p:txBody>
      </p:sp>
      <p:sp>
        <p:nvSpPr>
          <p:cNvPr id="5" name="Rectangle 4">
            <a:extLst>
              <a:ext uri="{FF2B5EF4-FFF2-40B4-BE49-F238E27FC236}">
                <a16:creationId xmlns:a16="http://schemas.microsoft.com/office/drawing/2014/main" id="{238C665E-DF29-490C-8AA5-49434FD42CB4}"/>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Test de cohérence</a:t>
            </a:r>
          </a:p>
        </p:txBody>
      </p:sp>
      <p:sp>
        <p:nvSpPr>
          <p:cNvPr id="6" name="Rectangle 5">
            <a:extLst>
              <a:ext uri="{FF2B5EF4-FFF2-40B4-BE49-F238E27FC236}">
                <a16:creationId xmlns:a16="http://schemas.microsoft.com/office/drawing/2014/main" id="{9FC74B4D-7873-464C-978B-C6FAC52011C9}"/>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Si le schéma électrique doit être terminé avant le montage, un montage placé avant la fin du schéma est incohérent. Dans le logiciel, le lien entre les deux tâches permet de conserver cet ordre lors d’une modification.</a:t>
            </a:r>
          </a:p>
        </p:txBody>
      </p:sp>
      <p:sp>
        <p:nvSpPr>
          <p:cNvPr id="7" name="Rectangle 6">
            <a:extLst>
              <a:ext uri="{FF2B5EF4-FFF2-40B4-BE49-F238E27FC236}">
                <a16:creationId xmlns:a16="http://schemas.microsoft.com/office/drawing/2014/main" id="{CBCBF020-1A4D-4804-81C6-6F2F8277D4AB}"/>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15</a:t>
            </a:r>
          </a:p>
        </p:txBody>
      </p:sp>
    </p:spTree>
    <p:extLst>
      <p:ext uri="{BB962C8B-B14F-4D97-AF65-F5344CB8AC3E}">
        <p14:creationId xmlns:p14="http://schemas.microsoft.com/office/powerpoint/2010/main" val="1751426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968C33B5-BE07-408E-AD16-68446C1D63E9}"/>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Des tâches en parallèle</a:t>
            </a:r>
          </a:p>
        </p:txBody>
      </p:sp>
      <p:sp>
        <p:nvSpPr>
          <p:cNvPr id="4" name="Rectangle 3">
            <a:extLst>
              <a:ext uri="{FF2B5EF4-FFF2-40B4-BE49-F238E27FC236}">
                <a16:creationId xmlns:a16="http://schemas.microsoft.com/office/drawing/2014/main" id="{9BD07669-50C6-499E-B783-ADBB77094685}"/>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Après l’étude des capteurs, la carte électronique et le boîtier peuvent être conçus en parallèle. Les barres occupent alors une partie des mêmes jours.</a:t>
            </a:r>
          </a:p>
          <a:p>
            <a:pPr>
              <a:defRPr sz="1950" b="0">
                <a:solidFill>
                  <a:srgbClr val="173651"/>
                </a:solidFill>
                <a:latin typeface="Aptos"/>
                <a:ea typeface="Aptos"/>
                <a:cs typeface="Aptos"/>
              </a:defRPr>
            </a:pPr>
            <a:r>
              <a:rPr sz="1950" b="0">
                <a:solidFill>
                  <a:srgbClr val="173651"/>
                </a:solidFill>
                <a:latin typeface="Aptos"/>
                <a:ea typeface="Aptos"/>
                <a:cs typeface="Aptos"/>
              </a:rPr>
              <a:t>Ce chevauchement suppose que les ressources sont disponibles. Si la même personne doit réaliser les deux tâches, il faut revoir le planning.</a:t>
            </a:r>
          </a:p>
        </p:txBody>
      </p:sp>
      <p:sp>
        <p:nvSpPr>
          <p:cNvPr id="5" name="Rectangle 4">
            <a:extLst>
              <a:ext uri="{FF2B5EF4-FFF2-40B4-BE49-F238E27FC236}">
                <a16:creationId xmlns:a16="http://schemas.microsoft.com/office/drawing/2014/main" id="{F18584BE-452F-4D82-BD36-40C2B95BF724}"/>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Le contrôle indispensable</a:t>
            </a:r>
          </a:p>
        </p:txBody>
      </p:sp>
      <p:sp>
        <p:nvSpPr>
          <p:cNvPr id="6" name="Rectangle 5">
            <a:extLst>
              <a:ext uri="{FF2B5EF4-FFF2-40B4-BE49-F238E27FC236}">
                <a16:creationId xmlns:a16="http://schemas.microsoft.com/office/drawing/2014/main" id="{B6FB1F60-E0F0-4CE1-88A4-CD6A6174C650}"/>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Le concepteur du boîtier peut travailler tandis qu’un autre élève prépare l’électronique. Si une seule imprimante 3D est nécessaire à deux tâches au même moment, leur simultanéité doit être réexaminée.</a:t>
            </a:r>
          </a:p>
        </p:txBody>
      </p:sp>
      <p:sp>
        <p:nvSpPr>
          <p:cNvPr id="7" name="Rectangle 6">
            <a:extLst>
              <a:ext uri="{FF2B5EF4-FFF2-40B4-BE49-F238E27FC236}">
                <a16:creationId xmlns:a16="http://schemas.microsoft.com/office/drawing/2014/main" id="{0A74A32D-848B-42B2-85CE-7C4AC77FDFF5}"/>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16</a:t>
            </a:r>
          </a:p>
        </p:txBody>
      </p:sp>
    </p:spTree>
    <p:extLst>
      <p:ext uri="{BB962C8B-B14F-4D97-AF65-F5344CB8AC3E}">
        <p14:creationId xmlns:p14="http://schemas.microsoft.com/office/powerpoint/2010/main" val="827480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EBDEEB68-F549-416D-8967-6B14178C2FDE}"/>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Un jalon repère une étape</a:t>
            </a:r>
          </a:p>
        </p:txBody>
      </p:sp>
      <p:sp>
        <p:nvSpPr>
          <p:cNvPr id="4" name="Rectangle 3">
            <a:extLst>
              <a:ext uri="{FF2B5EF4-FFF2-40B4-BE49-F238E27FC236}">
                <a16:creationId xmlns:a16="http://schemas.microsoft.com/office/drawing/2014/main" id="{B1B14097-14E3-4F5D-A0CD-924EB34A185D}"/>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Un jalon marque un événement important, par exemple « choix technique validé » ou « prototype accepté ». Il a une durée nulle.</a:t>
            </a:r>
          </a:p>
          <a:p>
            <a:pPr>
              <a:defRPr sz="1950" b="0">
                <a:solidFill>
                  <a:srgbClr val="173651"/>
                </a:solidFill>
                <a:latin typeface="Aptos"/>
                <a:ea typeface="Aptos"/>
                <a:cs typeface="Aptos"/>
              </a:defRPr>
            </a:pPr>
            <a:r>
              <a:rPr sz="1950" b="0">
                <a:solidFill>
                  <a:srgbClr val="173651"/>
                </a:solidFill>
                <a:latin typeface="Aptos"/>
                <a:ea typeface="Aptos"/>
                <a:cs typeface="Aptos"/>
              </a:rPr>
              <a:t>Le jalon sert à vérifier une étape avant de poursuivre. Une présentation qui occupe une journée est une tâche ; la validation de cette présentation peut être un jalon.</a:t>
            </a:r>
          </a:p>
        </p:txBody>
      </p:sp>
      <p:sp>
        <p:nvSpPr>
          <p:cNvPr id="5" name="Rectangle 4">
            <a:extLst>
              <a:ext uri="{FF2B5EF4-FFF2-40B4-BE49-F238E27FC236}">
                <a16:creationId xmlns:a16="http://schemas.microsoft.com/office/drawing/2014/main" id="{7CDC0A35-B4CB-4D23-9592-9E19A8843587}"/>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Exemple de revue de projet</a:t>
            </a:r>
          </a:p>
        </p:txBody>
      </p:sp>
      <p:sp>
        <p:nvSpPr>
          <p:cNvPr id="6" name="Rectangle 5">
            <a:extLst>
              <a:ext uri="{FF2B5EF4-FFF2-40B4-BE49-F238E27FC236}">
                <a16:creationId xmlns:a16="http://schemas.microsoft.com/office/drawing/2014/main" id="{15490F1D-9A81-4335-B1FB-3ED599BF7B7F}"/>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 Schéma validé » peut marquer la décision de fabriquer la carte. Le temps passé à vérifier le schéma se planifie comme une tâche ; la validation obtenue est le jalon.</a:t>
            </a:r>
          </a:p>
        </p:txBody>
      </p:sp>
      <p:sp>
        <p:nvSpPr>
          <p:cNvPr id="7" name="Rectangle 6">
            <a:extLst>
              <a:ext uri="{FF2B5EF4-FFF2-40B4-BE49-F238E27FC236}">
                <a16:creationId xmlns:a16="http://schemas.microsoft.com/office/drawing/2014/main" id="{69DD7A71-EE76-4F17-B53C-4247096E9605}"/>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17</a:t>
            </a:r>
          </a:p>
        </p:txBody>
      </p:sp>
    </p:spTree>
    <p:extLst>
      <p:ext uri="{BB962C8B-B14F-4D97-AF65-F5344CB8AC3E}">
        <p14:creationId xmlns:p14="http://schemas.microsoft.com/office/powerpoint/2010/main" val="18898105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01F5223D-4E0A-4C97-A936-CAF0A34170B8}"/>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Une méthode de construction</a:t>
            </a:r>
          </a:p>
        </p:txBody>
      </p:sp>
      <p:sp>
        <p:nvSpPr>
          <p:cNvPr id="4" name="Rectangle 3">
            <a:extLst>
              <a:ext uri="{FF2B5EF4-FFF2-40B4-BE49-F238E27FC236}">
                <a16:creationId xmlns:a16="http://schemas.microsoft.com/office/drawing/2014/main" id="{05A7D059-0880-47A1-869F-956640E26790}"/>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1. Définir le résultat à livrer et le calendrier de travail.</a:t>
            </a:r>
          </a:p>
          <a:p>
            <a:pPr>
              <a:defRPr sz="1950" b="0">
                <a:solidFill>
                  <a:srgbClr val="173651"/>
                </a:solidFill>
                <a:latin typeface="Aptos"/>
                <a:ea typeface="Aptos"/>
                <a:cs typeface="Aptos"/>
              </a:defRPr>
            </a:pPr>
            <a:r>
              <a:rPr sz="1950" b="0">
                <a:solidFill>
                  <a:srgbClr val="173651"/>
                </a:solidFill>
                <a:latin typeface="Aptos"/>
                <a:ea typeface="Aptos"/>
                <a:cs typeface="Aptos"/>
              </a:rPr>
              <a:t>2. Lister les tâches et estimer leur durée.</a:t>
            </a:r>
          </a:p>
          <a:p>
            <a:pPr>
              <a:defRPr sz="1950" b="0">
                <a:solidFill>
                  <a:srgbClr val="173651"/>
                </a:solidFill>
                <a:latin typeface="Aptos"/>
                <a:ea typeface="Aptos"/>
                <a:cs typeface="Aptos"/>
              </a:defRPr>
            </a:pPr>
            <a:r>
              <a:rPr sz="1950" b="0">
                <a:solidFill>
                  <a:srgbClr val="173651"/>
                </a:solidFill>
                <a:latin typeface="Aptos"/>
                <a:ea typeface="Aptos"/>
                <a:cs typeface="Aptos"/>
              </a:rPr>
              <a:t>3. Relier chaque tâche à ses précédents.</a:t>
            </a:r>
          </a:p>
          <a:p>
            <a:pPr>
              <a:defRPr sz="1950" b="0">
                <a:solidFill>
                  <a:srgbClr val="173651"/>
                </a:solidFill>
                <a:latin typeface="Aptos"/>
                <a:ea typeface="Aptos"/>
                <a:cs typeface="Aptos"/>
              </a:defRPr>
            </a:pPr>
            <a:r>
              <a:rPr sz="1950" b="0">
                <a:solidFill>
                  <a:srgbClr val="173651"/>
                </a:solidFill>
                <a:latin typeface="Aptos"/>
                <a:ea typeface="Aptos"/>
                <a:cs typeface="Aptos"/>
              </a:rPr>
              <a:t>4. Placer les barres au plus tôt si les ressources le permettent.</a:t>
            </a:r>
          </a:p>
          <a:p>
            <a:pPr>
              <a:defRPr sz="1950" b="0">
                <a:solidFill>
                  <a:srgbClr val="173651"/>
                </a:solidFill>
                <a:latin typeface="Aptos"/>
                <a:ea typeface="Aptos"/>
                <a:cs typeface="Aptos"/>
              </a:defRPr>
            </a:pPr>
            <a:r>
              <a:rPr sz="1950" b="0">
                <a:solidFill>
                  <a:srgbClr val="173651"/>
                </a:solidFill>
                <a:latin typeface="Aptos"/>
                <a:ea typeface="Aptos"/>
                <a:cs typeface="Aptos"/>
              </a:rPr>
              <a:t>5. Vérifier la date finale, puis mettre le planning à jour.</a:t>
            </a:r>
          </a:p>
        </p:txBody>
      </p:sp>
      <p:sp>
        <p:nvSpPr>
          <p:cNvPr id="5" name="Rectangle 4">
            <a:extLst>
              <a:ext uri="{FF2B5EF4-FFF2-40B4-BE49-F238E27FC236}">
                <a16:creationId xmlns:a16="http://schemas.microsoft.com/office/drawing/2014/main" id="{FA8E320E-269A-4741-89D2-4E31D51F399B}"/>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Une erreur fréquente</a:t>
            </a:r>
          </a:p>
        </p:txBody>
      </p:sp>
      <p:sp>
        <p:nvSpPr>
          <p:cNvPr id="6" name="Rectangle 5">
            <a:extLst>
              <a:ext uri="{FF2B5EF4-FFF2-40B4-BE49-F238E27FC236}">
                <a16:creationId xmlns:a16="http://schemas.microsoft.com/office/drawing/2014/main" id="{4C7E4C78-A43E-4088-ABB5-A4A9CC011447}"/>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Placer toutes les barres l’une après l’autre additionne artificiellement les durées. Avant de tracer, on détermine quelles tâches attendent réellement une autre tâche et lesquelles peuvent avancer ensemble.</a:t>
            </a:r>
          </a:p>
        </p:txBody>
      </p:sp>
      <p:sp>
        <p:nvSpPr>
          <p:cNvPr id="7" name="Rectangle 6">
            <a:extLst>
              <a:ext uri="{FF2B5EF4-FFF2-40B4-BE49-F238E27FC236}">
                <a16:creationId xmlns:a16="http://schemas.microsoft.com/office/drawing/2014/main" id="{F4DE159E-BDB7-4594-AC78-BB68599B1E41}"/>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18</a:t>
            </a:r>
          </a:p>
        </p:txBody>
      </p:sp>
    </p:spTree>
    <p:extLst>
      <p:ext uri="{BB962C8B-B14F-4D97-AF65-F5344CB8AC3E}">
        <p14:creationId xmlns:p14="http://schemas.microsoft.com/office/powerpoint/2010/main" val="11422333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Image 5"/>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CDE19F7E-C16A-48F5-B4A9-2BCCDA50FDCD}"/>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Station météo : données du projet</a:t>
            </a:r>
          </a:p>
        </p:txBody>
      </p:sp>
      <p:graphicFrame>
        <p:nvGraphicFramePr>
          <p:cNvPr id="9" name="Tableau 8"/>
          <p:cNvGraphicFramePr/>
          <p:nvPr/>
        </p:nvGraphicFramePr>
        <p:xfrm>
          <a:off x="742950" y="2047875"/>
          <a:ext cx="10706100" cy="4048128"/>
        </p:xfrm>
        <a:graphic>
          <a:graphicData uri="http://schemas.openxmlformats.org/drawingml/2006/table">
            <a:tbl>
              <a:tblPr/>
              <a:tblGrid>
                <a:gridCol w="649605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578304">
                <a:tc>
                  <a:txBody>
                    <a:bodyPr/>
                    <a:lstStyle/>
                    <a:p>
                      <a:r>
                        <a:rPr sz="1425" b="1">
                          <a:solidFill>
                            <a:srgbClr val="FFFFFF"/>
                          </a:solidFill>
                          <a:latin typeface="Aptos"/>
                          <a:ea typeface="Aptos"/>
                          <a:cs typeface="Aptos"/>
                        </a:rPr>
                        <a:t>Code / tâche</a:t>
                      </a:r>
                    </a:p>
                  </a:txBody>
                  <a:tcPr>
                    <a:solidFill>
                      <a:srgbClr val="15304B"/>
                    </a:solidFill>
                  </a:tcPr>
                </a:tc>
                <a:tc>
                  <a:txBody>
                    <a:bodyPr/>
                    <a:lstStyle/>
                    <a:p>
                      <a:r>
                        <a:rPr sz="1425" b="1">
                          <a:solidFill>
                            <a:srgbClr val="FFFFFF"/>
                          </a:solidFill>
                          <a:latin typeface="Aptos"/>
                          <a:ea typeface="Aptos"/>
                          <a:cs typeface="Aptos"/>
                        </a:rPr>
                        <a:t>Durée</a:t>
                      </a:r>
                    </a:p>
                  </a:txBody>
                  <a:tcPr>
                    <a:solidFill>
                      <a:srgbClr val="15304B"/>
                    </a:solidFill>
                  </a:tcPr>
                </a:tc>
                <a:tc>
                  <a:txBody>
                    <a:bodyPr/>
                    <a:lstStyle/>
                    <a:p>
                      <a:r>
                        <a:rPr sz="1425" b="1">
                          <a:solidFill>
                            <a:srgbClr val="FFFFFF"/>
                          </a:solidFill>
                          <a:latin typeface="Aptos"/>
                          <a:ea typeface="Aptos"/>
                          <a:cs typeface="Aptos"/>
                        </a:rPr>
                        <a:t>Après</a:t>
                      </a:r>
                    </a:p>
                  </a:txBody>
                  <a:tcPr>
                    <a:solidFill>
                      <a:srgbClr val="15304B"/>
                    </a:solidFill>
                  </a:tcPr>
                </a:tc>
                <a:extLst>
                  <a:ext uri="{0D108BD9-81ED-4DB2-BD59-A6C34878D82A}">
                    <a16:rowId xmlns:a16="http://schemas.microsoft.com/office/drawing/2014/main" val="10000"/>
                  </a:ext>
                </a:extLst>
              </a:tr>
              <a:tr h="578304">
                <a:tc>
                  <a:txBody>
                    <a:bodyPr/>
                    <a:lstStyle/>
                    <a:p>
                      <a:r>
                        <a:rPr sz="1500" b="0">
                          <a:solidFill>
                            <a:srgbClr val="173651"/>
                          </a:solidFill>
                          <a:latin typeface="Aptos"/>
                          <a:ea typeface="Aptos"/>
                          <a:cs typeface="Aptos"/>
                        </a:rPr>
                        <a:t>A  Cahier des charges</a:t>
                      </a:r>
                    </a:p>
                  </a:txBody>
                  <a:tcPr>
                    <a:solidFill>
                      <a:srgbClr val="FFFFFF"/>
                    </a:solidFill>
                  </a:tcPr>
                </a:tc>
                <a:tc>
                  <a:txBody>
                    <a:bodyPr/>
                    <a:lstStyle/>
                    <a:p>
                      <a:r>
                        <a:rPr sz="1500" b="0">
                          <a:solidFill>
                            <a:srgbClr val="173651"/>
                          </a:solidFill>
                          <a:latin typeface="Aptos"/>
                          <a:ea typeface="Aptos"/>
                          <a:cs typeface="Aptos"/>
                        </a:rPr>
                        <a:t>2 jours</a:t>
                      </a:r>
                    </a:p>
                  </a:txBody>
                  <a:tcPr>
                    <a:solidFill>
                      <a:srgbClr val="FFFFFF"/>
                    </a:solidFill>
                  </a:tcPr>
                </a:tc>
                <a:tc>
                  <a:txBody>
                    <a:bodyPr/>
                    <a:lstStyle/>
                    <a:p>
                      <a:r>
                        <a:rPr sz="1500" b="0">
                          <a:solidFill>
                            <a:srgbClr val="173651"/>
                          </a:solidFill>
                          <a:latin typeface="Aptos"/>
                          <a:ea typeface="Aptos"/>
                          <a:cs typeface="Aptos"/>
                        </a:rPr>
                        <a:t>—</a:t>
                      </a:r>
                    </a:p>
                  </a:txBody>
                  <a:tcPr>
                    <a:solidFill>
                      <a:srgbClr val="FFFFFF"/>
                    </a:solidFill>
                  </a:tcPr>
                </a:tc>
                <a:extLst>
                  <a:ext uri="{0D108BD9-81ED-4DB2-BD59-A6C34878D82A}">
                    <a16:rowId xmlns:a16="http://schemas.microsoft.com/office/drawing/2014/main" val="10001"/>
                  </a:ext>
                </a:extLst>
              </a:tr>
              <a:tr h="578304">
                <a:tc>
                  <a:txBody>
                    <a:bodyPr/>
                    <a:lstStyle/>
                    <a:p>
                      <a:r>
                        <a:rPr sz="1500" b="0">
                          <a:solidFill>
                            <a:srgbClr val="173651"/>
                          </a:solidFill>
                          <a:latin typeface="Aptos"/>
                          <a:ea typeface="Aptos"/>
                          <a:cs typeface="Aptos"/>
                        </a:rPr>
                        <a:t>B  Étude des capteurs</a:t>
                      </a:r>
                    </a:p>
                  </a:txBody>
                  <a:tcPr>
                    <a:solidFill>
                      <a:srgbClr val="EFF5F8"/>
                    </a:solidFill>
                  </a:tcPr>
                </a:tc>
                <a:tc>
                  <a:txBody>
                    <a:bodyPr/>
                    <a:lstStyle/>
                    <a:p>
                      <a:r>
                        <a:rPr sz="1500" b="0">
                          <a:solidFill>
                            <a:srgbClr val="173651"/>
                          </a:solidFill>
                          <a:latin typeface="Aptos"/>
                          <a:ea typeface="Aptos"/>
                          <a:cs typeface="Aptos"/>
                        </a:rPr>
                        <a:t>3 jours</a:t>
                      </a:r>
                    </a:p>
                  </a:txBody>
                  <a:tcPr>
                    <a:solidFill>
                      <a:srgbClr val="EFF5F8"/>
                    </a:solidFill>
                  </a:tcPr>
                </a:tc>
                <a:tc>
                  <a:txBody>
                    <a:bodyPr/>
                    <a:lstStyle/>
                    <a:p>
                      <a:r>
                        <a:rPr sz="1500" b="0">
                          <a:solidFill>
                            <a:srgbClr val="173651"/>
                          </a:solidFill>
                          <a:latin typeface="Aptos"/>
                          <a:ea typeface="Aptos"/>
                          <a:cs typeface="Aptos"/>
                        </a:rPr>
                        <a:t>A</a:t>
                      </a:r>
                    </a:p>
                  </a:txBody>
                  <a:tcPr>
                    <a:solidFill>
                      <a:srgbClr val="EFF5F8"/>
                    </a:solidFill>
                  </a:tcPr>
                </a:tc>
                <a:extLst>
                  <a:ext uri="{0D108BD9-81ED-4DB2-BD59-A6C34878D82A}">
                    <a16:rowId xmlns:a16="http://schemas.microsoft.com/office/drawing/2014/main" val="10002"/>
                  </a:ext>
                </a:extLst>
              </a:tr>
              <a:tr h="578304">
                <a:tc>
                  <a:txBody>
                    <a:bodyPr/>
                    <a:lstStyle/>
                    <a:p>
                      <a:r>
                        <a:rPr sz="1500" b="0">
                          <a:solidFill>
                            <a:srgbClr val="173651"/>
                          </a:solidFill>
                          <a:latin typeface="Aptos"/>
                          <a:ea typeface="Aptos"/>
                          <a:cs typeface="Aptos"/>
                        </a:rPr>
                        <a:t>C  Carte électronique</a:t>
                      </a:r>
                    </a:p>
                  </a:txBody>
                  <a:tcPr>
                    <a:solidFill>
                      <a:srgbClr val="FFFFFF"/>
                    </a:solidFill>
                  </a:tcPr>
                </a:tc>
                <a:tc>
                  <a:txBody>
                    <a:bodyPr/>
                    <a:lstStyle/>
                    <a:p>
                      <a:r>
                        <a:rPr sz="1500" b="0">
                          <a:solidFill>
                            <a:srgbClr val="173651"/>
                          </a:solidFill>
                          <a:latin typeface="Aptos"/>
                          <a:ea typeface="Aptos"/>
                          <a:cs typeface="Aptos"/>
                        </a:rPr>
                        <a:t>4 jours</a:t>
                      </a:r>
                    </a:p>
                  </a:txBody>
                  <a:tcPr>
                    <a:solidFill>
                      <a:srgbClr val="FFFFFF"/>
                    </a:solidFill>
                  </a:tcPr>
                </a:tc>
                <a:tc>
                  <a:txBody>
                    <a:bodyPr/>
                    <a:lstStyle/>
                    <a:p>
                      <a:r>
                        <a:rPr sz="1500" b="0">
                          <a:solidFill>
                            <a:srgbClr val="173651"/>
                          </a:solidFill>
                          <a:latin typeface="Aptos"/>
                          <a:ea typeface="Aptos"/>
                          <a:cs typeface="Aptos"/>
                        </a:rPr>
                        <a:t>B</a:t>
                      </a:r>
                    </a:p>
                  </a:txBody>
                  <a:tcPr>
                    <a:solidFill>
                      <a:srgbClr val="FFFFFF"/>
                    </a:solidFill>
                  </a:tcPr>
                </a:tc>
                <a:extLst>
                  <a:ext uri="{0D108BD9-81ED-4DB2-BD59-A6C34878D82A}">
                    <a16:rowId xmlns:a16="http://schemas.microsoft.com/office/drawing/2014/main" val="10003"/>
                  </a:ext>
                </a:extLst>
              </a:tr>
              <a:tr h="578304">
                <a:tc>
                  <a:txBody>
                    <a:bodyPr/>
                    <a:lstStyle/>
                    <a:p>
                      <a:r>
                        <a:rPr sz="1500" b="0">
                          <a:solidFill>
                            <a:srgbClr val="173651"/>
                          </a:solidFill>
                          <a:latin typeface="Aptos"/>
                          <a:ea typeface="Aptos"/>
                          <a:cs typeface="Aptos"/>
                        </a:rPr>
                        <a:t>D  Programme du capteur</a:t>
                      </a:r>
                    </a:p>
                  </a:txBody>
                  <a:tcPr>
                    <a:solidFill>
                      <a:srgbClr val="EFF5F8"/>
                    </a:solidFill>
                  </a:tcPr>
                </a:tc>
                <a:tc>
                  <a:txBody>
                    <a:bodyPr/>
                    <a:lstStyle/>
                    <a:p>
                      <a:r>
                        <a:rPr sz="1500" b="0">
                          <a:solidFill>
                            <a:srgbClr val="173651"/>
                          </a:solidFill>
                          <a:latin typeface="Aptos"/>
                          <a:ea typeface="Aptos"/>
                          <a:cs typeface="Aptos"/>
                        </a:rPr>
                        <a:t>5 jours</a:t>
                      </a:r>
                    </a:p>
                  </a:txBody>
                  <a:tcPr>
                    <a:solidFill>
                      <a:srgbClr val="EFF5F8"/>
                    </a:solidFill>
                  </a:tcPr>
                </a:tc>
                <a:tc>
                  <a:txBody>
                    <a:bodyPr/>
                    <a:lstStyle/>
                    <a:p>
                      <a:r>
                        <a:rPr sz="1500" b="0">
                          <a:solidFill>
                            <a:srgbClr val="173651"/>
                          </a:solidFill>
                          <a:latin typeface="Aptos"/>
                          <a:ea typeface="Aptos"/>
                          <a:cs typeface="Aptos"/>
                        </a:rPr>
                        <a:t>C</a:t>
                      </a:r>
                    </a:p>
                  </a:txBody>
                  <a:tcPr>
                    <a:solidFill>
                      <a:srgbClr val="EFF5F8"/>
                    </a:solidFill>
                  </a:tcPr>
                </a:tc>
                <a:extLst>
                  <a:ext uri="{0D108BD9-81ED-4DB2-BD59-A6C34878D82A}">
                    <a16:rowId xmlns:a16="http://schemas.microsoft.com/office/drawing/2014/main" val="10004"/>
                  </a:ext>
                </a:extLst>
              </a:tr>
              <a:tr h="578304">
                <a:tc>
                  <a:txBody>
                    <a:bodyPr/>
                    <a:lstStyle/>
                    <a:p>
                      <a:r>
                        <a:rPr sz="1500" b="0">
                          <a:solidFill>
                            <a:srgbClr val="173651"/>
                          </a:solidFill>
                          <a:latin typeface="Aptos"/>
                          <a:ea typeface="Aptos"/>
                          <a:cs typeface="Aptos"/>
                        </a:rPr>
                        <a:t>E  Maquette du boîtier</a:t>
                      </a:r>
                    </a:p>
                  </a:txBody>
                  <a:tcPr>
                    <a:solidFill>
                      <a:srgbClr val="FFFFFF"/>
                    </a:solidFill>
                  </a:tcPr>
                </a:tc>
                <a:tc>
                  <a:txBody>
                    <a:bodyPr/>
                    <a:lstStyle/>
                    <a:p>
                      <a:r>
                        <a:rPr sz="1500" b="0">
                          <a:solidFill>
                            <a:srgbClr val="173651"/>
                          </a:solidFill>
                          <a:latin typeface="Aptos"/>
                          <a:ea typeface="Aptos"/>
                          <a:cs typeface="Aptos"/>
                        </a:rPr>
                        <a:t>3 jours</a:t>
                      </a:r>
                    </a:p>
                  </a:txBody>
                  <a:tcPr>
                    <a:solidFill>
                      <a:srgbClr val="FFFFFF"/>
                    </a:solidFill>
                  </a:tcPr>
                </a:tc>
                <a:tc>
                  <a:txBody>
                    <a:bodyPr/>
                    <a:lstStyle/>
                    <a:p>
                      <a:r>
                        <a:rPr sz="1500" b="0">
                          <a:solidFill>
                            <a:srgbClr val="173651"/>
                          </a:solidFill>
                          <a:latin typeface="Aptos"/>
                          <a:ea typeface="Aptos"/>
                          <a:cs typeface="Aptos"/>
                        </a:rPr>
                        <a:t>B</a:t>
                      </a:r>
                    </a:p>
                  </a:txBody>
                  <a:tcPr>
                    <a:solidFill>
                      <a:srgbClr val="FFFFFF"/>
                    </a:solidFill>
                  </a:tcPr>
                </a:tc>
                <a:extLst>
                  <a:ext uri="{0D108BD9-81ED-4DB2-BD59-A6C34878D82A}">
                    <a16:rowId xmlns:a16="http://schemas.microsoft.com/office/drawing/2014/main" val="10005"/>
                  </a:ext>
                </a:extLst>
              </a:tr>
              <a:tr h="578304">
                <a:tc>
                  <a:txBody>
                    <a:bodyPr/>
                    <a:lstStyle/>
                    <a:p>
                      <a:r>
                        <a:rPr sz="1500" b="0">
                          <a:solidFill>
                            <a:srgbClr val="173651"/>
                          </a:solidFill>
                          <a:latin typeface="Aptos"/>
                          <a:ea typeface="Aptos"/>
                          <a:cs typeface="Aptos"/>
                        </a:rPr>
                        <a:t>F  Tests et validation</a:t>
                      </a:r>
                    </a:p>
                  </a:txBody>
                  <a:tcPr>
                    <a:solidFill>
                      <a:srgbClr val="EFF5F8"/>
                    </a:solidFill>
                  </a:tcPr>
                </a:tc>
                <a:tc>
                  <a:txBody>
                    <a:bodyPr/>
                    <a:lstStyle/>
                    <a:p>
                      <a:r>
                        <a:rPr sz="1500" b="0">
                          <a:solidFill>
                            <a:srgbClr val="173651"/>
                          </a:solidFill>
                          <a:latin typeface="Aptos"/>
                          <a:ea typeface="Aptos"/>
                          <a:cs typeface="Aptos"/>
                        </a:rPr>
                        <a:t>2 jours</a:t>
                      </a:r>
                    </a:p>
                  </a:txBody>
                  <a:tcPr>
                    <a:solidFill>
                      <a:srgbClr val="EFF5F8"/>
                    </a:solidFill>
                  </a:tcPr>
                </a:tc>
                <a:tc>
                  <a:txBody>
                    <a:bodyPr/>
                    <a:lstStyle/>
                    <a:p>
                      <a:r>
                        <a:rPr sz="1500" b="0">
                          <a:solidFill>
                            <a:srgbClr val="173651"/>
                          </a:solidFill>
                          <a:latin typeface="Aptos"/>
                          <a:ea typeface="Aptos"/>
                          <a:cs typeface="Aptos"/>
                        </a:rPr>
                        <a:t>D et E</a:t>
                      </a:r>
                    </a:p>
                  </a:txBody>
                  <a:tcPr>
                    <a:solidFill>
                      <a:srgbClr val="EFF5F8"/>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F6A0FB52-CA42-4C5F-94EB-7A6B44259207}"/>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19</a:t>
            </a:r>
          </a:p>
        </p:txBody>
      </p:sp>
    </p:spTree>
    <p:extLst>
      <p:ext uri="{BB962C8B-B14F-4D97-AF65-F5344CB8AC3E}">
        <p14:creationId xmlns:p14="http://schemas.microsoft.com/office/powerpoint/2010/main" val="15733306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Image 5"/>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0DA5E56A-270F-4089-8326-51B6E24BBF4B}"/>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Station météo : calcul de A et B</a:t>
            </a:r>
          </a:p>
        </p:txBody>
      </p:sp>
      <p:sp>
        <p:nvSpPr>
          <p:cNvPr id="4" name="Rectangle 3">
            <a:extLst>
              <a:ext uri="{FF2B5EF4-FFF2-40B4-BE49-F238E27FC236}">
                <a16:creationId xmlns:a16="http://schemas.microsoft.com/office/drawing/2014/main" id="{71E16DDD-1982-4A8E-8A7C-C3296BB450E1}"/>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A dure 2 jours : elle occupe J.... et J.....</a:t>
            </a:r>
          </a:p>
          <a:p>
            <a:pPr>
              <a:defRPr sz="1950" b="0">
                <a:solidFill>
                  <a:srgbClr val="173651"/>
                </a:solidFill>
                <a:latin typeface="Aptos"/>
                <a:ea typeface="Aptos"/>
                <a:cs typeface="Aptos"/>
              </a:defRPr>
            </a:pPr>
            <a:r>
              <a:rPr sz="1950" b="0">
                <a:solidFill>
                  <a:srgbClr val="173651"/>
                </a:solidFill>
                <a:latin typeface="Aptos"/>
                <a:ea typeface="Aptos"/>
                <a:cs typeface="Aptos"/>
              </a:rPr>
              <a:t>B dépend de A et dure 3 jours : elle occupe J.... à J.....</a:t>
            </a:r>
          </a:p>
          <a:p>
            <a:pPr>
              <a:defRPr sz="1950" b="0">
                <a:solidFill>
                  <a:srgbClr val="173651"/>
                </a:solidFill>
                <a:latin typeface="Aptos"/>
                <a:ea typeface="Aptos"/>
                <a:cs typeface="Aptos"/>
              </a:defRPr>
            </a:pPr>
            <a:r>
              <a:rPr sz="1950" b="0">
                <a:solidFill>
                  <a:srgbClr val="173651"/>
                </a:solidFill>
                <a:latin typeface="Aptos"/>
                <a:ea typeface="Aptos"/>
                <a:cs typeface="Aptos"/>
              </a:rPr>
              <a:t>Pourquoi B ne peut-elle pas commencer à J2 ? ....................................</a:t>
            </a:r>
          </a:p>
        </p:txBody>
      </p:sp>
      <p:sp>
        <p:nvSpPr>
          <p:cNvPr id="5" name="Rectangle 4">
            <a:extLst>
              <a:ext uri="{FF2B5EF4-FFF2-40B4-BE49-F238E27FC236}">
                <a16:creationId xmlns:a16="http://schemas.microsoft.com/office/drawing/2014/main" id="{50EE81AD-66A7-4B09-996F-5D5CE60D64F6}"/>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20</a:t>
            </a:r>
          </a:p>
        </p:txBody>
      </p:sp>
    </p:spTree>
    <p:extLst>
      <p:ext uri="{BB962C8B-B14F-4D97-AF65-F5344CB8AC3E}">
        <p14:creationId xmlns:p14="http://schemas.microsoft.com/office/powerpoint/2010/main" val="5795838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Image 5"/>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D08407B5-CEEB-4CC2-B4D6-C1823A9C46E0}"/>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Station météo : deux branches</a:t>
            </a:r>
          </a:p>
        </p:txBody>
      </p:sp>
      <p:sp>
        <p:nvSpPr>
          <p:cNvPr id="4" name="Rectangle 3">
            <a:extLst>
              <a:ext uri="{FF2B5EF4-FFF2-40B4-BE49-F238E27FC236}">
                <a16:creationId xmlns:a16="http://schemas.microsoft.com/office/drawing/2014/main" id="{06676374-D102-48E6-B0B4-144C472AD6A7}"/>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Après B, C et E commencent toutes deux à J.....</a:t>
            </a:r>
          </a:p>
          <a:p>
            <a:pPr>
              <a:defRPr sz="1950" b="0">
                <a:solidFill>
                  <a:srgbClr val="173651"/>
                </a:solidFill>
                <a:latin typeface="Aptos"/>
                <a:ea typeface="Aptos"/>
                <a:cs typeface="Aptos"/>
              </a:defRPr>
            </a:pPr>
            <a:r>
              <a:rPr sz="1950" b="0">
                <a:solidFill>
                  <a:srgbClr val="173651"/>
                </a:solidFill>
                <a:latin typeface="Aptos"/>
                <a:ea typeface="Aptos"/>
                <a:cs typeface="Aptos"/>
              </a:rPr>
              <a:t>C finit à J.... ; E finit à J.....</a:t>
            </a:r>
          </a:p>
          <a:p>
            <a:pPr>
              <a:defRPr sz="1950" b="0">
                <a:solidFill>
                  <a:srgbClr val="173651"/>
                </a:solidFill>
                <a:latin typeface="Aptos"/>
                <a:ea typeface="Aptos"/>
                <a:cs typeface="Aptos"/>
              </a:defRPr>
            </a:pPr>
            <a:r>
              <a:rPr sz="1950" b="0">
                <a:solidFill>
                  <a:srgbClr val="173651"/>
                </a:solidFill>
                <a:latin typeface="Aptos"/>
                <a:ea typeface="Aptos"/>
                <a:cs typeface="Aptos"/>
              </a:rPr>
              <a:t>Les tests attendent D et E. Quel jour peuvent-ils commencer ? J.....</a:t>
            </a:r>
          </a:p>
        </p:txBody>
      </p:sp>
      <p:sp>
        <p:nvSpPr>
          <p:cNvPr id="5" name="Rectangle 4">
            <a:extLst>
              <a:ext uri="{FF2B5EF4-FFF2-40B4-BE49-F238E27FC236}">
                <a16:creationId xmlns:a16="http://schemas.microsoft.com/office/drawing/2014/main" id="{A06024E8-BB0C-42E4-8584-C33D4446E292}"/>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21</a:t>
            </a:r>
          </a:p>
        </p:txBody>
      </p:sp>
    </p:spTree>
    <p:extLst>
      <p:ext uri="{BB962C8B-B14F-4D97-AF65-F5344CB8AC3E}">
        <p14:creationId xmlns:p14="http://schemas.microsoft.com/office/powerpoint/2010/main" val="1879972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Image 6"/>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8E7B38F1-9C41-44EA-924D-CD5467795FD4}"/>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Station météo : diagramme à tracer</a:t>
            </a:r>
          </a:p>
        </p:txBody>
      </p:sp>
      <p:graphicFrame>
        <p:nvGraphicFramePr>
          <p:cNvPr id="10" name="Tableau 9"/>
          <p:cNvGraphicFramePr/>
          <p:nvPr/>
        </p:nvGraphicFramePr>
        <p:xfrm>
          <a:off x="742950" y="2114550"/>
          <a:ext cx="10706095" cy="4000500"/>
        </p:xfrm>
        <a:graphic>
          <a:graphicData uri="http://schemas.openxmlformats.org/drawingml/2006/table">
            <a:tbl>
              <a:tblPr/>
              <a:tblGrid>
                <a:gridCol w="2838450">
                  <a:extLst>
                    <a:ext uri="{9D8B030D-6E8A-4147-A177-3AD203B41FA5}">
                      <a16:colId xmlns:a16="http://schemas.microsoft.com/office/drawing/2014/main" val="20000"/>
                    </a:ext>
                  </a:extLst>
                </a:gridCol>
                <a:gridCol w="619125">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400645">
                  <a:extLst>
                    <a:ext uri="{9D8B030D-6E8A-4147-A177-3AD203B41FA5}">
                      <a16:colId xmlns:a16="http://schemas.microsoft.com/office/drawing/2014/main" val="20003"/>
                    </a:ext>
                  </a:extLst>
                </a:gridCol>
                <a:gridCol w="400645">
                  <a:extLst>
                    <a:ext uri="{9D8B030D-6E8A-4147-A177-3AD203B41FA5}">
                      <a16:colId xmlns:a16="http://schemas.microsoft.com/office/drawing/2014/main" val="20004"/>
                    </a:ext>
                  </a:extLst>
                </a:gridCol>
                <a:gridCol w="400645">
                  <a:extLst>
                    <a:ext uri="{9D8B030D-6E8A-4147-A177-3AD203B41FA5}">
                      <a16:colId xmlns:a16="http://schemas.microsoft.com/office/drawing/2014/main" val="20005"/>
                    </a:ext>
                  </a:extLst>
                </a:gridCol>
                <a:gridCol w="400645">
                  <a:extLst>
                    <a:ext uri="{9D8B030D-6E8A-4147-A177-3AD203B41FA5}">
                      <a16:colId xmlns:a16="http://schemas.microsoft.com/office/drawing/2014/main" val="20006"/>
                    </a:ext>
                  </a:extLst>
                </a:gridCol>
                <a:gridCol w="400645">
                  <a:extLst>
                    <a:ext uri="{9D8B030D-6E8A-4147-A177-3AD203B41FA5}">
                      <a16:colId xmlns:a16="http://schemas.microsoft.com/office/drawing/2014/main" val="20007"/>
                    </a:ext>
                  </a:extLst>
                </a:gridCol>
                <a:gridCol w="400645">
                  <a:extLst>
                    <a:ext uri="{9D8B030D-6E8A-4147-A177-3AD203B41FA5}">
                      <a16:colId xmlns:a16="http://schemas.microsoft.com/office/drawing/2014/main" val="20008"/>
                    </a:ext>
                  </a:extLst>
                </a:gridCol>
                <a:gridCol w="400645">
                  <a:extLst>
                    <a:ext uri="{9D8B030D-6E8A-4147-A177-3AD203B41FA5}">
                      <a16:colId xmlns:a16="http://schemas.microsoft.com/office/drawing/2014/main" val="20009"/>
                    </a:ext>
                  </a:extLst>
                </a:gridCol>
                <a:gridCol w="400645">
                  <a:extLst>
                    <a:ext uri="{9D8B030D-6E8A-4147-A177-3AD203B41FA5}">
                      <a16:colId xmlns:a16="http://schemas.microsoft.com/office/drawing/2014/main" val="20010"/>
                    </a:ext>
                  </a:extLst>
                </a:gridCol>
                <a:gridCol w="400645">
                  <a:extLst>
                    <a:ext uri="{9D8B030D-6E8A-4147-A177-3AD203B41FA5}">
                      <a16:colId xmlns:a16="http://schemas.microsoft.com/office/drawing/2014/main" val="20011"/>
                    </a:ext>
                  </a:extLst>
                </a:gridCol>
                <a:gridCol w="400645">
                  <a:extLst>
                    <a:ext uri="{9D8B030D-6E8A-4147-A177-3AD203B41FA5}">
                      <a16:colId xmlns:a16="http://schemas.microsoft.com/office/drawing/2014/main" val="20012"/>
                    </a:ext>
                  </a:extLst>
                </a:gridCol>
                <a:gridCol w="400645">
                  <a:extLst>
                    <a:ext uri="{9D8B030D-6E8A-4147-A177-3AD203B41FA5}">
                      <a16:colId xmlns:a16="http://schemas.microsoft.com/office/drawing/2014/main" val="20013"/>
                    </a:ext>
                  </a:extLst>
                </a:gridCol>
                <a:gridCol w="400645">
                  <a:extLst>
                    <a:ext uri="{9D8B030D-6E8A-4147-A177-3AD203B41FA5}">
                      <a16:colId xmlns:a16="http://schemas.microsoft.com/office/drawing/2014/main" val="20014"/>
                    </a:ext>
                  </a:extLst>
                </a:gridCol>
                <a:gridCol w="400645">
                  <a:extLst>
                    <a:ext uri="{9D8B030D-6E8A-4147-A177-3AD203B41FA5}">
                      <a16:colId xmlns:a16="http://schemas.microsoft.com/office/drawing/2014/main" val="20015"/>
                    </a:ext>
                  </a:extLst>
                </a:gridCol>
                <a:gridCol w="400645">
                  <a:extLst>
                    <a:ext uri="{9D8B030D-6E8A-4147-A177-3AD203B41FA5}">
                      <a16:colId xmlns:a16="http://schemas.microsoft.com/office/drawing/2014/main" val="20016"/>
                    </a:ext>
                  </a:extLst>
                </a:gridCol>
                <a:gridCol w="400645">
                  <a:extLst>
                    <a:ext uri="{9D8B030D-6E8A-4147-A177-3AD203B41FA5}">
                      <a16:colId xmlns:a16="http://schemas.microsoft.com/office/drawing/2014/main" val="20017"/>
                    </a:ext>
                  </a:extLst>
                </a:gridCol>
                <a:gridCol w="400645">
                  <a:extLst>
                    <a:ext uri="{9D8B030D-6E8A-4147-A177-3AD203B41FA5}">
                      <a16:colId xmlns:a16="http://schemas.microsoft.com/office/drawing/2014/main" val="20018"/>
                    </a:ext>
                  </a:extLst>
                </a:gridCol>
              </a:tblGrid>
              <a:tr h="571500">
                <a:tc>
                  <a:txBody>
                    <a:bodyPr/>
                    <a:lstStyle/>
                    <a:p>
                      <a:r>
                        <a:rPr sz="975" b="1">
                          <a:solidFill>
                            <a:srgbClr val="FFFFFF"/>
                          </a:solidFill>
                          <a:latin typeface="Aptos"/>
                          <a:ea typeface="Aptos"/>
                          <a:cs typeface="Aptos"/>
                        </a:rPr>
                        <a:t>Tâche</a:t>
                      </a:r>
                    </a:p>
                  </a:txBody>
                  <a:tcPr>
                    <a:solidFill>
                      <a:srgbClr val="15304B"/>
                    </a:solidFill>
                  </a:tcPr>
                </a:tc>
                <a:tc>
                  <a:txBody>
                    <a:bodyPr/>
                    <a:lstStyle/>
                    <a:p>
                      <a:r>
                        <a:rPr sz="975" b="1">
                          <a:solidFill>
                            <a:srgbClr val="FFFFFF"/>
                          </a:solidFill>
                          <a:latin typeface="Aptos"/>
                          <a:ea typeface="Aptos"/>
                          <a:cs typeface="Aptos"/>
                        </a:rPr>
                        <a:t>Jours</a:t>
                      </a:r>
                    </a:p>
                  </a:txBody>
                  <a:tcPr>
                    <a:solidFill>
                      <a:srgbClr val="15304B"/>
                    </a:solidFill>
                  </a:tcPr>
                </a:tc>
                <a:tc>
                  <a:txBody>
                    <a:bodyPr/>
                    <a:lstStyle/>
                    <a:p>
                      <a:r>
                        <a:rPr sz="975" b="1">
                          <a:solidFill>
                            <a:srgbClr val="FFFFFF"/>
                          </a:solidFill>
                          <a:latin typeface="Aptos"/>
                          <a:ea typeface="Aptos"/>
                          <a:cs typeface="Aptos"/>
                        </a:rPr>
                        <a:t>Après</a:t>
                      </a:r>
                    </a:p>
                  </a:txBody>
                  <a:tcPr>
                    <a:solidFill>
                      <a:srgbClr val="15304B"/>
                    </a:solidFill>
                  </a:tcPr>
                </a:tc>
                <a:tc>
                  <a:txBody>
                    <a:bodyPr/>
                    <a:lstStyle/>
                    <a:p>
                      <a:r>
                        <a:rPr sz="975" b="1">
                          <a:solidFill>
                            <a:srgbClr val="FFFFFF"/>
                          </a:solidFill>
                          <a:latin typeface="Aptos"/>
                          <a:ea typeface="Aptos"/>
                          <a:cs typeface="Aptos"/>
                        </a:rPr>
                        <a:t>J1</a:t>
                      </a:r>
                    </a:p>
                  </a:txBody>
                  <a:tcPr>
                    <a:solidFill>
                      <a:srgbClr val="15304B"/>
                    </a:solidFill>
                  </a:tcPr>
                </a:tc>
                <a:tc>
                  <a:txBody>
                    <a:bodyPr/>
                    <a:lstStyle/>
                    <a:p>
                      <a:r>
                        <a:rPr sz="975" b="1">
                          <a:solidFill>
                            <a:srgbClr val="FFFFFF"/>
                          </a:solidFill>
                          <a:latin typeface="Aptos"/>
                          <a:ea typeface="Aptos"/>
                          <a:cs typeface="Aptos"/>
                        </a:rPr>
                        <a:t>J2</a:t>
                      </a:r>
                    </a:p>
                  </a:txBody>
                  <a:tcPr>
                    <a:solidFill>
                      <a:srgbClr val="15304B"/>
                    </a:solidFill>
                  </a:tcPr>
                </a:tc>
                <a:tc>
                  <a:txBody>
                    <a:bodyPr/>
                    <a:lstStyle/>
                    <a:p>
                      <a:r>
                        <a:rPr sz="975" b="1">
                          <a:solidFill>
                            <a:srgbClr val="FFFFFF"/>
                          </a:solidFill>
                          <a:latin typeface="Aptos"/>
                          <a:ea typeface="Aptos"/>
                          <a:cs typeface="Aptos"/>
                        </a:rPr>
                        <a:t>J3</a:t>
                      </a:r>
                    </a:p>
                  </a:txBody>
                  <a:tcPr>
                    <a:solidFill>
                      <a:srgbClr val="15304B"/>
                    </a:solidFill>
                  </a:tcPr>
                </a:tc>
                <a:tc>
                  <a:txBody>
                    <a:bodyPr/>
                    <a:lstStyle/>
                    <a:p>
                      <a:r>
                        <a:rPr sz="975" b="1">
                          <a:solidFill>
                            <a:srgbClr val="FFFFFF"/>
                          </a:solidFill>
                          <a:latin typeface="Aptos"/>
                          <a:ea typeface="Aptos"/>
                          <a:cs typeface="Aptos"/>
                        </a:rPr>
                        <a:t>J4</a:t>
                      </a:r>
                    </a:p>
                  </a:txBody>
                  <a:tcPr>
                    <a:solidFill>
                      <a:srgbClr val="15304B"/>
                    </a:solidFill>
                  </a:tcPr>
                </a:tc>
                <a:tc>
                  <a:txBody>
                    <a:bodyPr/>
                    <a:lstStyle/>
                    <a:p>
                      <a:r>
                        <a:rPr sz="975" b="1">
                          <a:solidFill>
                            <a:srgbClr val="FFFFFF"/>
                          </a:solidFill>
                          <a:latin typeface="Aptos"/>
                          <a:ea typeface="Aptos"/>
                          <a:cs typeface="Aptos"/>
                        </a:rPr>
                        <a:t>J5</a:t>
                      </a:r>
                    </a:p>
                  </a:txBody>
                  <a:tcPr>
                    <a:solidFill>
                      <a:srgbClr val="15304B"/>
                    </a:solidFill>
                  </a:tcPr>
                </a:tc>
                <a:tc>
                  <a:txBody>
                    <a:bodyPr/>
                    <a:lstStyle/>
                    <a:p>
                      <a:r>
                        <a:rPr sz="975" b="1">
                          <a:solidFill>
                            <a:srgbClr val="FFFFFF"/>
                          </a:solidFill>
                          <a:latin typeface="Aptos"/>
                          <a:ea typeface="Aptos"/>
                          <a:cs typeface="Aptos"/>
                        </a:rPr>
                        <a:t>J6</a:t>
                      </a:r>
                    </a:p>
                  </a:txBody>
                  <a:tcPr>
                    <a:solidFill>
                      <a:srgbClr val="15304B"/>
                    </a:solidFill>
                  </a:tcPr>
                </a:tc>
                <a:tc>
                  <a:txBody>
                    <a:bodyPr/>
                    <a:lstStyle/>
                    <a:p>
                      <a:r>
                        <a:rPr sz="975" b="1">
                          <a:solidFill>
                            <a:srgbClr val="FFFFFF"/>
                          </a:solidFill>
                          <a:latin typeface="Aptos"/>
                          <a:ea typeface="Aptos"/>
                          <a:cs typeface="Aptos"/>
                        </a:rPr>
                        <a:t>J7</a:t>
                      </a:r>
                    </a:p>
                  </a:txBody>
                  <a:tcPr>
                    <a:solidFill>
                      <a:srgbClr val="15304B"/>
                    </a:solidFill>
                  </a:tcPr>
                </a:tc>
                <a:tc>
                  <a:txBody>
                    <a:bodyPr/>
                    <a:lstStyle/>
                    <a:p>
                      <a:r>
                        <a:rPr sz="975" b="1">
                          <a:solidFill>
                            <a:srgbClr val="FFFFFF"/>
                          </a:solidFill>
                          <a:latin typeface="Aptos"/>
                          <a:ea typeface="Aptos"/>
                          <a:cs typeface="Aptos"/>
                        </a:rPr>
                        <a:t>J8</a:t>
                      </a:r>
                    </a:p>
                  </a:txBody>
                  <a:tcPr>
                    <a:solidFill>
                      <a:srgbClr val="15304B"/>
                    </a:solidFill>
                  </a:tcPr>
                </a:tc>
                <a:tc>
                  <a:txBody>
                    <a:bodyPr/>
                    <a:lstStyle/>
                    <a:p>
                      <a:r>
                        <a:rPr sz="975" b="1">
                          <a:solidFill>
                            <a:srgbClr val="FFFFFF"/>
                          </a:solidFill>
                          <a:latin typeface="Aptos"/>
                          <a:ea typeface="Aptos"/>
                          <a:cs typeface="Aptos"/>
                        </a:rPr>
                        <a:t>J9</a:t>
                      </a:r>
                    </a:p>
                  </a:txBody>
                  <a:tcPr>
                    <a:solidFill>
                      <a:srgbClr val="15304B"/>
                    </a:solidFill>
                  </a:tcPr>
                </a:tc>
                <a:tc>
                  <a:txBody>
                    <a:bodyPr/>
                    <a:lstStyle/>
                    <a:p>
                      <a:r>
                        <a:rPr sz="975" b="1">
                          <a:solidFill>
                            <a:srgbClr val="FFFFFF"/>
                          </a:solidFill>
                          <a:latin typeface="Aptos"/>
                          <a:ea typeface="Aptos"/>
                          <a:cs typeface="Aptos"/>
                        </a:rPr>
                        <a:t>J10</a:t>
                      </a:r>
                    </a:p>
                  </a:txBody>
                  <a:tcPr>
                    <a:solidFill>
                      <a:srgbClr val="15304B"/>
                    </a:solidFill>
                  </a:tcPr>
                </a:tc>
                <a:tc>
                  <a:txBody>
                    <a:bodyPr/>
                    <a:lstStyle/>
                    <a:p>
                      <a:r>
                        <a:rPr sz="975" b="1">
                          <a:solidFill>
                            <a:srgbClr val="FFFFFF"/>
                          </a:solidFill>
                          <a:latin typeface="Aptos"/>
                          <a:ea typeface="Aptos"/>
                          <a:cs typeface="Aptos"/>
                        </a:rPr>
                        <a:t>J11</a:t>
                      </a:r>
                    </a:p>
                  </a:txBody>
                  <a:tcPr>
                    <a:solidFill>
                      <a:srgbClr val="15304B"/>
                    </a:solidFill>
                  </a:tcPr>
                </a:tc>
                <a:tc>
                  <a:txBody>
                    <a:bodyPr/>
                    <a:lstStyle/>
                    <a:p>
                      <a:r>
                        <a:rPr sz="975" b="1">
                          <a:solidFill>
                            <a:srgbClr val="FFFFFF"/>
                          </a:solidFill>
                          <a:latin typeface="Aptos"/>
                          <a:ea typeface="Aptos"/>
                          <a:cs typeface="Aptos"/>
                        </a:rPr>
                        <a:t>J12</a:t>
                      </a:r>
                    </a:p>
                  </a:txBody>
                  <a:tcPr>
                    <a:solidFill>
                      <a:srgbClr val="15304B"/>
                    </a:solidFill>
                  </a:tcPr>
                </a:tc>
                <a:tc>
                  <a:txBody>
                    <a:bodyPr/>
                    <a:lstStyle/>
                    <a:p>
                      <a:r>
                        <a:rPr sz="975" b="1">
                          <a:solidFill>
                            <a:srgbClr val="FFFFFF"/>
                          </a:solidFill>
                          <a:latin typeface="Aptos"/>
                          <a:ea typeface="Aptos"/>
                          <a:cs typeface="Aptos"/>
                        </a:rPr>
                        <a:t>J13</a:t>
                      </a:r>
                    </a:p>
                  </a:txBody>
                  <a:tcPr>
                    <a:solidFill>
                      <a:srgbClr val="15304B"/>
                    </a:solidFill>
                  </a:tcPr>
                </a:tc>
                <a:tc>
                  <a:txBody>
                    <a:bodyPr/>
                    <a:lstStyle/>
                    <a:p>
                      <a:r>
                        <a:rPr sz="975" b="1">
                          <a:solidFill>
                            <a:srgbClr val="FFFFFF"/>
                          </a:solidFill>
                          <a:latin typeface="Aptos"/>
                          <a:ea typeface="Aptos"/>
                          <a:cs typeface="Aptos"/>
                        </a:rPr>
                        <a:t>J14</a:t>
                      </a:r>
                    </a:p>
                  </a:txBody>
                  <a:tcPr>
                    <a:solidFill>
                      <a:srgbClr val="15304B"/>
                    </a:solidFill>
                  </a:tcPr>
                </a:tc>
                <a:tc>
                  <a:txBody>
                    <a:bodyPr/>
                    <a:lstStyle/>
                    <a:p>
                      <a:r>
                        <a:rPr sz="975" b="1">
                          <a:solidFill>
                            <a:srgbClr val="FFFFFF"/>
                          </a:solidFill>
                          <a:latin typeface="Aptos"/>
                          <a:ea typeface="Aptos"/>
                          <a:cs typeface="Aptos"/>
                        </a:rPr>
                        <a:t>J15</a:t>
                      </a:r>
                    </a:p>
                  </a:txBody>
                  <a:tcPr>
                    <a:solidFill>
                      <a:srgbClr val="15304B"/>
                    </a:solidFill>
                  </a:tcPr>
                </a:tc>
                <a:tc>
                  <a:txBody>
                    <a:bodyPr/>
                    <a:lstStyle/>
                    <a:p>
                      <a:r>
                        <a:rPr sz="975" b="1">
                          <a:solidFill>
                            <a:srgbClr val="FFFFFF"/>
                          </a:solidFill>
                          <a:latin typeface="Aptos"/>
                          <a:ea typeface="Aptos"/>
                          <a:cs typeface="Aptos"/>
                        </a:rPr>
                        <a:t>J16</a:t>
                      </a:r>
                    </a:p>
                  </a:txBody>
                  <a:tcPr>
                    <a:solidFill>
                      <a:srgbClr val="15304B"/>
                    </a:solidFill>
                  </a:tcPr>
                </a:tc>
                <a:extLst>
                  <a:ext uri="{0D108BD9-81ED-4DB2-BD59-A6C34878D82A}">
                    <a16:rowId xmlns:a16="http://schemas.microsoft.com/office/drawing/2014/main" val="10000"/>
                  </a:ext>
                </a:extLst>
              </a:tr>
              <a:tr h="571500">
                <a:tc>
                  <a:txBody>
                    <a:bodyPr/>
                    <a:lstStyle/>
                    <a:p>
                      <a:r>
                        <a:rPr sz="1050" b="0">
                          <a:solidFill>
                            <a:srgbClr val="173651"/>
                          </a:solidFill>
                          <a:latin typeface="Aptos"/>
                          <a:ea typeface="Aptos"/>
                          <a:cs typeface="Aptos"/>
                        </a:rPr>
                        <a:t>A  Cahier des charges</a:t>
                      </a:r>
                    </a:p>
                  </a:txBody>
                  <a:tcPr>
                    <a:solidFill>
                      <a:srgbClr val="FFFFFF"/>
                    </a:solidFill>
                  </a:tcPr>
                </a:tc>
                <a:tc>
                  <a:txBody>
                    <a:bodyPr/>
                    <a:lstStyle/>
                    <a:p>
                      <a:r>
                        <a:rPr sz="1050" b="0">
                          <a:solidFill>
                            <a:srgbClr val="173651"/>
                          </a:solidFill>
                          <a:latin typeface="Aptos"/>
                          <a:ea typeface="Aptos"/>
                          <a:cs typeface="Aptos"/>
                        </a:rPr>
                        <a:t>2</a:t>
                      </a:r>
                    </a:p>
                  </a:txBody>
                  <a:tcPr>
                    <a:solidFill>
                      <a:srgbClr val="FFFFFF"/>
                    </a:solidFill>
                  </a:tcPr>
                </a:tc>
                <a:tc>
                  <a:txBody>
                    <a:bodyPr/>
                    <a:lstStyle/>
                    <a:p>
                      <a:r>
                        <a:rPr sz="1050" b="0">
                          <a:solidFill>
                            <a:srgbClr val="173651"/>
                          </a:solidFill>
                          <a:latin typeface="Aptos"/>
                          <a:ea typeface="Aptos"/>
                          <a:cs typeface="Aptos"/>
                        </a:rPr>
                        <a:t>—</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1"/>
                  </a:ext>
                </a:extLst>
              </a:tr>
              <a:tr h="571500">
                <a:tc>
                  <a:txBody>
                    <a:bodyPr/>
                    <a:lstStyle/>
                    <a:p>
                      <a:r>
                        <a:rPr sz="1050" b="0">
                          <a:solidFill>
                            <a:srgbClr val="173651"/>
                          </a:solidFill>
                          <a:latin typeface="Aptos"/>
                          <a:ea typeface="Aptos"/>
                          <a:cs typeface="Aptos"/>
                        </a:rPr>
                        <a:t>B  Étude des capteurs</a:t>
                      </a:r>
                    </a:p>
                  </a:txBody>
                  <a:tcPr>
                    <a:solidFill>
                      <a:srgbClr val="EFF5F8"/>
                    </a:solidFill>
                  </a:tcPr>
                </a:tc>
                <a:tc>
                  <a:txBody>
                    <a:bodyPr/>
                    <a:lstStyle/>
                    <a:p>
                      <a:r>
                        <a:rPr sz="1050" b="0">
                          <a:solidFill>
                            <a:srgbClr val="173651"/>
                          </a:solidFill>
                          <a:latin typeface="Aptos"/>
                          <a:ea typeface="Aptos"/>
                          <a:cs typeface="Aptos"/>
                        </a:rPr>
                        <a:t>3</a:t>
                      </a:r>
                    </a:p>
                  </a:txBody>
                  <a:tcPr>
                    <a:solidFill>
                      <a:srgbClr val="EFF5F8"/>
                    </a:solidFill>
                  </a:tcPr>
                </a:tc>
                <a:tc>
                  <a:txBody>
                    <a:bodyPr/>
                    <a:lstStyle/>
                    <a:p>
                      <a:r>
                        <a:rPr sz="1050" b="0">
                          <a:solidFill>
                            <a:srgbClr val="173651"/>
                          </a:solidFill>
                          <a:latin typeface="Aptos"/>
                          <a:ea typeface="Aptos"/>
                          <a:cs typeface="Aptos"/>
                        </a:rPr>
                        <a:t>A</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2"/>
                  </a:ext>
                </a:extLst>
              </a:tr>
              <a:tr h="571500">
                <a:tc>
                  <a:txBody>
                    <a:bodyPr/>
                    <a:lstStyle/>
                    <a:p>
                      <a:r>
                        <a:rPr sz="1050" b="0">
                          <a:solidFill>
                            <a:srgbClr val="173651"/>
                          </a:solidFill>
                          <a:latin typeface="Aptos"/>
                          <a:ea typeface="Aptos"/>
                          <a:cs typeface="Aptos"/>
                        </a:rPr>
                        <a:t>C  Carte électronique</a:t>
                      </a:r>
                    </a:p>
                  </a:txBody>
                  <a:tcPr>
                    <a:solidFill>
                      <a:srgbClr val="FFFFFF"/>
                    </a:solidFill>
                  </a:tcPr>
                </a:tc>
                <a:tc>
                  <a:txBody>
                    <a:bodyPr/>
                    <a:lstStyle/>
                    <a:p>
                      <a:r>
                        <a:rPr sz="1050" b="0">
                          <a:solidFill>
                            <a:srgbClr val="173651"/>
                          </a:solidFill>
                          <a:latin typeface="Aptos"/>
                          <a:ea typeface="Aptos"/>
                          <a:cs typeface="Aptos"/>
                        </a:rPr>
                        <a:t>4</a:t>
                      </a:r>
                    </a:p>
                  </a:txBody>
                  <a:tcPr>
                    <a:solidFill>
                      <a:srgbClr val="FFFFFF"/>
                    </a:solidFill>
                  </a:tcPr>
                </a:tc>
                <a:tc>
                  <a:txBody>
                    <a:bodyPr/>
                    <a:lstStyle/>
                    <a:p>
                      <a:r>
                        <a:rPr sz="1050" b="0">
                          <a:solidFill>
                            <a:srgbClr val="173651"/>
                          </a:solidFill>
                          <a:latin typeface="Aptos"/>
                          <a:ea typeface="Aptos"/>
                          <a:cs typeface="Aptos"/>
                        </a:rPr>
                        <a:t>B</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3"/>
                  </a:ext>
                </a:extLst>
              </a:tr>
              <a:tr h="571500">
                <a:tc>
                  <a:txBody>
                    <a:bodyPr/>
                    <a:lstStyle/>
                    <a:p>
                      <a:r>
                        <a:rPr sz="1050" b="0">
                          <a:solidFill>
                            <a:srgbClr val="173651"/>
                          </a:solidFill>
                          <a:latin typeface="Aptos"/>
                          <a:ea typeface="Aptos"/>
                          <a:cs typeface="Aptos"/>
                        </a:rPr>
                        <a:t>D  Programme du capteur</a:t>
                      </a:r>
                    </a:p>
                  </a:txBody>
                  <a:tcPr>
                    <a:solidFill>
                      <a:srgbClr val="EFF5F8"/>
                    </a:solidFill>
                  </a:tcPr>
                </a:tc>
                <a:tc>
                  <a:txBody>
                    <a:bodyPr/>
                    <a:lstStyle/>
                    <a:p>
                      <a:r>
                        <a:rPr sz="1050" b="0">
                          <a:solidFill>
                            <a:srgbClr val="173651"/>
                          </a:solidFill>
                          <a:latin typeface="Aptos"/>
                          <a:ea typeface="Aptos"/>
                          <a:cs typeface="Aptos"/>
                        </a:rPr>
                        <a:t>5</a:t>
                      </a:r>
                    </a:p>
                  </a:txBody>
                  <a:tcPr>
                    <a:solidFill>
                      <a:srgbClr val="EFF5F8"/>
                    </a:solidFill>
                  </a:tcPr>
                </a:tc>
                <a:tc>
                  <a:txBody>
                    <a:bodyPr/>
                    <a:lstStyle/>
                    <a:p>
                      <a:r>
                        <a:rPr sz="1050" b="0">
                          <a:solidFill>
                            <a:srgbClr val="173651"/>
                          </a:solidFill>
                          <a:latin typeface="Aptos"/>
                          <a:ea typeface="Aptos"/>
                          <a:cs typeface="Aptos"/>
                        </a:rPr>
                        <a:t>C</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4"/>
                  </a:ext>
                </a:extLst>
              </a:tr>
              <a:tr h="571500">
                <a:tc>
                  <a:txBody>
                    <a:bodyPr/>
                    <a:lstStyle/>
                    <a:p>
                      <a:r>
                        <a:rPr sz="1050" b="0">
                          <a:solidFill>
                            <a:srgbClr val="173651"/>
                          </a:solidFill>
                          <a:latin typeface="Aptos"/>
                          <a:ea typeface="Aptos"/>
                          <a:cs typeface="Aptos"/>
                        </a:rPr>
                        <a:t>E  Maquette du boîtier</a:t>
                      </a:r>
                    </a:p>
                  </a:txBody>
                  <a:tcPr>
                    <a:solidFill>
                      <a:srgbClr val="FFFFFF"/>
                    </a:solidFill>
                  </a:tcPr>
                </a:tc>
                <a:tc>
                  <a:txBody>
                    <a:bodyPr/>
                    <a:lstStyle/>
                    <a:p>
                      <a:r>
                        <a:rPr sz="1050" b="0">
                          <a:solidFill>
                            <a:srgbClr val="173651"/>
                          </a:solidFill>
                          <a:latin typeface="Aptos"/>
                          <a:ea typeface="Aptos"/>
                          <a:cs typeface="Aptos"/>
                        </a:rPr>
                        <a:t>3</a:t>
                      </a:r>
                    </a:p>
                  </a:txBody>
                  <a:tcPr>
                    <a:solidFill>
                      <a:srgbClr val="FFFFFF"/>
                    </a:solidFill>
                  </a:tcPr>
                </a:tc>
                <a:tc>
                  <a:txBody>
                    <a:bodyPr/>
                    <a:lstStyle/>
                    <a:p>
                      <a:r>
                        <a:rPr sz="1050" b="0">
                          <a:solidFill>
                            <a:srgbClr val="173651"/>
                          </a:solidFill>
                          <a:latin typeface="Aptos"/>
                          <a:ea typeface="Aptos"/>
                          <a:cs typeface="Aptos"/>
                        </a:rPr>
                        <a:t>B</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5"/>
                  </a:ext>
                </a:extLst>
              </a:tr>
              <a:tr h="571500">
                <a:tc>
                  <a:txBody>
                    <a:bodyPr/>
                    <a:lstStyle/>
                    <a:p>
                      <a:r>
                        <a:rPr sz="1050" b="0">
                          <a:solidFill>
                            <a:srgbClr val="173651"/>
                          </a:solidFill>
                          <a:latin typeface="Aptos"/>
                          <a:ea typeface="Aptos"/>
                          <a:cs typeface="Aptos"/>
                        </a:rPr>
                        <a:t>F  Tests et validation</a:t>
                      </a:r>
                    </a:p>
                  </a:txBody>
                  <a:tcPr>
                    <a:solidFill>
                      <a:srgbClr val="EFF5F8"/>
                    </a:solidFill>
                  </a:tcPr>
                </a:tc>
                <a:tc>
                  <a:txBody>
                    <a:bodyPr/>
                    <a:lstStyle/>
                    <a:p>
                      <a:r>
                        <a:rPr sz="1050" b="0">
                          <a:solidFill>
                            <a:srgbClr val="173651"/>
                          </a:solidFill>
                          <a:latin typeface="Aptos"/>
                          <a:ea typeface="Aptos"/>
                          <a:cs typeface="Aptos"/>
                        </a:rPr>
                        <a:t>2</a:t>
                      </a:r>
                    </a:p>
                  </a:txBody>
                  <a:tcPr>
                    <a:solidFill>
                      <a:srgbClr val="EFF5F8"/>
                    </a:solidFill>
                  </a:tcPr>
                </a:tc>
                <a:tc>
                  <a:txBody>
                    <a:bodyPr/>
                    <a:lstStyle/>
                    <a:p>
                      <a:r>
                        <a:rPr sz="1050" b="0">
                          <a:solidFill>
                            <a:srgbClr val="173651"/>
                          </a:solidFill>
                          <a:latin typeface="Aptos"/>
                          <a:ea typeface="Aptos"/>
                          <a:cs typeface="Aptos"/>
                        </a:rPr>
                        <a:t>D et E</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53FA6E54-6361-4FBC-84D7-7D4B69A5ACB8}"/>
              </a:ext>
            </a:extLst>
          </p:cNvPr>
          <p:cNvSpPr>
            <a:spLocks noGrp="1"/>
          </p:cNvSpPr>
          <p:nvPr/>
        </p:nvSpPr>
        <p:spPr>
          <a:xfrm>
            <a:off x="762000" y="6238875"/>
            <a:ext cx="10287000" cy="304800"/>
          </a:xfrm>
          <a:prstGeom prst="rect">
            <a:avLst/>
          </a:prstGeom>
          <a:noFill/>
          <a:ln w="0">
            <a:noFill/>
          </a:ln>
        </p:spPr>
        <p:txBody>
          <a:bodyPr anchor="t">
            <a:noAutofit/>
          </a:bodyPr>
          <a:lstStyle/>
          <a:p>
            <a:pPr>
              <a:defRPr sz="1425" b="0">
                <a:solidFill>
                  <a:srgbClr val="496577"/>
                </a:solidFill>
                <a:latin typeface="Aptos"/>
                <a:ea typeface="Aptos"/>
                <a:cs typeface="Aptos"/>
              </a:defRPr>
            </a:pPr>
            <a:r>
              <a:rPr sz="1425" b="0">
                <a:solidFill>
                  <a:srgbClr val="496577"/>
                </a:solidFill>
                <a:latin typeface="Aptos"/>
                <a:ea typeface="Aptos"/>
                <a:cs typeface="Aptos"/>
              </a:rPr>
              <a:t>Lecture : deux branches se rejoignent aux tests.</a:t>
            </a:r>
          </a:p>
        </p:txBody>
      </p:sp>
      <p:sp>
        <p:nvSpPr>
          <p:cNvPr id="6" name="Rectangle 5">
            <a:extLst>
              <a:ext uri="{FF2B5EF4-FFF2-40B4-BE49-F238E27FC236}">
                <a16:creationId xmlns:a16="http://schemas.microsoft.com/office/drawing/2014/main" id="{025B90A0-DD61-40D9-8C82-5260F2C2E4DF}"/>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22</a:t>
            </a:r>
          </a:p>
        </p:txBody>
      </p:sp>
    </p:spTree>
    <p:extLst>
      <p:ext uri="{BB962C8B-B14F-4D97-AF65-F5344CB8AC3E}">
        <p14:creationId xmlns:p14="http://schemas.microsoft.com/office/powerpoint/2010/main" val="34436365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Image 6"/>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C32B94CB-5B68-466B-9651-9CB5A5EEFA20}"/>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Station météo : mise en commun</a:t>
            </a:r>
          </a:p>
        </p:txBody>
      </p:sp>
      <p:graphicFrame>
        <p:nvGraphicFramePr>
          <p:cNvPr id="10" name="Tableau 9"/>
          <p:cNvGraphicFramePr/>
          <p:nvPr/>
        </p:nvGraphicFramePr>
        <p:xfrm>
          <a:off x="742950" y="2114550"/>
          <a:ext cx="10706095" cy="4000500"/>
        </p:xfrm>
        <a:graphic>
          <a:graphicData uri="http://schemas.openxmlformats.org/drawingml/2006/table">
            <a:tbl>
              <a:tblPr/>
              <a:tblGrid>
                <a:gridCol w="2838450">
                  <a:extLst>
                    <a:ext uri="{9D8B030D-6E8A-4147-A177-3AD203B41FA5}">
                      <a16:colId xmlns:a16="http://schemas.microsoft.com/office/drawing/2014/main" val="20000"/>
                    </a:ext>
                  </a:extLst>
                </a:gridCol>
                <a:gridCol w="619125">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400645">
                  <a:extLst>
                    <a:ext uri="{9D8B030D-6E8A-4147-A177-3AD203B41FA5}">
                      <a16:colId xmlns:a16="http://schemas.microsoft.com/office/drawing/2014/main" val="20003"/>
                    </a:ext>
                  </a:extLst>
                </a:gridCol>
                <a:gridCol w="400645">
                  <a:extLst>
                    <a:ext uri="{9D8B030D-6E8A-4147-A177-3AD203B41FA5}">
                      <a16:colId xmlns:a16="http://schemas.microsoft.com/office/drawing/2014/main" val="20004"/>
                    </a:ext>
                  </a:extLst>
                </a:gridCol>
                <a:gridCol w="400645">
                  <a:extLst>
                    <a:ext uri="{9D8B030D-6E8A-4147-A177-3AD203B41FA5}">
                      <a16:colId xmlns:a16="http://schemas.microsoft.com/office/drawing/2014/main" val="20005"/>
                    </a:ext>
                  </a:extLst>
                </a:gridCol>
                <a:gridCol w="400645">
                  <a:extLst>
                    <a:ext uri="{9D8B030D-6E8A-4147-A177-3AD203B41FA5}">
                      <a16:colId xmlns:a16="http://schemas.microsoft.com/office/drawing/2014/main" val="20006"/>
                    </a:ext>
                  </a:extLst>
                </a:gridCol>
                <a:gridCol w="400645">
                  <a:extLst>
                    <a:ext uri="{9D8B030D-6E8A-4147-A177-3AD203B41FA5}">
                      <a16:colId xmlns:a16="http://schemas.microsoft.com/office/drawing/2014/main" val="20007"/>
                    </a:ext>
                  </a:extLst>
                </a:gridCol>
                <a:gridCol w="400645">
                  <a:extLst>
                    <a:ext uri="{9D8B030D-6E8A-4147-A177-3AD203B41FA5}">
                      <a16:colId xmlns:a16="http://schemas.microsoft.com/office/drawing/2014/main" val="20008"/>
                    </a:ext>
                  </a:extLst>
                </a:gridCol>
                <a:gridCol w="400645">
                  <a:extLst>
                    <a:ext uri="{9D8B030D-6E8A-4147-A177-3AD203B41FA5}">
                      <a16:colId xmlns:a16="http://schemas.microsoft.com/office/drawing/2014/main" val="20009"/>
                    </a:ext>
                  </a:extLst>
                </a:gridCol>
                <a:gridCol w="400645">
                  <a:extLst>
                    <a:ext uri="{9D8B030D-6E8A-4147-A177-3AD203B41FA5}">
                      <a16:colId xmlns:a16="http://schemas.microsoft.com/office/drawing/2014/main" val="20010"/>
                    </a:ext>
                  </a:extLst>
                </a:gridCol>
                <a:gridCol w="400645">
                  <a:extLst>
                    <a:ext uri="{9D8B030D-6E8A-4147-A177-3AD203B41FA5}">
                      <a16:colId xmlns:a16="http://schemas.microsoft.com/office/drawing/2014/main" val="20011"/>
                    </a:ext>
                  </a:extLst>
                </a:gridCol>
                <a:gridCol w="400645">
                  <a:extLst>
                    <a:ext uri="{9D8B030D-6E8A-4147-A177-3AD203B41FA5}">
                      <a16:colId xmlns:a16="http://schemas.microsoft.com/office/drawing/2014/main" val="20012"/>
                    </a:ext>
                  </a:extLst>
                </a:gridCol>
                <a:gridCol w="400645">
                  <a:extLst>
                    <a:ext uri="{9D8B030D-6E8A-4147-A177-3AD203B41FA5}">
                      <a16:colId xmlns:a16="http://schemas.microsoft.com/office/drawing/2014/main" val="20013"/>
                    </a:ext>
                  </a:extLst>
                </a:gridCol>
                <a:gridCol w="400645">
                  <a:extLst>
                    <a:ext uri="{9D8B030D-6E8A-4147-A177-3AD203B41FA5}">
                      <a16:colId xmlns:a16="http://schemas.microsoft.com/office/drawing/2014/main" val="20014"/>
                    </a:ext>
                  </a:extLst>
                </a:gridCol>
                <a:gridCol w="400645">
                  <a:extLst>
                    <a:ext uri="{9D8B030D-6E8A-4147-A177-3AD203B41FA5}">
                      <a16:colId xmlns:a16="http://schemas.microsoft.com/office/drawing/2014/main" val="20015"/>
                    </a:ext>
                  </a:extLst>
                </a:gridCol>
                <a:gridCol w="400645">
                  <a:extLst>
                    <a:ext uri="{9D8B030D-6E8A-4147-A177-3AD203B41FA5}">
                      <a16:colId xmlns:a16="http://schemas.microsoft.com/office/drawing/2014/main" val="20016"/>
                    </a:ext>
                  </a:extLst>
                </a:gridCol>
                <a:gridCol w="400645">
                  <a:extLst>
                    <a:ext uri="{9D8B030D-6E8A-4147-A177-3AD203B41FA5}">
                      <a16:colId xmlns:a16="http://schemas.microsoft.com/office/drawing/2014/main" val="20017"/>
                    </a:ext>
                  </a:extLst>
                </a:gridCol>
                <a:gridCol w="400645">
                  <a:extLst>
                    <a:ext uri="{9D8B030D-6E8A-4147-A177-3AD203B41FA5}">
                      <a16:colId xmlns:a16="http://schemas.microsoft.com/office/drawing/2014/main" val="20018"/>
                    </a:ext>
                  </a:extLst>
                </a:gridCol>
              </a:tblGrid>
              <a:tr h="571500">
                <a:tc>
                  <a:txBody>
                    <a:bodyPr/>
                    <a:lstStyle/>
                    <a:p>
                      <a:r>
                        <a:rPr sz="975" b="1">
                          <a:solidFill>
                            <a:srgbClr val="FFFFFF"/>
                          </a:solidFill>
                          <a:latin typeface="Aptos"/>
                          <a:ea typeface="Aptos"/>
                          <a:cs typeface="Aptos"/>
                        </a:rPr>
                        <a:t>Tâche</a:t>
                      </a:r>
                    </a:p>
                  </a:txBody>
                  <a:tcPr>
                    <a:solidFill>
                      <a:srgbClr val="15304B"/>
                    </a:solidFill>
                  </a:tcPr>
                </a:tc>
                <a:tc>
                  <a:txBody>
                    <a:bodyPr/>
                    <a:lstStyle/>
                    <a:p>
                      <a:r>
                        <a:rPr sz="975" b="1">
                          <a:solidFill>
                            <a:srgbClr val="FFFFFF"/>
                          </a:solidFill>
                          <a:latin typeface="Aptos"/>
                          <a:ea typeface="Aptos"/>
                          <a:cs typeface="Aptos"/>
                        </a:rPr>
                        <a:t>Jours</a:t>
                      </a:r>
                    </a:p>
                  </a:txBody>
                  <a:tcPr>
                    <a:solidFill>
                      <a:srgbClr val="15304B"/>
                    </a:solidFill>
                  </a:tcPr>
                </a:tc>
                <a:tc>
                  <a:txBody>
                    <a:bodyPr/>
                    <a:lstStyle/>
                    <a:p>
                      <a:r>
                        <a:rPr sz="975" b="1">
                          <a:solidFill>
                            <a:srgbClr val="FFFFFF"/>
                          </a:solidFill>
                          <a:latin typeface="Aptos"/>
                          <a:ea typeface="Aptos"/>
                          <a:cs typeface="Aptos"/>
                        </a:rPr>
                        <a:t>Après</a:t>
                      </a:r>
                    </a:p>
                  </a:txBody>
                  <a:tcPr>
                    <a:solidFill>
                      <a:srgbClr val="15304B"/>
                    </a:solidFill>
                  </a:tcPr>
                </a:tc>
                <a:tc>
                  <a:txBody>
                    <a:bodyPr/>
                    <a:lstStyle/>
                    <a:p>
                      <a:r>
                        <a:rPr sz="975" b="1">
                          <a:solidFill>
                            <a:srgbClr val="FFFFFF"/>
                          </a:solidFill>
                          <a:latin typeface="Aptos"/>
                          <a:ea typeface="Aptos"/>
                          <a:cs typeface="Aptos"/>
                        </a:rPr>
                        <a:t>J1</a:t>
                      </a:r>
                    </a:p>
                  </a:txBody>
                  <a:tcPr>
                    <a:solidFill>
                      <a:srgbClr val="15304B"/>
                    </a:solidFill>
                  </a:tcPr>
                </a:tc>
                <a:tc>
                  <a:txBody>
                    <a:bodyPr/>
                    <a:lstStyle/>
                    <a:p>
                      <a:r>
                        <a:rPr sz="975" b="1">
                          <a:solidFill>
                            <a:srgbClr val="FFFFFF"/>
                          </a:solidFill>
                          <a:latin typeface="Aptos"/>
                          <a:ea typeface="Aptos"/>
                          <a:cs typeface="Aptos"/>
                        </a:rPr>
                        <a:t>J2</a:t>
                      </a:r>
                    </a:p>
                  </a:txBody>
                  <a:tcPr>
                    <a:solidFill>
                      <a:srgbClr val="15304B"/>
                    </a:solidFill>
                  </a:tcPr>
                </a:tc>
                <a:tc>
                  <a:txBody>
                    <a:bodyPr/>
                    <a:lstStyle/>
                    <a:p>
                      <a:r>
                        <a:rPr sz="975" b="1">
                          <a:solidFill>
                            <a:srgbClr val="FFFFFF"/>
                          </a:solidFill>
                          <a:latin typeface="Aptos"/>
                          <a:ea typeface="Aptos"/>
                          <a:cs typeface="Aptos"/>
                        </a:rPr>
                        <a:t>J3</a:t>
                      </a:r>
                    </a:p>
                  </a:txBody>
                  <a:tcPr>
                    <a:solidFill>
                      <a:srgbClr val="15304B"/>
                    </a:solidFill>
                  </a:tcPr>
                </a:tc>
                <a:tc>
                  <a:txBody>
                    <a:bodyPr/>
                    <a:lstStyle/>
                    <a:p>
                      <a:r>
                        <a:rPr sz="975" b="1">
                          <a:solidFill>
                            <a:srgbClr val="FFFFFF"/>
                          </a:solidFill>
                          <a:latin typeface="Aptos"/>
                          <a:ea typeface="Aptos"/>
                          <a:cs typeface="Aptos"/>
                        </a:rPr>
                        <a:t>J4</a:t>
                      </a:r>
                    </a:p>
                  </a:txBody>
                  <a:tcPr>
                    <a:solidFill>
                      <a:srgbClr val="15304B"/>
                    </a:solidFill>
                  </a:tcPr>
                </a:tc>
                <a:tc>
                  <a:txBody>
                    <a:bodyPr/>
                    <a:lstStyle/>
                    <a:p>
                      <a:r>
                        <a:rPr sz="975" b="1">
                          <a:solidFill>
                            <a:srgbClr val="FFFFFF"/>
                          </a:solidFill>
                          <a:latin typeface="Aptos"/>
                          <a:ea typeface="Aptos"/>
                          <a:cs typeface="Aptos"/>
                        </a:rPr>
                        <a:t>J5</a:t>
                      </a:r>
                    </a:p>
                  </a:txBody>
                  <a:tcPr>
                    <a:solidFill>
                      <a:srgbClr val="15304B"/>
                    </a:solidFill>
                  </a:tcPr>
                </a:tc>
                <a:tc>
                  <a:txBody>
                    <a:bodyPr/>
                    <a:lstStyle/>
                    <a:p>
                      <a:r>
                        <a:rPr sz="975" b="1">
                          <a:solidFill>
                            <a:srgbClr val="FFFFFF"/>
                          </a:solidFill>
                          <a:latin typeface="Aptos"/>
                          <a:ea typeface="Aptos"/>
                          <a:cs typeface="Aptos"/>
                        </a:rPr>
                        <a:t>J6</a:t>
                      </a:r>
                    </a:p>
                  </a:txBody>
                  <a:tcPr>
                    <a:solidFill>
                      <a:srgbClr val="15304B"/>
                    </a:solidFill>
                  </a:tcPr>
                </a:tc>
                <a:tc>
                  <a:txBody>
                    <a:bodyPr/>
                    <a:lstStyle/>
                    <a:p>
                      <a:r>
                        <a:rPr sz="975" b="1">
                          <a:solidFill>
                            <a:srgbClr val="FFFFFF"/>
                          </a:solidFill>
                          <a:latin typeface="Aptos"/>
                          <a:ea typeface="Aptos"/>
                          <a:cs typeface="Aptos"/>
                        </a:rPr>
                        <a:t>J7</a:t>
                      </a:r>
                    </a:p>
                  </a:txBody>
                  <a:tcPr>
                    <a:solidFill>
                      <a:srgbClr val="15304B"/>
                    </a:solidFill>
                  </a:tcPr>
                </a:tc>
                <a:tc>
                  <a:txBody>
                    <a:bodyPr/>
                    <a:lstStyle/>
                    <a:p>
                      <a:r>
                        <a:rPr sz="975" b="1">
                          <a:solidFill>
                            <a:srgbClr val="FFFFFF"/>
                          </a:solidFill>
                          <a:latin typeface="Aptos"/>
                          <a:ea typeface="Aptos"/>
                          <a:cs typeface="Aptos"/>
                        </a:rPr>
                        <a:t>J8</a:t>
                      </a:r>
                    </a:p>
                  </a:txBody>
                  <a:tcPr>
                    <a:solidFill>
                      <a:srgbClr val="15304B"/>
                    </a:solidFill>
                  </a:tcPr>
                </a:tc>
                <a:tc>
                  <a:txBody>
                    <a:bodyPr/>
                    <a:lstStyle/>
                    <a:p>
                      <a:r>
                        <a:rPr sz="975" b="1">
                          <a:solidFill>
                            <a:srgbClr val="FFFFFF"/>
                          </a:solidFill>
                          <a:latin typeface="Aptos"/>
                          <a:ea typeface="Aptos"/>
                          <a:cs typeface="Aptos"/>
                        </a:rPr>
                        <a:t>J9</a:t>
                      </a:r>
                    </a:p>
                  </a:txBody>
                  <a:tcPr>
                    <a:solidFill>
                      <a:srgbClr val="15304B"/>
                    </a:solidFill>
                  </a:tcPr>
                </a:tc>
                <a:tc>
                  <a:txBody>
                    <a:bodyPr/>
                    <a:lstStyle/>
                    <a:p>
                      <a:r>
                        <a:rPr sz="975" b="1">
                          <a:solidFill>
                            <a:srgbClr val="FFFFFF"/>
                          </a:solidFill>
                          <a:latin typeface="Aptos"/>
                          <a:ea typeface="Aptos"/>
                          <a:cs typeface="Aptos"/>
                        </a:rPr>
                        <a:t>J10</a:t>
                      </a:r>
                    </a:p>
                  </a:txBody>
                  <a:tcPr>
                    <a:solidFill>
                      <a:srgbClr val="15304B"/>
                    </a:solidFill>
                  </a:tcPr>
                </a:tc>
                <a:tc>
                  <a:txBody>
                    <a:bodyPr/>
                    <a:lstStyle/>
                    <a:p>
                      <a:r>
                        <a:rPr sz="975" b="1">
                          <a:solidFill>
                            <a:srgbClr val="FFFFFF"/>
                          </a:solidFill>
                          <a:latin typeface="Aptos"/>
                          <a:ea typeface="Aptos"/>
                          <a:cs typeface="Aptos"/>
                        </a:rPr>
                        <a:t>J11</a:t>
                      </a:r>
                    </a:p>
                  </a:txBody>
                  <a:tcPr>
                    <a:solidFill>
                      <a:srgbClr val="15304B"/>
                    </a:solidFill>
                  </a:tcPr>
                </a:tc>
                <a:tc>
                  <a:txBody>
                    <a:bodyPr/>
                    <a:lstStyle/>
                    <a:p>
                      <a:r>
                        <a:rPr sz="975" b="1">
                          <a:solidFill>
                            <a:srgbClr val="FFFFFF"/>
                          </a:solidFill>
                          <a:latin typeface="Aptos"/>
                          <a:ea typeface="Aptos"/>
                          <a:cs typeface="Aptos"/>
                        </a:rPr>
                        <a:t>J12</a:t>
                      </a:r>
                    </a:p>
                  </a:txBody>
                  <a:tcPr>
                    <a:solidFill>
                      <a:srgbClr val="15304B"/>
                    </a:solidFill>
                  </a:tcPr>
                </a:tc>
                <a:tc>
                  <a:txBody>
                    <a:bodyPr/>
                    <a:lstStyle/>
                    <a:p>
                      <a:r>
                        <a:rPr sz="975" b="1">
                          <a:solidFill>
                            <a:srgbClr val="FFFFFF"/>
                          </a:solidFill>
                          <a:latin typeface="Aptos"/>
                          <a:ea typeface="Aptos"/>
                          <a:cs typeface="Aptos"/>
                        </a:rPr>
                        <a:t>J13</a:t>
                      </a:r>
                    </a:p>
                  </a:txBody>
                  <a:tcPr>
                    <a:solidFill>
                      <a:srgbClr val="15304B"/>
                    </a:solidFill>
                  </a:tcPr>
                </a:tc>
                <a:tc>
                  <a:txBody>
                    <a:bodyPr/>
                    <a:lstStyle/>
                    <a:p>
                      <a:r>
                        <a:rPr sz="975" b="1">
                          <a:solidFill>
                            <a:srgbClr val="FFFFFF"/>
                          </a:solidFill>
                          <a:latin typeface="Aptos"/>
                          <a:ea typeface="Aptos"/>
                          <a:cs typeface="Aptos"/>
                        </a:rPr>
                        <a:t>J14</a:t>
                      </a:r>
                    </a:p>
                  </a:txBody>
                  <a:tcPr>
                    <a:solidFill>
                      <a:srgbClr val="15304B"/>
                    </a:solidFill>
                  </a:tcPr>
                </a:tc>
                <a:tc>
                  <a:txBody>
                    <a:bodyPr/>
                    <a:lstStyle/>
                    <a:p>
                      <a:r>
                        <a:rPr sz="975" b="1">
                          <a:solidFill>
                            <a:srgbClr val="FFFFFF"/>
                          </a:solidFill>
                          <a:latin typeface="Aptos"/>
                          <a:ea typeface="Aptos"/>
                          <a:cs typeface="Aptos"/>
                        </a:rPr>
                        <a:t>J15</a:t>
                      </a:r>
                    </a:p>
                  </a:txBody>
                  <a:tcPr>
                    <a:solidFill>
                      <a:srgbClr val="15304B"/>
                    </a:solidFill>
                  </a:tcPr>
                </a:tc>
                <a:tc>
                  <a:txBody>
                    <a:bodyPr/>
                    <a:lstStyle/>
                    <a:p>
                      <a:r>
                        <a:rPr sz="975" b="1">
                          <a:solidFill>
                            <a:srgbClr val="FFFFFF"/>
                          </a:solidFill>
                          <a:latin typeface="Aptos"/>
                          <a:ea typeface="Aptos"/>
                          <a:cs typeface="Aptos"/>
                        </a:rPr>
                        <a:t>J16</a:t>
                      </a:r>
                    </a:p>
                  </a:txBody>
                  <a:tcPr>
                    <a:solidFill>
                      <a:srgbClr val="15304B"/>
                    </a:solidFill>
                  </a:tcPr>
                </a:tc>
                <a:extLst>
                  <a:ext uri="{0D108BD9-81ED-4DB2-BD59-A6C34878D82A}">
                    <a16:rowId xmlns:a16="http://schemas.microsoft.com/office/drawing/2014/main" val="10000"/>
                  </a:ext>
                </a:extLst>
              </a:tr>
              <a:tr h="571500">
                <a:tc>
                  <a:txBody>
                    <a:bodyPr/>
                    <a:lstStyle/>
                    <a:p>
                      <a:r>
                        <a:rPr sz="1050" b="0">
                          <a:solidFill>
                            <a:srgbClr val="173651"/>
                          </a:solidFill>
                          <a:latin typeface="Aptos"/>
                          <a:ea typeface="Aptos"/>
                          <a:cs typeface="Aptos"/>
                        </a:rPr>
                        <a:t>A  Cahier des charges</a:t>
                      </a:r>
                    </a:p>
                  </a:txBody>
                  <a:tcPr>
                    <a:solidFill>
                      <a:srgbClr val="FFFFFF"/>
                    </a:solidFill>
                  </a:tcPr>
                </a:tc>
                <a:tc>
                  <a:txBody>
                    <a:bodyPr/>
                    <a:lstStyle/>
                    <a:p>
                      <a:r>
                        <a:rPr sz="1050" b="0">
                          <a:solidFill>
                            <a:srgbClr val="173651"/>
                          </a:solidFill>
                          <a:latin typeface="Aptos"/>
                          <a:ea typeface="Aptos"/>
                          <a:cs typeface="Aptos"/>
                        </a:rPr>
                        <a:t>2</a:t>
                      </a:r>
                    </a:p>
                  </a:txBody>
                  <a:tcPr>
                    <a:solidFill>
                      <a:srgbClr val="FFFFFF"/>
                    </a:solidFill>
                  </a:tcPr>
                </a:tc>
                <a:tc>
                  <a:txBody>
                    <a:bodyPr/>
                    <a:lstStyle/>
                    <a:p>
                      <a:r>
                        <a:rPr sz="1050" b="0">
                          <a:solidFill>
                            <a:srgbClr val="173651"/>
                          </a:solidFill>
                          <a:latin typeface="Aptos"/>
                          <a:ea typeface="Aptos"/>
                          <a:cs typeface="Aptos"/>
                        </a:rPr>
                        <a:t>—</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1"/>
                  </a:ext>
                </a:extLst>
              </a:tr>
              <a:tr h="571500">
                <a:tc>
                  <a:txBody>
                    <a:bodyPr/>
                    <a:lstStyle/>
                    <a:p>
                      <a:r>
                        <a:rPr sz="1050" b="0">
                          <a:solidFill>
                            <a:srgbClr val="173651"/>
                          </a:solidFill>
                          <a:latin typeface="Aptos"/>
                          <a:ea typeface="Aptos"/>
                          <a:cs typeface="Aptos"/>
                        </a:rPr>
                        <a:t>B  Étude des capteurs</a:t>
                      </a:r>
                    </a:p>
                  </a:txBody>
                  <a:tcPr>
                    <a:solidFill>
                      <a:srgbClr val="EFF5F8"/>
                    </a:solidFill>
                  </a:tcPr>
                </a:tc>
                <a:tc>
                  <a:txBody>
                    <a:bodyPr/>
                    <a:lstStyle/>
                    <a:p>
                      <a:r>
                        <a:rPr sz="1050" b="0">
                          <a:solidFill>
                            <a:srgbClr val="173651"/>
                          </a:solidFill>
                          <a:latin typeface="Aptos"/>
                          <a:ea typeface="Aptos"/>
                          <a:cs typeface="Aptos"/>
                        </a:rPr>
                        <a:t>3</a:t>
                      </a:r>
                    </a:p>
                  </a:txBody>
                  <a:tcPr>
                    <a:solidFill>
                      <a:srgbClr val="EFF5F8"/>
                    </a:solidFill>
                  </a:tcPr>
                </a:tc>
                <a:tc>
                  <a:txBody>
                    <a:bodyPr/>
                    <a:lstStyle/>
                    <a:p>
                      <a:r>
                        <a:rPr sz="1050" b="0">
                          <a:solidFill>
                            <a:srgbClr val="173651"/>
                          </a:solidFill>
                          <a:latin typeface="Aptos"/>
                          <a:ea typeface="Aptos"/>
                          <a:cs typeface="Aptos"/>
                        </a:rPr>
                        <a:t>A</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2"/>
                  </a:ext>
                </a:extLst>
              </a:tr>
              <a:tr h="571500">
                <a:tc>
                  <a:txBody>
                    <a:bodyPr/>
                    <a:lstStyle/>
                    <a:p>
                      <a:r>
                        <a:rPr sz="1050" b="0">
                          <a:solidFill>
                            <a:srgbClr val="173651"/>
                          </a:solidFill>
                          <a:latin typeface="Aptos"/>
                          <a:ea typeface="Aptos"/>
                          <a:cs typeface="Aptos"/>
                        </a:rPr>
                        <a:t>C  Carte électronique</a:t>
                      </a:r>
                    </a:p>
                  </a:txBody>
                  <a:tcPr>
                    <a:solidFill>
                      <a:srgbClr val="FFFFFF"/>
                    </a:solidFill>
                  </a:tcPr>
                </a:tc>
                <a:tc>
                  <a:txBody>
                    <a:bodyPr/>
                    <a:lstStyle/>
                    <a:p>
                      <a:r>
                        <a:rPr sz="1050" b="0">
                          <a:solidFill>
                            <a:srgbClr val="173651"/>
                          </a:solidFill>
                          <a:latin typeface="Aptos"/>
                          <a:ea typeface="Aptos"/>
                          <a:cs typeface="Aptos"/>
                        </a:rPr>
                        <a:t>4</a:t>
                      </a:r>
                    </a:p>
                  </a:txBody>
                  <a:tcPr>
                    <a:solidFill>
                      <a:srgbClr val="FFFFFF"/>
                    </a:solidFill>
                  </a:tcPr>
                </a:tc>
                <a:tc>
                  <a:txBody>
                    <a:bodyPr/>
                    <a:lstStyle/>
                    <a:p>
                      <a:r>
                        <a:rPr sz="1050" b="0">
                          <a:solidFill>
                            <a:srgbClr val="173651"/>
                          </a:solidFill>
                          <a:latin typeface="Aptos"/>
                          <a:ea typeface="Aptos"/>
                          <a:cs typeface="Aptos"/>
                        </a:rPr>
                        <a:t>B</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3"/>
                  </a:ext>
                </a:extLst>
              </a:tr>
              <a:tr h="571500">
                <a:tc>
                  <a:txBody>
                    <a:bodyPr/>
                    <a:lstStyle/>
                    <a:p>
                      <a:r>
                        <a:rPr sz="1050" b="0">
                          <a:solidFill>
                            <a:srgbClr val="173651"/>
                          </a:solidFill>
                          <a:latin typeface="Aptos"/>
                          <a:ea typeface="Aptos"/>
                          <a:cs typeface="Aptos"/>
                        </a:rPr>
                        <a:t>D  Programme du capteur</a:t>
                      </a:r>
                    </a:p>
                  </a:txBody>
                  <a:tcPr>
                    <a:solidFill>
                      <a:srgbClr val="EFF5F8"/>
                    </a:solidFill>
                  </a:tcPr>
                </a:tc>
                <a:tc>
                  <a:txBody>
                    <a:bodyPr/>
                    <a:lstStyle/>
                    <a:p>
                      <a:r>
                        <a:rPr sz="1050" b="0">
                          <a:solidFill>
                            <a:srgbClr val="173651"/>
                          </a:solidFill>
                          <a:latin typeface="Aptos"/>
                          <a:ea typeface="Aptos"/>
                          <a:cs typeface="Aptos"/>
                        </a:rPr>
                        <a:t>5</a:t>
                      </a:r>
                    </a:p>
                  </a:txBody>
                  <a:tcPr>
                    <a:solidFill>
                      <a:srgbClr val="EFF5F8"/>
                    </a:solidFill>
                  </a:tcPr>
                </a:tc>
                <a:tc>
                  <a:txBody>
                    <a:bodyPr/>
                    <a:lstStyle/>
                    <a:p>
                      <a:r>
                        <a:rPr sz="1050" b="0">
                          <a:solidFill>
                            <a:srgbClr val="173651"/>
                          </a:solidFill>
                          <a:latin typeface="Aptos"/>
                          <a:ea typeface="Aptos"/>
                          <a:cs typeface="Aptos"/>
                        </a:rPr>
                        <a:t>C</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4"/>
                  </a:ext>
                </a:extLst>
              </a:tr>
              <a:tr h="571500">
                <a:tc>
                  <a:txBody>
                    <a:bodyPr/>
                    <a:lstStyle/>
                    <a:p>
                      <a:r>
                        <a:rPr sz="1050" b="0">
                          <a:solidFill>
                            <a:srgbClr val="173651"/>
                          </a:solidFill>
                          <a:latin typeface="Aptos"/>
                          <a:ea typeface="Aptos"/>
                          <a:cs typeface="Aptos"/>
                        </a:rPr>
                        <a:t>E  Maquette du boîtier</a:t>
                      </a:r>
                    </a:p>
                  </a:txBody>
                  <a:tcPr>
                    <a:solidFill>
                      <a:srgbClr val="FFFFFF"/>
                    </a:solidFill>
                  </a:tcPr>
                </a:tc>
                <a:tc>
                  <a:txBody>
                    <a:bodyPr/>
                    <a:lstStyle/>
                    <a:p>
                      <a:r>
                        <a:rPr sz="1050" b="0">
                          <a:solidFill>
                            <a:srgbClr val="173651"/>
                          </a:solidFill>
                          <a:latin typeface="Aptos"/>
                          <a:ea typeface="Aptos"/>
                          <a:cs typeface="Aptos"/>
                        </a:rPr>
                        <a:t>3</a:t>
                      </a:r>
                    </a:p>
                  </a:txBody>
                  <a:tcPr>
                    <a:solidFill>
                      <a:srgbClr val="FFFFFF"/>
                    </a:solidFill>
                  </a:tcPr>
                </a:tc>
                <a:tc>
                  <a:txBody>
                    <a:bodyPr/>
                    <a:lstStyle/>
                    <a:p>
                      <a:r>
                        <a:rPr sz="1050" b="0">
                          <a:solidFill>
                            <a:srgbClr val="173651"/>
                          </a:solidFill>
                          <a:latin typeface="Aptos"/>
                          <a:ea typeface="Aptos"/>
                          <a:cs typeface="Aptos"/>
                        </a:rPr>
                        <a:t>B</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5"/>
                  </a:ext>
                </a:extLst>
              </a:tr>
              <a:tr h="571500">
                <a:tc>
                  <a:txBody>
                    <a:bodyPr/>
                    <a:lstStyle/>
                    <a:p>
                      <a:r>
                        <a:rPr sz="1050" b="0">
                          <a:solidFill>
                            <a:srgbClr val="173651"/>
                          </a:solidFill>
                          <a:latin typeface="Aptos"/>
                          <a:ea typeface="Aptos"/>
                          <a:cs typeface="Aptos"/>
                        </a:rPr>
                        <a:t>F  Tests et validation</a:t>
                      </a:r>
                    </a:p>
                  </a:txBody>
                  <a:tcPr>
                    <a:solidFill>
                      <a:srgbClr val="EFF5F8"/>
                    </a:solidFill>
                  </a:tcPr>
                </a:tc>
                <a:tc>
                  <a:txBody>
                    <a:bodyPr/>
                    <a:lstStyle/>
                    <a:p>
                      <a:r>
                        <a:rPr sz="1050" b="0">
                          <a:solidFill>
                            <a:srgbClr val="173651"/>
                          </a:solidFill>
                          <a:latin typeface="Aptos"/>
                          <a:ea typeface="Aptos"/>
                          <a:cs typeface="Aptos"/>
                        </a:rPr>
                        <a:t>2</a:t>
                      </a:r>
                    </a:p>
                  </a:txBody>
                  <a:tcPr>
                    <a:solidFill>
                      <a:srgbClr val="EFF5F8"/>
                    </a:solidFill>
                  </a:tcPr>
                </a:tc>
                <a:tc>
                  <a:txBody>
                    <a:bodyPr/>
                    <a:lstStyle/>
                    <a:p>
                      <a:r>
                        <a:rPr sz="1050" b="0">
                          <a:solidFill>
                            <a:srgbClr val="173651"/>
                          </a:solidFill>
                          <a:latin typeface="Aptos"/>
                          <a:ea typeface="Aptos"/>
                          <a:cs typeface="Aptos"/>
                        </a:rPr>
                        <a:t>D et E</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6"/>
                  </a:ext>
                </a:extLst>
              </a:tr>
            </a:tbl>
          </a:graphicData>
        </a:graphic>
      </p:graphicFrame>
      <p:sp>
        <p:nvSpPr>
          <p:cNvPr id="5" name="Rectangle 4">
            <a:extLst>
              <a:ext uri="{FF2B5EF4-FFF2-40B4-BE49-F238E27FC236}">
                <a16:creationId xmlns:a16="http://schemas.microsoft.com/office/drawing/2014/main" id="{C9101606-C864-455B-ACA1-475F4FA62D73}"/>
              </a:ext>
            </a:extLst>
          </p:cNvPr>
          <p:cNvSpPr>
            <a:spLocks noGrp="1"/>
          </p:cNvSpPr>
          <p:nvPr/>
        </p:nvSpPr>
        <p:spPr>
          <a:xfrm>
            <a:off x="762000" y="6238875"/>
            <a:ext cx="10287000" cy="304800"/>
          </a:xfrm>
          <a:prstGeom prst="rect">
            <a:avLst/>
          </a:prstGeom>
          <a:noFill/>
          <a:ln w="0">
            <a:noFill/>
          </a:ln>
        </p:spPr>
        <p:txBody>
          <a:bodyPr anchor="t">
            <a:noAutofit/>
          </a:bodyPr>
          <a:lstStyle/>
          <a:p>
            <a:pPr>
              <a:defRPr sz="1425" b="0">
                <a:solidFill>
                  <a:srgbClr val="496577"/>
                </a:solidFill>
                <a:latin typeface="Aptos"/>
                <a:ea typeface="Aptos"/>
                <a:cs typeface="Aptos"/>
              </a:defRPr>
            </a:pPr>
            <a:r>
              <a:rPr sz="1425" b="0">
                <a:solidFill>
                  <a:srgbClr val="496577"/>
                </a:solidFill>
                <a:latin typeface="Aptos"/>
                <a:ea typeface="Aptos"/>
                <a:cs typeface="Aptos"/>
              </a:rPr>
              <a:t>Lecture : deux branches se rejoignent aux tests.</a:t>
            </a:r>
          </a:p>
        </p:txBody>
      </p:sp>
      <p:sp>
        <p:nvSpPr>
          <p:cNvPr id="6" name="Rectangle 5">
            <a:extLst>
              <a:ext uri="{FF2B5EF4-FFF2-40B4-BE49-F238E27FC236}">
                <a16:creationId xmlns:a16="http://schemas.microsoft.com/office/drawing/2014/main" id="{796ACBCD-2A2A-4064-84FC-EEDBC28EE747}"/>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23</a:t>
            </a:r>
          </a:p>
        </p:txBody>
      </p:sp>
    </p:spTree>
    <p:extLst>
      <p:ext uri="{BB962C8B-B14F-4D97-AF65-F5344CB8AC3E}">
        <p14:creationId xmlns:p14="http://schemas.microsoft.com/office/powerpoint/2010/main" val="220800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DF510272-09A2-47C1-BB00-23D8199361FE}"/>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La date finale et le chemin critique</a:t>
            </a:r>
          </a:p>
        </p:txBody>
      </p:sp>
      <p:sp>
        <p:nvSpPr>
          <p:cNvPr id="4" name="Rectangle 3">
            <a:extLst>
              <a:ext uri="{FF2B5EF4-FFF2-40B4-BE49-F238E27FC236}">
                <a16:creationId xmlns:a16="http://schemas.microsoft.com/office/drawing/2014/main" id="{138F835E-C6B6-460A-808E-C3D2E7195E4C}"/>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La durée du projet se lit au dernier jour occupé : J.....</a:t>
            </a:r>
          </a:p>
          <a:p>
            <a:pPr>
              <a:defRPr sz="1950" b="0">
                <a:solidFill>
                  <a:srgbClr val="173651"/>
                </a:solidFill>
                <a:latin typeface="Aptos"/>
                <a:ea typeface="Aptos"/>
                <a:cs typeface="Aptos"/>
              </a:defRPr>
            </a:pPr>
            <a:r>
              <a:rPr sz="1950" b="0">
                <a:solidFill>
                  <a:srgbClr val="173651"/>
                </a:solidFill>
                <a:latin typeface="Aptos"/>
                <a:ea typeface="Aptos"/>
                <a:cs typeface="Aptos"/>
              </a:rPr>
              <a:t>Quelle chaîne de tâches fixe cette date ? A – B – .... – .... – F.</a:t>
            </a:r>
          </a:p>
          <a:p>
            <a:pPr>
              <a:defRPr sz="1950" b="0">
                <a:solidFill>
                  <a:srgbClr val="173651"/>
                </a:solidFill>
                <a:latin typeface="Aptos"/>
                <a:ea typeface="Aptos"/>
                <a:cs typeface="Aptos"/>
              </a:defRPr>
            </a:pPr>
            <a:r>
              <a:rPr sz="1950" b="0">
                <a:solidFill>
                  <a:srgbClr val="173651"/>
                </a:solidFill>
                <a:latin typeface="Aptos"/>
                <a:ea typeface="Aptos"/>
                <a:cs typeface="Aptos"/>
              </a:rPr>
              <a:t>Pourquoi la somme des durées (19 jours) dépasse-t-elle la durée du projet ? ....................................</a:t>
            </a:r>
          </a:p>
        </p:txBody>
      </p:sp>
      <p:sp>
        <p:nvSpPr>
          <p:cNvPr id="5" name="Rectangle 4">
            <a:extLst>
              <a:ext uri="{FF2B5EF4-FFF2-40B4-BE49-F238E27FC236}">
                <a16:creationId xmlns:a16="http://schemas.microsoft.com/office/drawing/2014/main" id="{5814EFCA-0D49-479F-BBA6-3369A7C7139B}"/>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Une notion à retenir</a:t>
            </a:r>
          </a:p>
        </p:txBody>
      </p:sp>
      <p:sp>
        <p:nvSpPr>
          <p:cNvPr id="6" name="Rectangle 5">
            <a:extLst>
              <a:ext uri="{FF2B5EF4-FFF2-40B4-BE49-F238E27FC236}">
                <a16:creationId xmlns:a16="http://schemas.microsoft.com/office/drawing/2014/main" id="{97D2CF2F-C0B9-4F49-BF8C-2DF8908ADAB1}"/>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Une tâche située sur le chemin critique n’a pas de marge dans le calendrier calculé : si elle dure plus longtemps et qu’aucune autre solution n’est trouvée, la date finale est décalée.</a:t>
            </a:r>
          </a:p>
        </p:txBody>
      </p:sp>
      <p:sp>
        <p:nvSpPr>
          <p:cNvPr id="7" name="Rectangle 6">
            <a:extLst>
              <a:ext uri="{FF2B5EF4-FFF2-40B4-BE49-F238E27FC236}">
                <a16:creationId xmlns:a16="http://schemas.microsoft.com/office/drawing/2014/main" id="{BB2A907D-BDF1-4702-B1C0-B9F5BD612943}"/>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24</a:t>
            </a:r>
          </a:p>
        </p:txBody>
      </p:sp>
    </p:spTree>
    <p:extLst>
      <p:ext uri="{BB962C8B-B14F-4D97-AF65-F5344CB8AC3E}">
        <p14:creationId xmlns:p14="http://schemas.microsoft.com/office/powerpoint/2010/main" val="372751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FF5F8"/>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F96C371A-3A40-4770-BF24-192AC1713F24}"/>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Partie 3 · Mettre en pratique</a:t>
            </a:r>
          </a:p>
        </p:txBody>
      </p:sp>
      <p:sp>
        <p:nvSpPr>
          <p:cNvPr id="3" name="Rectangle 2">
            <a:extLst>
              <a:ext uri="{FF2B5EF4-FFF2-40B4-BE49-F238E27FC236}">
                <a16:creationId xmlns:a16="http://schemas.microsoft.com/office/drawing/2014/main" id="{8859FC47-F5FB-46CA-8A4C-0D4A1482E005}"/>
              </a:ext>
            </a:extLst>
          </p:cNvPr>
          <p:cNvSpPr>
            <a:spLocks noGrp="1"/>
          </p:cNvSpPr>
          <p:nvPr/>
        </p:nvSpPr>
        <p:spPr>
          <a:xfrm>
            <a:off x="733425" y="1438275"/>
            <a:ext cx="10572750" cy="400050"/>
          </a:xfrm>
          <a:prstGeom prst="rect">
            <a:avLst/>
          </a:prstGeom>
          <a:noFill/>
          <a:ln w="0">
            <a:noFill/>
          </a:ln>
        </p:spPr>
        <p:txBody>
          <a:bodyPr anchor="t">
            <a:noAutofit/>
          </a:bodyPr>
          <a:lstStyle/>
          <a:p>
            <a:pPr>
              <a:defRPr sz="1425" b="1">
                <a:solidFill>
                  <a:srgbClr val="23739A"/>
                </a:solidFill>
                <a:latin typeface="Aptos"/>
                <a:ea typeface="Aptos"/>
                <a:cs typeface="Aptos"/>
              </a:defRPr>
            </a:pPr>
            <a:r>
              <a:rPr sz="1425" b="1">
                <a:solidFill>
                  <a:srgbClr val="23739A"/>
                </a:solidFill>
                <a:latin typeface="Aptos"/>
                <a:ea typeface="Aptos"/>
                <a:cs typeface="Aptos"/>
              </a:rPr>
              <a:t>Travail en binôme : la borne de recharge solaire</a:t>
            </a:r>
          </a:p>
        </p:txBody>
      </p:sp>
      <p:sp>
        <p:nvSpPr>
          <p:cNvPr id="5" name="Rectangle 4">
            <a:extLst>
              <a:ext uri="{FF2B5EF4-FFF2-40B4-BE49-F238E27FC236}">
                <a16:creationId xmlns:a16="http://schemas.microsoft.com/office/drawing/2014/main" id="{FFCDFAA4-6AE1-49F1-A824-AD6CE742C5C7}"/>
              </a:ext>
            </a:extLst>
          </p:cNvPr>
          <p:cNvSpPr>
            <a:spLocks noGrp="1"/>
          </p:cNvSpPr>
          <p:nvPr/>
        </p:nvSpPr>
        <p:spPr>
          <a:xfrm>
            <a:off x="762000" y="2905125"/>
            <a:ext cx="10382250" cy="1809750"/>
          </a:xfrm>
          <a:prstGeom prst="rect">
            <a:avLst/>
          </a:prstGeom>
          <a:noFill/>
          <a:ln w="0">
            <a:noFill/>
          </a:ln>
        </p:spPr>
        <p:txBody>
          <a:bodyPr anchor="t">
            <a:noAutofit/>
          </a:bodyPr>
          <a:lstStyle/>
          <a:p>
            <a:pPr>
              <a:defRPr sz="2100" b="0">
                <a:solidFill>
                  <a:srgbClr val="173651"/>
                </a:solidFill>
                <a:latin typeface="Aptos"/>
                <a:ea typeface="Aptos"/>
                <a:cs typeface="Aptos"/>
              </a:defRPr>
            </a:pPr>
            <a:r>
              <a:rPr sz="2100" b="0">
                <a:solidFill>
                  <a:srgbClr val="173651"/>
                </a:solidFill>
                <a:latin typeface="Aptos"/>
                <a:ea typeface="Aptos"/>
                <a:cs typeface="Aptos"/>
              </a:rPr>
              <a:t>Votre binôme appliquera la méthode à un autre produit technique. À rendre : un tableau des débuts et des fins, un diagramme lisible et une phrase justifiant la date de présentation.</a:t>
            </a:r>
          </a:p>
        </p:txBody>
      </p:sp>
      <p:sp>
        <p:nvSpPr>
          <p:cNvPr id="7" name="Rectangle 6">
            <a:extLst>
              <a:ext uri="{FF2B5EF4-FFF2-40B4-BE49-F238E27FC236}">
                <a16:creationId xmlns:a16="http://schemas.microsoft.com/office/drawing/2014/main" id="{B5F44183-837D-4D28-9AAA-58D7830FC817}"/>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25</a:t>
            </a:r>
          </a:p>
        </p:txBody>
      </p:sp>
    </p:spTree>
    <p:extLst>
      <p:ext uri="{BB962C8B-B14F-4D97-AF65-F5344CB8AC3E}">
        <p14:creationId xmlns:p14="http://schemas.microsoft.com/office/powerpoint/2010/main" val="16981304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83657D00-566F-4561-BFFB-DAA1A82D6C92}"/>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Binôme 1 : borne USB solaire</a:t>
            </a:r>
          </a:p>
        </p:txBody>
      </p:sp>
      <p:sp>
        <p:nvSpPr>
          <p:cNvPr id="4" name="Rectangle 3">
            <a:extLst>
              <a:ext uri="{FF2B5EF4-FFF2-40B4-BE49-F238E27FC236}">
                <a16:creationId xmlns:a16="http://schemas.microsoft.com/office/drawing/2014/main" id="{423CB7FF-5B13-4793-BBCB-A56D32C5AB61}"/>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Vous devez réaliser un prototype de borne USB solaire pour la cour du lycée. Travaillez avec des jours ouvrés J1, J2… Les deux membres du binôme peuvent avancer sur des tâches différentes.</a:t>
            </a:r>
          </a:p>
          <a:p>
            <a:pPr>
              <a:defRPr sz="1950" b="0">
                <a:solidFill>
                  <a:srgbClr val="173651"/>
                </a:solidFill>
                <a:latin typeface="Aptos"/>
                <a:ea typeface="Aptos"/>
                <a:cs typeface="Aptos"/>
              </a:defRPr>
            </a:pPr>
            <a:r>
              <a:rPr sz="1950" b="0">
                <a:solidFill>
                  <a:srgbClr val="173651"/>
                </a:solidFill>
                <a:latin typeface="Aptos"/>
                <a:ea typeface="Aptos"/>
                <a:cs typeface="Aptos"/>
              </a:rPr>
              <a:t>Calculez d’abord les débuts et fins, puis tracez le diagramme. Échangez vos rôles de calcul et de vérification à mi-parcours.</a:t>
            </a:r>
          </a:p>
        </p:txBody>
      </p:sp>
      <p:sp>
        <p:nvSpPr>
          <p:cNvPr id="5" name="Rectangle 4">
            <a:extLst>
              <a:ext uri="{FF2B5EF4-FFF2-40B4-BE49-F238E27FC236}">
                <a16:creationId xmlns:a16="http://schemas.microsoft.com/office/drawing/2014/main" id="{86931A22-744E-4255-BF09-D2166BFABD4F}"/>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Livrables du binôme</a:t>
            </a:r>
          </a:p>
        </p:txBody>
      </p:sp>
      <p:sp>
        <p:nvSpPr>
          <p:cNvPr id="6" name="Rectangle 5">
            <a:extLst>
              <a:ext uri="{FF2B5EF4-FFF2-40B4-BE49-F238E27FC236}">
                <a16:creationId xmlns:a16="http://schemas.microsoft.com/office/drawing/2014/main" id="{C2FBE768-A9E9-4B15-A92A-1DB4E84B76AD}"/>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Rendez un tableau avec les débuts et fins, un diagramme lisible et une justification de la date de présentation. Vérifiez spécialement la tâche E : elle attend à la fois le schéma et le support.</a:t>
            </a:r>
          </a:p>
        </p:txBody>
      </p:sp>
      <p:sp>
        <p:nvSpPr>
          <p:cNvPr id="7" name="Rectangle 6">
            <a:extLst>
              <a:ext uri="{FF2B5EF4-FFF2-40B4-BE49-F238E27FC236}">
                <a16:creationId xmlns:a16="http://schemas.microsoft.com/office/drawing/2014/main" id="{84CE5291-B9EE-4F0B-9C9C-6F202E1CD67F}"/>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26</a:t>
            </a:r>
          </a:p>
        </p:txBody>
      </p:sp>
    </p:spTree>
    <p:extLst>
      <p:ext uri="{BB962C8B-B14F-4D97-AF65-F5344CB8AC3E}">
        <p14:creationId xmlns:p14="http://schemas.microsoft.com/office/powerpoint/2010/main" val="2333998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Image 5"/>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85EB5B8A-9C1C-4C03-8B2C-4BCD427C11F9}"/>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Borne solaire : sept tâches</a:t>
            </a:r>
          </a:p>
        </p:txBody>
      </p:sp>
      <p:graphicFrame>
        <p:nvGraphicFramePr>
          <p:cNvPr id="9" name="Tableau 8"/>
          <p:cNvGraphicFramePr/>
          <p:nvPr/>
        </p:nvGraphicFramePr>
        <p:xfrm>
          <a:off x="742950" y="2047875"/>
          <a:ext cx="10706100" cy="4048128"/>
        </p:xfrm>
        <a:graphic>
          <a:graphicData uri="http://schemas.openxmlformats.org/drawingml/2006/table">
            <a:tbl>
              <a:tblPr/>
              <a:tblGrid>
                <a:gridCol w="6496050">
                  <a:extLst>
                    <a:ext uri="{9D8B030D-6E8A-4147-A177-3AD203B41FA5}">
                      <a16:colId xmlns:a16="http://schemas.microsoft.com/office/drawing/2014/main" val="20000"/>
                    </a:ext>
                  </a:extLst>
                </a:gridCol>
                <a:gridCol w="1676400">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506016">
                <a:tc>
                  <a:txBody>
                    <a:bodyPr/>
                    <a:lstStyle/>
                    <a:p>
                      <a:r>
                        <a:rPr sz="1425" b="1">
                          <a:solidFill>
                            <a:srgbClr val="FFFFFF"/>
                          </a:solidFill>
                          <a:latin typeface="Aptos"/>
                          <a:ea typeface="Aptos"/>
                          <a:cs typeface="Aptos"/>
                        </a:rPr>
                        <a:t>Code / tâche</a:t>
                      </a:r>
                    </a:p>
                  </a:txBody>
                  <a:tcPr>
                    <a:solidFill>
                      <a:srgbClr val="15304B"/>
                    </a:solidFill>
                  </a:tcPr>
                </a:tc>
                <a:tc>
                  <a:txBody>
                    <a:bodyPr/>
                    <a:lstStyle/>
                    <a:p>
                      <a:r>
                        <a:rPr sz="1425" b="1">
                          <a:solidFill>
                            <a:srgbClr val="FFFFFF"/>
                          </a:solidFill>
                          <a:latin typeface="Aptos"/>
                          <a:ea typeface="Aptos"/>
                          <a:cs typeface="Aptos"/>
                        </a:rPr>
                        <a:t>Durée</a:t>
                      </a:r>
                    </a:p>
                  </a:txBody>
                  <a:tcPr>
                    <a:solidFill>
                      <a:srgbClr val="15304B"/>
                    </a:solidFill>
                  </a:tcPr>
                </a:tc>
                <a:tc>
                  <a:txBody>
                    <a:bodyPr/>
                    <a:lstStyle/>
                    <a:p>
                      <a:r>
                        <a:rPr sz="1425" b="1">
                          <a:solidFill>
                            <a:srgbClr val="FFFFFF"/>
                          </a:solidFill>
                          <a:latin typeface="Aptos"/>
                          <a:ea typeface="Aptos"/>
                          <a:cs typeface="Aptos"/>
                        </a:rPr>
                        <a:t>Après</a:t>
                      </a:r>
                    </a:p>
                  </a:txBody>
                  <a:tcPr>
                    <a:solidFill>
                      <a:srgbClr val="15304B"/>
                    </a:solidFill>
                  </a:tcPr>
                </a:tc>
                <a:extLst>
                  <a:ext uri="{0D108BD9-81ED-4DB2-BD59-A6C34878D82A}">
                    <a16:rowId xmlns:a16="http://schemas.microsoft.com/office/drawing/2014/main" val="10000"/>
                  </a:ext>
                </a:extLst>
              </a:tr>
              <a:tr h="506016">
                <a:tc>
                  <a:txBody>
                    <a:bodyPr/>
                    <a:lstStyle/>
                    <a:p>
                      <a:r>
                        <a:rPr sz="1500" b="0">
                          <a:solidFill>
                            <a:srgbClr val="173651"/>
                          </a:solidFill>
                          <a:latin typeface="Aptos"/>
                          <a:ea typeface="Aptos"/>
                          <a:cs typeface="Aptos"/>
                        </a:rPr>
                        <a:t>A  Étude du besoin</a:t>
                      </a:r>
                    </a:p>
                  </a:txBody>
                  <a:tcPr>
                    <a:solidFill>
                      <a:srgbClr val="FFFFFF"/>
                    </a:solidFill>
                  </a:tcPr>
                </a:tc>
                <a:tc>
                  <a:txBody>
                    <a:bodyPr/>
                    <a:lstStyle/>
                    <a:p>
                      <a:r>
                        <a:rPr sz="1500" b="0">
                          <a:solidFill>
                            <a:srgbClr val="173651"/>
                          </a:solidFill>
                          <a:latin typeface="Aptos"/>
                          <a:ea typeface="Aptos"/>
                          <a:cs typeface="Aptos"/>
                        </a:rPr>
                        <a:t>1 jour</a:t>
                      </a:r>
                    </a:p>
                  </a:txBody>
                  <a:tcPr>
                    <a:solidFill>
                      <a:srgbClr val="FFFFFF"/>
                    </a:solidFill>
                  </a:tcPr>
                </a:tc>
                <a:tc>
                  <a:txBody>
                    <a:bodyPr/>
                    <a:lstStyle/>
                    <a:p>
                      <a:r>
                        <a:rPr sz="1500" b="0">
                          <a:solidFill>
                            <a:srgbClr val="173651"/>
                          </a:solidFill>
                          <a:latin typeface="Aptos"/>
                          <a:ea typeface="Aptos"/>
                          <a:cs typeface="Aptos"/>
                        </a:rPr>
                        <a:t>—</a:t>
                      </a:r>
                    </a:p>
                  </a:txBody>
                  <a:tcPr>
                    <a:solidFill>
                      <a:srgbClr val="FFFFFF"/>
                    </a:solidFill>
                  </a:tcPr>
                </a:tc>
                <a:extLst>
                  <a:ext uri="{0D108BD9-81ED-4DB2-BD59-A6C34878D82A}">
                    <a16:rowId xmlns:a16="http://schemas.microsoft.com/office/drawing/2014/main" val="10001"/>
                  </a:ext>
                </a:extLst>
              </a:tr>
              <a:tr h="506016">
                <a:tc>
                  <a:txBody>
                    <a:bodyPr/>
                    <a:lstStyle/>
                    <a:p>
                      <a:r>
                        <a:rPr sz="1500" b="0">
                          <a:solidFill>
                            <a:srgbClr val="173651"/>
                          </a:solidFill>
                          <a:latin typeface="Aptos"/>
                          <a:ea typeface="Aptos"/>
                          <a:cs typeface="Aptos"/>
                        </a:rPr>
                        <a:t>B  Choix des composants</a:t>
                      </a:r>
                    </a:p>
                  </a:txBody>
                  <a:tcPr>
                    <a:solidFill>
                      <a:srgbClr val="EFF5F8"/>
                    </a:solidFill>
                  </a:tcPr>
                </a:tc>
                <a:tc>
                  <a:txBody>
                    <a:bodyPr/>
                    <a:lstStyle/>
                    <a:p>
                      <a:r>
                        <a:rPr sz="1500" b="0">
                          <a:solidFill>
                            <a:srgbClr val="173651"/>
                          </a:solidFill>
                          <a:latin typeface="Aptos"/>
                          <a:ea typeface="Aptos"/>
                          <a:cs typeface="Aptos"/>
                        </a:rPr>
                        <a:t>2 jours</a:t>
                      </a:r>
                    </a:p>
                  </a:txBody>
                  <a:tcPr>
                    <a:solidFill>
                      <a:srgbClr val="EFF5F8"/>
                    </a:solidFill>
                  </a:tcPr>
                </a:tc>
                <a:tc>
                  <a:txBody>
                    <a:bodyPr/>
                    <a:lstStyle/>
                    <a:p>
                      <a:r>
                        <a:rPr sz="1500" b="0">
                          <a:solidFill>
                            <a:srgbClr val="173651"/>
                          </a:solidFill>
                          <a:latin typeface="Aptos"/>
                          <a:ea typeface="Aptos"/>
                          <a:cs typeface="Aptos"/>
                        </a:rPr>
                        <a:t>A</a:t>
                      </a:r>
                    </a:p>
                  </a:txBody>
                  <a:tcPr>
                    <a:solidFill>
                      <a:srgbClr val="EFF5F8"/>
                    </a:solidFill>
                  </a:tcPr>
                </a:tc>
                <a:extLst>
                  <a:ext uri="{0D108BD9-81ED-4DB2-BD59-A6C34878D82A}">
                    <a16:rowId xmlns:a16="http://schemas.microsoft.com/office/drawing/2014/main" val="10002"/>
                  </a:ext>
                </a:extLst>
              </a:tr>
              <a:tr h="506016">
                <a:tc>
                  <a:txBody>
                    <a:bodyPr/>
                    <a:lstStyle/>
                    <a:p>
                      <a:r>
                        <a:rPr sz="1500" b="0">
                          <a:solidFill>
                            <a:srgbClr val="173651"/>
                          </a:solidFill>
                          <a:latin typeface="Aptos"/>
                          <a:ea typeface="Aptos"/>
                          <a:cs typeface="Aptos"/>
                        </a:rPr>
                        <a:t>C  Schéma électrique</a:t>
                      </a:r>
                    </a:p>
                  </a:txBody>
                  <a:tcPr>
                    <a:solidFill>
                      <a:srgbClr val="FFFFFF"/>
                    </a:solidFill>
                  </a:tcPr>
                </a:tc>
                <a:tc>
                  <a:txBody>
                    <a:bodyPr/>
                    <a:lstStyle/>
                    <a:p>
                      <a:r>
                        <a:rPr sz="1500" b="0">
                          <a:solidFill>
                            <a:srgbClr val="173651"/>
                          </a:solidFill>
                          <a:latin typeface="Aptos"/>
                          <a:ea typeface="Aptos"/>
                          <a:cs typeface="Aptos"/>
                        </a:rPr>
                        <a:t>2 jours</a:t>
                      </a:r>
                    </a:p>
                  </a:txBody>
                  <a:tcPr>
                    <a:solidFill>
                      <a:srgbClr val="FFFFFF"/>
                    </a:solidFill>
                  </a:tcPr>
                </a:tc>
                <a:tc>
                  <a:txBody>
                    <a:bodyPr/>
                    <a:lstStyle/>
                    <a:p>
                      <a:r>
                        <a:rPr sz="1500" b="0">
                          <a:solidFill>
                            <a:srgbClr val="173651"/>
                          </a:solidFill>
                          <a:latin typeface="Aptos"/>
                          <a:ea typeface="Aptos"/>
                          <a:cs typeface="Aptos"/>
                        </a:rPr>
                        <a:t>B</a:t>
                      </a:r>
                    </a:p>
                  </a:txBody>
                  <a:tcPr>
                    <a:solidFill>
                      <a:srgbClr val="FFFFFF"/>
                    </a:solidFill>
                  </a:tcPr>
                </a:tc>
                <a:extLst>
                  <a:ext uri="{0D108BD9-81ED-4DB2-BD59-A6C34878D82A}">
                    <a16:rowId xmlns:a16="http://schemas.microsoft.com/office/drawing/2014/main" val="10003"/>
                  </a:ext>
                </a:extLst>
              </a:tr>
              <a:tr h="506016">
                <a:tc>
                  <a:txBody>
                    <a:bodyPr/>
                    <a:lstStyle/>
                    <a:p>
                      <a:r>
                        <a:rPr sz="1500" b="0">
                          <a:solidFill>
                            <a:srgbClr val="173651"/>
                          </a:solidFill>
                          <a:latin typeface="Aptos"/>
                          <a:ea typeface="Aptos"/>
                          <a:cs typeface="Aptos"/>
                        </a:rPr>
                        <a:t>D  Modèle du support</a:t>
                      </a:r>
                    </a:p>
                  </a:txBody>
                  <a:tcPr>
                    <a:solidFill>
                      <a:srgbClr val="EFF5F8"/>
                    </a:solidFill>
                  </a:tcPr>
                </a:tc>
                <a:tc>
                  <a:txBody>
                    <a:bodyPr/>
                    <a:lstStyle/>
                    <a:p>
                      <a:r>
                        <a:rPr sz="1500" b="0">
                          <a:solidFill>
                            <a:srgbClr val="173651"/>
                          </a:solidFill>
                          <a:latin typeface="Aptos"/>
                          <a:ea typeface="Aptos"/>
                          <a:cs typeface="Aptos"/>
                        </a:rPr>
                        <a:t>3 jours</a:t>
                      </a:r>
                    </a:p>
                  </a:txBody>
                  <a:tcPr>
                    <a:solidFill>
                      <a:srgbClr val="EFF5F8"/>
                    </a:solidFill>
                  </a:tcPr>
                </a:tc>
                <a:tc>
                  <a:txBody>
                    <a:bodyPr/>
                    <a:lstStyle/>
                    <a:p>
                      <a:r>
                        <a:rPr sz="1500" b="0">
                          <a:solidFill>
                            <a:srgbClr val="173651"/>
                          </a:solidFill>
                          <a:latin typeface="Aptos"/>
                          <a:ea typeface="Aptos"/>
                          <a:cs typeface="Aptos"/>
                        </a:rPr>
                        <a:t>A</a:t>
                      </a:r>
                    </a:p>
                  </a:txBody>
                  <a:tcPr>
                    <a:solidFill>
                      <a:srgbClr val="EFF5F8"/>
                    </a:solidFill>
                  </a:tcPr>
                </a:tc>
                <a:extLst>
                  <a:ext uri="{0D108BD9-81ED-4DB2-BD59-A6C34878D82A}">
                    <a16:rowId xmlns:a16="http://schemas.microsoft.com/office/drawing/2014/main" val="10004"/>
                  </a:ext>
                </a:extLst>
              </a:tr>
              <a:tr h="506016">
                <a:tc>
                  <a:txBody>
                    <a:bodyPr/>
                    <a:lstStyle/>
                    <a:p>
                      <a:r>
                        <a:rPr sz="1500" b="0">
                          <a:solidFill>
                            <a:srgbClr val="173651"/>
                          </a:solidFill>
                          <a:latin typeface="Aptos"/>
                          <a:ea typeface="Aptos"/>
                          <a:cs typeface="Aptos"/>
                        </a:rPr>
                        <a:t>E  Assemblage</a:t>
                      </a:r>
                    </a:p>
                  </a:txBody>
                  <a:tcPr>
                    <a:solidFill>
                      <a:srgbClr val="FFFFFF"/>
                    </a:solidFill>
                  </a:tcPr>
                </a:tc>
                <a:tc>
                  <a:txBody>
                    <a:bodyPr/>
                    <a:lstStyle/>
                    <a:p>
                      <a:r>
                        <a:rPr sz="1500" b="0">
                          <a:solidFill>
                            <a:srgbClr val="173651"/>
                          </a:solidFill>
                          <a:latin typeface="Aptos"/>
                          <a:ea typeface="Aptos"/>
                          <a:cs typeface="Aptos"/>
                        </a:rPr>
                        <a:t>2 jours</a:t>
                      </a:r>
                    </a:p>
                  </a:txBody>
                  <a:tcPr>
                    <a:solidFill>
                      <a:srgbClr val="FFFFFF"/>
                    </a:solidFill>
                  </a:tcPr>
                </a:tc>
                <a:tc>
                  <a:txBody>
                    <a:bodyPr/>
                    <a:lstStyle/>
                    <a:p>
                      <a:r>
                        <a:rPr sz="1500" b="0">
                          <a:solidFill>
                            <a:srgbClr val="173651"/>
                          </a:solidFill>
                          <a:latin typeface="Aptos"/>
                          <a:ea typeface="Aptos"/>
                          <a:cs typeface="Aptos"/>
                        </a:rPr>
                        <a:t>C et D</a:t>
                      </a:r>
                    </a:p>
                  </a:txBody>
                  <a:tcPr>
                    <a:solidFill>
                      <a:srgbClr val="FFFFFF"/>
                    </a:solidFill>
                  </a:tcPr>
                </a:tc>
                <a:extLst>
                  <a:ext uri="{0D108BD9-81ED-4DB2-BD59-A6C34878D82A}">
                    <a16:rowId xmlns:a16="http://schemas.microsoft.com/office/drawing/2014/main" val="10005"/>
                  </a:ext>
                </a:extLst>
              </a:tr>
              <a:tr h="506016">
                <a:tc>
                  <a:txBody>
                    <a:bodyPr/>
                    <a:lstStyle/>
                    <a:p>
                      <a:r>
                        <a:rPr sz="1500" b="0">
                          <a:solidFill>
                            <a:srgbClr val="173651"/>
                          </a:solidFill>
                          <a:latin typeface="Aptos"/>
                          <a:ea typeface="Aptos"/>
                          <a:cs typeface="Aptos"/>
                        </a:rPr>
                        <a:t>F  Tests et validation</a:t>
                      </a:r>
                    </a:p>
                  </a:txBody>
                  <a:tcPr>
                    <a:solidFill>
                      <a:srgbClr val="EFF5F8"/>
                    </a:solidFill>
                  </a:tcPr>
                </a:tc>
                <a:tc>
                  <a:txBody>
                    <a:bodyPr/>
                    <a:lstStyle/>
                    <a:p>
                      <a:r>
                        <a:rPr sz="1500" b="0">
                          <a:solidFill>
                            <a:srgbClr val="173651"/>
                          </a:solidFill>
                          <a:latin typeface="Aptos"/>
                          <a:ea typeface="Aptos"/>
                          <a:cs typeface="Aptos"/>
                        </a:rPr>
                        <a:t>2 jours</a:t>
                      </a:r>
                    </a:p>
                  </a:txBody>
                  <a:tcPr>
                    <a:solidFill>
                      <a:srgbClr val="EFF5F8"/>
                    </a:solidFill>
                  </a:tcPr>
                </a:tc>
                <a:tc>
                  <a:txBody>
                    <a:bodyPr/>
                    <a:lstStyle/>
                    <a:p>
                      <a:r>
                        <a:rPr sz="1500" b="0">
                          <a:solidFill>
                            <a:srgbClr val="173651"/>
                          </a:solidFill>
                          <a:latin typeface="Aptos"/>
                          <a:ea typeface="Aptos"/>
                          <a:cs typeface="Aptos"/>
                        </a:rPr>
                        <a:t>E</a:t>
                      </a:r>
                    </a:p>
                  </a:txBody>
                  <a:tcPr>
                    <a:solidFill>
                      <a:srgbClr val="EFF5F8"/>
                    </a:solidFill>
                  </a:tcPr>
                </a:tc>
                <a:extLst>
                  <a:ext uri="{0D108BD9-81ED-4DB2-BD59-A6C34878D82A}">
                    <a16:rowId xmlns:a16="http://schemas.microsoft.com/office/drawing/2014/main" val="10006"/>
                  </a:ext>
                </a:extLst>
              </a:tr>
              <a:tr h="506016">
                <a:tc>
                  <a:txBody>
                    <a:bodyPr/>
                    <a:lstStyle/>
                    <a:p>
                      <a:r>
                        <a:rPr sz="1500" b="0">
                          <a:solidFill>
                            <a:srgbClr val="173651"/>
                          </a:solidFill>
                          <a:latin typeface="Aptos"/>
                          <a:ea typeface="Aptos"/>
                          <a:cs typeface="Aptos"/>
                        </a:rPr>
                        <a:t>G  Présentation</a:t>
                      </a:r>
                    </a:p>
                  </a:txBody>
                  <a:tcPr>
                    <a:solidFill>
                      <a:srgbClr val="FFFFFF"/>
                    </a:solidFill>
                  </a:tcPr>
                </a:tc>
                <a:tc>
                  <a:txBody>
                    <a:bodyPr/>
                    <a:lstStyle/>
                    <a:p>
                      <a:r>
                        <a:rPr sz="1500" b="0">
                          <a:solidFill>
                            <a:srgbClr val="173651"/>
                          </a:solidFill>
                          <a:latin typeface="Aptos"/>
                          <a:ea typeface="Aptos"/>
                          <a:cs typeface="Aptos"/>
                        </a:rPr>
                        <a:t>1 jour</a:t>
                      </a:r>
                    </a:p>
                  </a:txBody>
                  <a:tcPr>
                    <a:solidFill>
                      <a:srgbClr val="FFFFFF"/>
                    </a:solidFill>
                  </a:tcPr>
                </a:tc>
                <a:tc>
                  <a:txBody>
                    <a:bodyPr/>
                    <a:lstStyle/>
                    <a:p>
                      <a:r>
                        <a:rPr sz="1500" b="0">
                          <a:solidFill>
                            <a:srgbClr val="173651"/>
                          </a:solidFill>
                          <a:latin typeface="Aptos"/>
                          <a:ea typeface="Aptos"/>
                          <a:cs typeface="Aptos"/>
                        </a:rPr>
                        <a:t>F</a:t>
                      </a:r>
                    </a:p>
                  </a:txBody>
                  <a:tcPr>
                    <a:solidFill>
                      <a:srgbClr val="FFFFFF"/>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4C5CC202-06BF-44C4-BB64-275E30C2E357}"/>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27</a:t>
            </a:r>
          </a:p>
        </p:txBody>
      </p:sp>
    </p:spTree>
    <p:extLst>
      <p:ext uri="{BB962C8B-B14F-4D97-AF65-F5344CB8AC3E}">
        <p14:creationId xmlns:p14="http://schemas.microsoft.com/office/powerpoint/2010/main" val="5970802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Image 6"/>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BB39FC0D-C32F-4FDB-B56F-F47D3B6FEEAB}"/>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Borne solaire : diagramme à tracer</a:t>
            </a:r>
          </a:p>
        </p:txBody>
      </p:sp>
      <p:graphicFrame>
        <p:nvGraphicFramePr>
          <p:cNvPr id="10" name="Tableau 9"/>
          <p:cNvGraphicFramePr/>
          <p:nvPr/>
        </p:nvGraphicFramePr>
        <p:xfrm>
          <a:off x="742950" y="2114550"/>
          <a:ext cx="10706097" cy="4000504"/>
        </p:xfrm>
        <a:graphic>
          <a:graphicData uri="http://schemas.openxmlformats.org/drawingml/2006/table">
            <a:tbl>
              <a:tblPr/>
              <a:tblGrid>
                <a:gridCol w="295275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559377">
                  <a:extLst>
                    <a:ext uri="{9D8B030D-6E8A-4147-A177-3AD203B41FA5}">
                      <a16:colId xmlns:a16="http://schemas.microsoft.com/office/drawing/2014/main" val="20003"/>
                    </a:ext>
                  </a:extLst>
                </a:gridCol>
                <a:gridCol w="559377">
                  <a:extLst>
                    <a:ext uri="{9D8B030D-6E8A-4147-A177-3AD203B41FA5}">
                      <a16:colId xmlns:a16="http://schemas.microsoft.com/office/drawing/2014/main" val="20004"/>
                    </a:ext>
                  </a:extLst>
                </a:gridCol>
                <a:gridCol w="559377">
                  <a:extLst>
                    <a:ext uri="{9D8B030D-6E8A-4147-A177-3AD203B41FA5}">
                      <a16:colId xmlns:a16="http://schemas.microsoft.com/office/drawing/2014/main" val="20005"/>
                    </a:ext>
                  </a:extLst>
                </a:gridCol>
                <a:gridCol w="559377">
                  <a:extLst>
                    <a:ext uri="{9D8B030D-6E8A-4147-A177-3AD203B41FA5}">
                      <a16:colId xmlns:a16="http://schemas.microsoft.com/office/drawing/2014/main" val="20006"/>
                    </a:ext>
                  </a:extLst>
                </a:gridCol>
                <a:gridCol w="559377">
                  <a:extLst>
                    <a:ext uri="{9D8B030D-6E8A-4147-A177-3AD203B41FA5}">
                      <a16:colId xmlns:a16="http://schemas.microsoft.com/office/drawing/2014/main" val="20007"/>
                    </a:ext>
                  </a:extLst>
                </a:gridCol>
                <a:gridCol w="559377">
                  <a:extLst>
                    <a:ext uri="{9D8B030D-6E8A-4147-A177-3AD203B41FA5}">
                      <a16:colId xmlns:a16="http://schemas.microsoft.com/office/drawing/2014/main" val="20008"/>
                    </a:ext>
                  </a:extLst>
                </a:gridCol>
                <a:gridCol w="559377">
                  <a:extLst>
                    <a:ext uri="{9D8B030D-6E8A-4147-A177-3AD203B41FA5}">
                      <a16:colId xmlns:a16="http://schemas.microsoft.com/office/drawing/2014/main" val="20009"/>
                    </a:ext>
                  </a:extLst>
                </a:gridCol>
                <a:gridCol w="559377">
                  <a:extLst>
                    <a:ext uri="{9D8B030D-6E8A-4147-A177-3AD203B41FA5}">
                      <a16:colId xmlns:a16="http://schemas.microsoft.com/office/drawing/2014/main" val="20010"/>
                    </a:ext>
                  </a:extLst>
                </a:gridCol>
                <a:gridCol w="559377">
                  <a:extLst>
                    <a:ext uri="{9D8B030D-6E8A-4147-A177-3AD203B41FA5}">
                      <a16:colId xmlns:a16="http://schemas.microsoft.com/office/drawing/2014/main" val="20011"/>
                    </a:ext>
                  </a:extLst>
                </a:gridCol>
                <a:gridCol w="559377">
                  <a:extLst>
                    <a:ext uri="{9D8B030D-6E8A-4147-A177-3AD203B41FA5}">
                      <a16:colId xmlns:a16="http://schemas.microsoft.com/office/drawing/2014/main" val="20012"/>
                    </a:ext>
                  </a:extLst>
                </a:gridCol>
                <a:gridCol w="559377">
                  <a:extLst>
                    <a:ext uri="{9D8B030D-6E8A-4147-A177-3AD203B41FA5}">
                      <a16:colId xmlns:a16="http://schemas.microsoft.com/office/drawing/2014/main" val="20013"/>
                    </a:ext>
                  </a:extLst>
                </a:gridCol>
              </a:tblGrid>
              <a:tr h="500063">
                <a:tc>
                  <a:txBody>
                    <a:bodyPr/>
                    <a:lstStyle/>
                    <a:p>
                      <a:r>
                        <a:rPr sz="1200" b="1">
                          <a:solidFill>
                            <a:srgbClr val="FFFFFF"/>
                          </a:solidFill>
                          <a:latin typeface="Aptos"/>
                          <a:ea typeface="Aptos"/>
                          <a:cs typeface="Aptos"/>
                        </a:rPr>
                        <a:t>Tâche</a:t>
                      </a:r>
                    </a:p>
                  </a:txBody>
                  <a:tcPr>
                    <a:solidFill>
                      <a:srgbClr val="15304B"/>
                    </a:solidFill>
                  </a:tcPr>
                </a:tc>
                <a:tc>
                  <a:txBody>
                    <a:bodyPr/>
                    <a:lstStyle/>
                    <a:p>
                      <a:r>
                        <a:rPr sz="1200" b="1">
                          <a:solidFill>
                            <a:srgbClr val="FFFFFF"/>
                          </a:solidFill>
                          <a:latin typeface="Aptos"/>
                          <a:ea typeface="Aptos"/>
                          <a:cs typeface="Aptos"/>
                        </a:rPr>
                        <a:t>Jours</a:t>
                      </a:r>
                    </a:p>
                  </a:txBody>
                  <a:tcPr>
                    <a:solidFill>
                      <a:srgbClr val="15304B"/>
                    </a:solidFill>
                  </a:tcPr>
                </a:tc>
                <a:tc>
                  <a:txBody>
                    <a:bodyPr/>
                    <a:lstStyle/>
                    <a:p>
                      <a:r>
                        <a:rPr sz="1200" b="1">
                          <a:solidFill>
                            <a:srgbClr val="FFFFFF"/>
                          </a:solidFill>
                          <a:latin typeface="Aptos"/>
                          <a:ea typeface="Aptos"/>
                          <a:cs typeface="Aptos"/>
                        </a:rPr>
                        <a:t>Après</a:t>
                      </a:r>
                    </a:p>
                  </a:txBody>
                  <a:tcPr>
                    <a:solidFill>
                      <a:srgbClr val="15304B"/>
                    </a:solidFill>
                  </a:tcPr>
                </a:tc>
                <a:tc>
                  <a:txBody>
                    <a:bodyPr/>
                    <a:lstStyle/>
                    <a:p>
                      <a:r>
                        <a:rPr sz="1200" b="1">
                          <a:solidFill>
                            <a:srgbClr val="FFFFFF"/>
                          </a:solidFill>
                          <a:latin typeface="Aptos"/>
                          <a:ea typeface="Aptos"/>
                          <a:cs typeface="Aptos"/>
                        </a:rPr>
                        <a:t>J1</a:t>
                      </a:r>
                    </a:p>
                  </a:txBody>
                  <a:tcPr>
                    <a:solidFill>
                      <a:srgbClr val="15304B"/>
                    </a:solidFill>
                  </a:tcPr>
                </a:tc>
                <a:tc>
                  <a:txBody>
                    <a:bodyPr/>
                    <a:lstStyle/>
                    <a:p>
                      <a:r>
                        <a:rPr sz="1200" b="1">
                          <a:solidFill>
                            <a:srgbClr val="FFFFFF"/>
                          </a:solidFill>
                          <a:latin typeface="Aptos"/>
                          <a:ea typeface="Aptos"/>
                          <a:cs typeface="Aptos"/>
                        </a:rPr>
                        <a:t>J2</a:t>
                      </a:r>
                    </a:p>
                  </a:txBody>
                  <a:tcPr>
                    <a:solidFill>
                      <a:srgbClr val="15304B"/>
                    </a:solidFill>
                  </a:tcPr>
                </a:tc>
                <a:tc>
                  <a:txBody>
                    <a:bodyPr/>
                    <a:lstStyle/>
                    <a:p>
                      <a:r>
                        <a:rPr sz="1200" b="1">
                          <a:solidFill>
                            <a:srgbClr val="FFFFFF"/>
                          </a:solidFill>
                          <a:latin typeface="Aptos"/>
                          <a:ea typeface="Aptos"/>
                          <a:cs typeface="Aptos"/>
                        </a:rPr>
                        <a:t>J3</a:t>
                      </a:r>
                    </a:p>
                  </a:txBody>
                  <a:tcPr>
                    <a:solidFill>
                      <a:srgbClr val="15304B"/>
                    </a:solidFill>
                  </a:tcPr>
                </a:tc>
                <a:tc>
                  <a:txBody>
                    <a:bodyPr/>
                    <a:lstStyle/>
                    <a:p>
                      <a:r>
                        <a:rPr sz="1200" b="1">
                          <a:solidFill>
                            <a:srgbClr val="FFFFFF"/>
                          </a:solidFill>
                          <a:latin typeface="Aptos"/>
                          <a:ea typeface="Aptos"/>
                          <a:cs typeface="Aptos"/>
                        </a:rPr>
                        <a:t>J4</a:t>
                      </a:r>
                    </a:p>
                  </a:txBody>
                  <a:tcPr>
                    <a:solidFill>
                      <a:srgbClr val="15304B"/>
                    </a:solidFill>
                  </a:tcPr>
                </a:tc>
                <a:tc>
                  <a:txBody>
                    <a:bodyPr/>
                    <a:lstStyle/>
                    <a:p>
                      <a:r>
                        <a:rPr sz="1200" b="1">
                          <a:solidFill>
                            <a:srgbClr val="FFFFFF"/>
                          </a:solidFill>
                          <a:latin typeface="Aptos"/>
                          <a:ea typeface="Aptos"/>
                          <a:cs typeface="Aptos"/>
                        </a:rPr>
                        <a:t>J5</a:t>
                      </a:r>
                    </a:p>
                  </a:txBody>
                  <a:tcPr>
                    <a:solidFill>
                      <a:srgbClr val="15304B"/>
                    </a:solidFill>
                  </a:tcPr>
                </a:tc>
                <a:tc>
                  <a:txBody>
                    <a:bodyPr/>
                    <a:lstStyle/>
                    <a:p>
                      <a:r>
                        <a:rPr sz="1200" b="1">
                          <a:solidFill>
                            <a:srgbClr val="FFFFFF"/>
                          </a:solidFill>
                          <a:latin typeface="Aptos"/>
                          <a:ea typeface="Aptos"/>
                          <a:cs typeface="Aptos"/>
                        </a:rPr>
                        <a:t>J6</a:t>
                      </a:r>
                    </a:p>
                  </a:txBody>
                  <a:tcPr>
                    <a:solidFill>
                      <a:srgbClr val="15304B"/>
                    </a:solidFill>
                  </a:tcPr>
                </a:tc>
                <a:tc>
                  <a:txBody>
                    <a:bodyPr/>
                    <a:lstStyle/>
                    <a:p>
                      <a:r>
                        <a:rPr sz="1200" b="1">
                          <a:solidFill>
                            <a:srgbClr val="FFFFFF"/>
                          </a:solidFill>
                          <a:latin typeface="Aptos"/>
                          <a:ea typeface="Aptos"/>
                          <a:cs typeface="Aptos"/>
                        </a:rPr>
                        <a:t>J7</a:t>
                      </a:r>
                    </a:p>
                  </a:txBody>
                  <a:tcPr>
                    <a:solidFill>
                      <a:srgbClr val="15304B"/>
                    </a:solidFill>
                  </a:tcPr>
                </a:tc>
                <a:tc>
                  <a:txBody>
                    <a:bodyPr/>
                    <a:lstStyle/>
                    <a:p>
                      <a:r>
                        <a:rPr sz="1200" b="1">
                          <a:solidFill>
                            <a:srgbClr val="FFFFFF"/>
                          </a:solidFill>
                          <a:latin typeface="Aptos"/>
                          <a:ea typeface="Aptos"/>
                          <a:cs typeface="Aptos"/>
                        </a:rPr>
                        <a:t>J8</a:t>
                      </a:r>
                    </a:p>
                  </a:txBody>
                  <a:tcPr>
                    <a:solidFill>
                      <a:srgbClr val="15304B"/>
                    </a:solidFill>
                  </a:tcPr>
                </a:tc>
                <a:tc>
                  <a:txBody>
                    <a:bodyPr/>
                    <a:lstStyle/>
                    <a:p>
                      <a:r>
                        <a:rPr sz="1200" b="1">
                          <a:solidFill>
                            <a:srgbClr val="FFFFFF"/>
                          </a:solidFill>
                          <a:latin typeface="Aptos"/>
                          <a:ea typeface="Aptos"/>
                          <a:cs typeface="Aptos"/>
                        </a:rPr>
                        <a:t>J9</a:t>
                      </a:r>
                    </a:p>
                  </a:txBody>
                  <a:tcPr>
                    <a:solidFill>
                      <a:srgbClr val="15304B"/>
                    </a:solidFill>
                  </a:tcPr>
                </a:tc>
                <a:tc>
                  <a:txBody>
                    <a:bodyPr/>
                    <a:lstStyle/>
                    <a:p>
                      <a:r>
                        <a:rPr sz="1200" b="1">
                          <a:solidFill>
                            <a:srgbClr val="FFFFFF"/>
                          </a:solidFill>
                          <a:latin typeface="Aptos"/>
                          <a:ea typeface="Aptos"/>
                          <a:cs typeface="Aptos"/>
                        </a:rPr>
                        <a:t>J10</a:t>
                      </a:r>
                    </a:p>
                  </a:txBody>
                  <a:tcPr>
                    <a:solidFill>
                      <a:srgbClr val="15304B"/>
                    </a:solidFill>
                  </a:tcPr>
                </a:tc>
                <a:tc>
                  <a:txBody>
                    <a:bodyPr/>
                    <a:lstStyle/>
                    <a:p>
                      <a:r>
                        <a:rPr sz="1200" b="1">
                          <a:solidFill>
                            <a:srgbClr val="FFFFFF"/>
                          </a:solidFill>
                          <a:latin typeface="Aptos"/>
                          <a:ea typeface="Aptos"/>
                          <a:cs typeface="Aptos"/>
                        </a:rPr>
                        <a:t>J11</a:t>
                      </a:r>
                    </a:p>
                  </a:txBody>
                  <a:tcPr>
                    <a:solidFill>
                      <a:srgbClr val="15304B"/>
                    </a:solidFill>
                  </a:tcPr>
                </a:tc>
                <a:extLst>
                  <a:ext uri="{0D108BD9-81ED-4DB2-BD59-A6C34878D82A}">
                    <a16:rowId xmlns:a16="http://schemas.microsoft.com/office/drawing/2014/main" val="10000"/>
                  </a:ext>
                </a:extLst>
              </a:tr>
              <a:tr h="500063">
                <a:tc>
                  <a:txBody>
                    <a:bodyPr/>
                    <a:lstStyle/>
                    <a:p>
                      <a:r>
                        <a:rPr sz="1275" b="0">
                          <a:solidFill>
                            <a:srgbClr val="173651"/>
                          </a:solidFill>
                          <a:latin typeface="Aptos"/>
                          <a:ea typeface="Aptos"/>
                          <a:cs typeface="Aptos"/>
                        </a:rPr>
                        <a:t>A  Étude du besoin</a:t>
                      </a:r>
                    </a:p>
                  </a:txBody>
                  <a:tcPr>
                    <a:solidFill>
                      <a:srgbClr val="FFFFFF"/>
                    </a:solidFill>
                  </a:tcPr>
                </a:tc>
                <a:tc>
                  <a:txBody>
                    <a:bodyPr/>
                    <a:lstStyle/>
                    <a:p>
                      <a:r>
                        <a:rPr sz="1275" b="0">
                          <a:solidFill>
                            <a:srgbClr val="173651"/>
                          </a:solidFill>
                          <a:latin typeface="Aptos"/>
                          <a:ea typeface="Aptos"/>
                          <a:cs typeface="Aptos"/>
                        </a:rPr>
                        <a:t>1</a:t>
                      </a:r>
                    </a:p>
                  </a:txBody>
                  <a:tcPr>
                    <a:solidFill>
                      <a:srgbClr val="FFFFFF"/>
                    </a:solidFill>
                  </a:tcPr>
                </a:tc>
                <a:tc>
                  <a:txBody>
                    <a:bodyPr/>
                    <a:lstStyle/>
                    <a:p>
                      <a:r>
                        <a:rPr sz="1275" b="0">
                          <a:solidFill>
                            <a:srgbClr val="173651"/>
                          </a:solidFill>
                          <a:latin typeface="Aptos"/>
                          <a:ea typeface="Aptos"/>
                          <a:cs typeface="Aptos"/>
                        </a:rPr>
                        <a:t>—</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1"/>
                  </a:ext>
                </a:extLst>
              </a:tr>
              <a:tr h="500063">
                <a:tc>
                  <a:txBody>
                    <a:bodyPr/>
                    <a:lstStyle/>
                    <a:p>
                      <a:r>
                        <a:rPr sz="1275" b="0">
                          <a:solidFill>
                            <a:srgbClr val="173651"/>
                          </a:solidFill>
                          <a:latin typeface="Aptos"/>
                          <a:ea typeface="Aptos"/>
                          <a:cs typeface="Aptos"/>
                        </a:rPr>
                        <a:t>B  Choix des composants</a:t>
                      </a:r>
                    </a:p>
                  </a:txBody>
                  <a:tcPr>
                    <a:solidFill>
                      <a:srgbClr val="EFF5F8"/>
                    </a:solidFill>
                  </a:tcPr>
                </a:tc>
                <a:tc>
                  <a:txBody>
                    <a:bodyPr/>
                    <a:lstStyle/>
                    <a:p>
                      <a:r>
                        <a:rPr sz="1275" b="0">
                          <a:solidFill>
                            <a:srgbClr val="173651"/>
                          </a:solidFill>
                          <a:latin typeface="Aptos"/>
                          <a:ea typeface="Aptos"/>
                          <a:cs typeface="Aptos"/>
                        </a:rPr>
                        <a:t>2</a:t>
                      </a:r>
                    </a:p>
                  </a:txBody>
                  <a:tcPr>
                    <a:solidFill>
                      <a:srgbClr val="EFF5F8"/>
                    </a:solidFill>
                  </a:tcPr>
                </a:tc>
                <a:tc>
                  <a:txBody>
                    <a:bodyPr/>
                    <a:lstStyle/>
                    <a:p>
                      <a:r>
                        <a:rPr sz="1275" b="0">
                          <a:solidFill>
                            <a:srgbClr val="173651"/>
                          </a:solidFill>
                          <a:latin typeface="Aptos"/>
                          <a:ea typeface="Aptos"/>
                          <a:cs typeface="Aptos"/>
                        </a:rPr>
                        <a:t>A</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2"/>
                  </a:ext>
                </a:extLst>
              </a:tr>
              <a:tr h="500063">
                <a:tc>
                  <a:txBody>
                    <a:bodyPr/>
                    <a:lstStyle/>
                    <a:p>
                      <a:r>
                        <a:rPr sz="1275" b="0">
                          <a:solidFill>
                            <a:srgbClr val="173651"/>
                          </a:solidFill>
                          <a:latin typeface="Aptos"/>
                          <a:ea typeface="Aptos"/>
                          <a:cs typeface="Aptos"/>
                        </a:rPr>
                        <a:t>C  Schéma électrique</a:t>
                      </a:r>
                    </a:p>
                  </a:txBody>
                  <a:tcPr>
                    <a:solidFill>
                      <a:srgbClr val="FFFFFF"/>
                    </a:solidFill>
                  </a:tcPr>
                </a:tc>
                <a:tc>
                  <a:txBody>
                    <a:bodyPr/>
                    <a:lstStyle/>
                    <a:p>
                      <a:r>
                        <a:rPr sz="1275" b="0">
                          <a:solidFill>
                            <a:srgbClr val="173651"/>
                          </a:solidFill>
                          <a:latin typeface="Aptos"/>
                          <a:ea typeface="Aptos"/>
                          <a:cs typeface="Aptos"/>
                        </a:rPr>
                        <a:t>2</a:t>
                      </a:r>
                    </a:p>
                  </a:txBody>
                  <a:tcPr>
                    <a:solidFill>
                      <a:srgbClr val="FFFFFF"/>
                    </a:solidFill>
                  </a:tcPr>
                </a:tc>
                <a:tc>
                  <a:txBody>
                    <a:bodyPr/>
                    <a:lstStyle/>
                    <a:p>
                      <a:r>
                        <a:rPr sz="1275" b="0">
                          <a:solidFill>
                            <a:srgbClr val="173651"/>
                          </a:solidFill>
                          <a:latin typeface="Aptos"/>
                          <a:ea typeface="Aptos"/>
                          <a:cs typeface="Aptos"/>
                        </a:rPr>
                        <a:t>B</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3"/>
                  </a:ext>
                </a:extLst>
              </a:tr>
              <a:tr h="500063">
                <a:tc>
                  <a:txBody>
                    <a:bodyPr/>
                    <a:lstStyle/>
                    <a:p>
                      <a:r>
                        <a:rPr sz="1275" b="0">
                          <a:solidFill>
                            <a:srgbClr val="173651"/>
                          </a:solidFill>
                          <a:latin typeface="Aptos"/>
                          <a:ea typeface="Aptos"/>
                          <a:cs typeface="Aptos"/>
                        </a:rPr>
                        <a:t>D  Modèle du support</a:t>
                      </a:r>
                    </a:p>
                  </a:txBody>
                  <a:tcPr>
                    <a:solidFill>
                      <a:srgbClr val="EFF5F8"/>
                    </a:solidFill>
                  </a:tcPr>
                </a:tc>
                <a:tc>
                  <a:txBody>
                    <a:bodyPr/>
                    <a:lstStyle/>
                    <a:p>
                      <a:r>
                        <a:rPr sz="1275" b="0">
                          <a:solidFill>
                            <a:srgbClr val="173651"/>
                          </a:solidFill>
                          <a:latin typeface="Aptos"/>
                          <a:ea typeface="Aptos"/>
                          <a:cs typeface="Aptos"/>
                        </a:rPr>
                        <a:t>3</a:t>
                      </a:r>
                    </a:p>
                  </a:txBody>
                  <a:tcPr>
                    <a:solidFill>
                      <a:srgbClr val="EFF5F8"/>
                    </a:solidFill>
                  </a:tcPr>
                </a:tc>
                <a:tc>
                  <a:txBody>
                    <a:bodyPr/>
                    <a:lstStyle/>
                    <a:p>
                      <a:r>
                        <a:rPr sz="1275" b="0">
                          <a:solidFill>
                            <a:srgbClr val="173651"/>
                          </a:solidFill>
                          <a:latin typeface="Aptos"/>
                          <a:ea typeface="Aptos"/>
                          <a:cs typeface="Aptos"/>
                        </a:rPr>
                        <a:t>A</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4"/>
                  </a:ext>
                </a:extLst>
              </a:tr>
              <a:tr h="500063">
                <a:tc>
                  <a:txBody>
                    <a:bodyPr/>
                    <a:lstStyle/>
                    <a:p>
                      <a:r>
                        <a:rPr sz="1275" b="0">
                          <a:solidFill>
                            <a:srgbClr val="173651"/>
                          </a:solidFill>
                          <a:latin typeface="Aptos"/>
                          <a:ea typeface="Aptos"/>
                          <a:cs typeface="Aptos"/>
                        </a:rPr>
                        <a:t>E  Assemblage</a:t>
                      </a:r>
                    </a:p>
                  </a:txBody>
                  <a:tcPr>
                    <a:solidFill>
                      <a:srgbClr val="FFFFFF"/>
                    </a:solidFill>
                  </a:tcPr>
                </a:tc>
                <a:tc>
                  <a:txBody>
                    <a:bodyPr/>
                    <a:lstStyle/>
                    <a:p>
                      <a:r>
                        <a:rPr sz="1275" b="0">
                          <a:solidFill>
                            <a:srgbClr val="173651"/>
                          </a:solidFill>
                          <a:latin typeface="Aptos"/>
                          <a:ea typeface="Aptos"/>
                          <a:cs typeface="Aptos"/>
                        </a:rPr>
                        <a:t>2</a:t>
                      </a:r>
                    </a:p>
                  </a:txBody>
                  <a:tcPr>
                    <a:solidFill>
                      <a:srgbClr val="FFFFFF"/>
                    </a:solidFill>
                  </a:tcPr>
                </a:tc>
                <a:tc>
                  <a:txBody>
                    <a:bodyPr/>
                    <a:lstStyle/>
                    <a:p>
                      <a:r>
                        <a:rPr sz="1275" b="0">
                          <a:solidFill>
                            <a:srgbClr val="173651"/>
                          </a:solidFill>
                          <a:latin typeface="Aptos"/>
                          <a:ea typeface="Aptos"/>
                          <a:cs typeface="Aptos"/>
                        </a:rPr>
                        <a:t>C et D</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5"/>
                  </a:ext>
                </a:extLst>
              </a:tr>
              <a:tr h="500063">
                <a:tc>
                  <a:txBody>
                    <a:bodyPr/>
                    <a:lstStyle/>
                    <a:p>
                      <a:r>
                        <a:rPr sz="1275" b="0">
                          <a:solidFill>
                            <a:srgbClr val="173651"/>
                          </a:solidFill>
                          <a:latin typeface="Aptos"/>
                          <a:ea typeface="Aptos"/>
                          <a:cs typeface="Aptos"/>
                        </a:rPr>
                        <a:t>F  Tests et validation</a:t>
                      </a:r>
                    </a:p>
                  </a:txBody>
                  <a:tcPr>
                    <a:solidFill>
                      <a:srgbClr val="EFF5F8"/>
                    </a:solidFill>
                  </a:tcPr>
                </a:tc>
                <a:tc>
                  <a:txBody>
                    <a:bodyPr/>
                    <a:lstStyle/>
                    <a:p>
                      <a:r>
                        <a:rPr sz="1275" b="0">
                          <a:solidFill>
                            <a:srgbClr val="173651"/>
                          </a:solidFill>
                          <a:latin typeface="Aptos"/>
                          <a:ea typeface="Aptos"/>
                          <a:cs typeface="Aptos"/>
                        </a:rPr>
                        <a:t>2</a:t>
                      </a:r>
                    </a:p>
                  </a:txBody>
                  <a:tcPr>
                    <a:solidFill>
                      <a:srgbClr val="EFF5F8"/>
                    </a:solidFill>
                  </a:tcPr>
                </a:tc>
                <a:tc>
                  <a:txBody>
                    <a:bodyPr/>
                    <a:lstStyle/>
                    <a:p>
                      <a:r>
                        <a:rPr sz="1275" b="0">
                          <a:solidFill>
                            <a:srgbClr val="173651"/>
                          </a:solidFill>
                          <a:latin typeface="Aptos"/>
                          <a:ea typeface="Aptos"/>
                          <a:cs typeface="Aptos"/>
                        </a:rPr>
                        <a:t>E</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6"/>
                  </a:ext>
                </a:extLst>
              </a:tr>
              <a:tr h="500063">
                <a:tc>
                  <a:txBody>
                    <a:bodyPr/>
                    <a:lstStyle/>
                    <a:p>
                      <a:r>
                        <a:rPr sz="1275" b="0">
                          <a:solidFill>
                            <a:srgbClr val="173651"/>
                          </a:solidFill>
                          <a:latin typeface="Aptos"/>
                          <a:ea typeface="Aptos"/>
                          <a:cs typeface="Aptos"/>
                        </a:rPr>
                        <a:t>G  Présentation</a:t>
                      </a:r>
                    </a:p>
                  </a:txBody>
                  <a:tcPr>
                    <a:solidFill>
                      <a:srgbClr val="FFFFFF"/>
                    </a:solidFill>
                  </a:tcPr>
                </a:tc>
                <a:tc>
                  <a:txBody>
                    <a:bodyPr/>
                    <a:lstStyle/>
                    <a:p>
                      <a:r>
                        <a:rPr sz="1275" b="0">
                          <a:solidFill>
                            <a:srgbClr val="173651"/>
                          </a:solidFill>
                          <a:latin typeface="Aptos"/>
                          <a:ea typeface="Aptos"/>
                          <a:cs typeface="Aptos"/>
                        </a:rPr>
                        <a:t>1</a:t>
                      </a:r>
                    </a:p>
                  </a:txBody>
                  <a:tcPr>
                    <a:solidFill>
                      <a:srgbClr val="FFFFFF"/>
                    </a:solidFill>
                  </a:tcPr>
                </a:tc>
                <a:tc>
                  <a:txBody>
                    <a:bodyPr/>
                    <a:lstStyle/>
                    <a:p>
                      <a:r>
                        <a:rPr sz="1275" b="0">
                          <a:solidFill>
                            <a:srgbClr val="173651"/>
                          </a:solidFill>
                          <a:latin typeface="Aptos"/>
                          <a:ea typeface="Aptos"/>
                          <a:cs typeface="Aptos"/>
                        </a:rPr>
                        <a:t>F</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3A7B4D63-CDD5-4F77-8B41-CDE941E8A4C8}"/>
              </a:ext>
            </a:extLst>
          </p:cNvPr>
          <p:cNvSpPr>
            <a:spLocks noGrp="1"/>
          </p:cNvSpPr>
          <p:nvPr/>
        </p:nvSpPr>
        <p:spPr>
          <a:xfrm>
            <a:off x="762000" y="6238875"/>
            <a:ext cx="10287000" cy="304800"/>
          </a:xfrm>
          <a:prstGeom prst="rect">
            <a:avLst/>
          </a:prstGeom>
          <a:noFill/>
          <a:ln w="0">
            <a:noFill/>
          </a:ln>
        </p:spPr>
        <p:txBody>
          <a:bodyPr anchor="t">
            <a:noAutofit/>
          </a:bodyPr>
          <a:lstStyle/>
          <a:p>
            <a:pPr>
              <a:defRPr sz="1425" b="0">
                <a:solidFill>
                  <a:srgbClr val="496577"/>
                </a:solidFill>
                <a:latin typeface="Aptos"/>
                <a:ea typeface="Aptos"/>
                <a:cs typeface="Aptos"/>
              </a:defRPr>
            </a:pPr>
            <a:r>
              <a:rPr sz="1425" b="0">
                <a:solidFill>
                  <a:srgbClr val="496577"/>
                </a:solidFill>
                <a:latin typeface="Aptos"/>
                <a:ea typeface="Aptos"/>
                <a:cs typeface="Aptos"/>
              </a:rPr>
              <a:t>Lecture : E attend C et D avant l’assemblage.</a:t>
            </a:r>
          </a:p>
        </p:txBody>
      </p:sp>
      <p:sp>
        <p:nvSpPr>
          <p:cNvPr id="6" name="Rectangle 5">
            <a:extLst>
              <a:ext uri="{FF2B5EF4-FFF2-40B4-BE49-F238E27FC236}">
                <a16:creationId xmlns:a16="http://schemas.microsoft.com/office/drawing/2014/main" id="{7DBA2AEF-7FCD-4250-835D-0742CB27F4D0}"/>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28</a:t>
            </a:r>
          </a:p>
        </p:txBody>
      </p:sp>
    </p:spTree>
    <p:extLst>
      <p:ext uri="{BB962C8B-B14F-4D97-AF65-F5344CB8AC3E}">
        <p14:creationId xmlns:p14="http://schemas.microsoft.com/office/powerpoint/2010/main" val="10587676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Image 6"/>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3E8E8DF4-403C-4988-A712-876A3BBBEA2F}"/>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Borne solaire : mise en commun</a:t>
            </a:r>
          </a:p>
        </p:txBody>
      </p:sp>
      <p:graphicFrame>
        <p:nvGraphicFramePr>
          <p:cNvPr id="10" name="Tableau 9"/>
          <p:cNvGraphicFramePr/>
          <p:nvPr/>
        </p:nvGraphicFramePr>
        <p:xfrm>
          <a:off x="742950" y="2114550"/>
          <a:ext cx="10706097" cy="4000504"/>
        </p:xfrm>
        <a:graphic>
          <a:graphicData uri="http://schemas.openxmlformats.org/drawingml/2006/table">
            <a:tbl>
              <a:tblPr/>
              <a:tblGrid>
                <a:gridCol w="295275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559377">
                  <a:extLst>
                    <a:ext uri="{9D8B030D-6E8A-4147-A177-3AD203B41FA5}">
                      <a16:colId xmlns:a16="http://schemas.microsoft.com/office/drawing/2014/main" val="20003"/>
                    </a:ext>
                  </a:extLst>
                </a:gridCol>
                <a:gridCol w="559377">
                  <a:extLst>
                    <a:ext uri="{9D8B030D-6E8A-4147-A177-3AD203B41FA5}">
                      <a16:colId xmlns:a16="http://schemas.microsoft.com/office/drawing/2014/main" val="20004"/>
                    </a:ext>
                  </a:extLst>
                </a:gridCol>
                <a:gridCol w="559377">
                  <a:extLst>
                    <a:ext uri="{9D8B030D-6E8A-4147-A177-3AD203B41FA5}">
                      <a16:colId xmlns:a16="http://schemas.microsoft.com/office/drawing/2014/main" val="20005"/>
                    </a:ext>
                  </a:extLst>
                </a:gridCol>
                <a:gridCol w="559377">
                  <a:extLst>
                    <a:ext uri="{9D8B030D-6E8A-4147-A177-3AD203B41FA5}">
                      <a16:colId xmlns:a16="http://schemas.microsoft.com/office/drawing/2014/main" val="20006"/>
                    </a:ext>
                  </a:extLst>
                </a:gridCol>
                <a:gridCol w="559377">
                  <a:extLst>
                    <a:ext uri="{9D8B030D-6E8A-4147-A177-3AD203B41FA5}">
                      <a16:colId xmlns:a16="http://schemas.microsoft.com/office/drawing/2014/main" val="20007"/>
                    </a:ext>
                  </a:extLst>
                </a:gridCol>
                <a:gridCol w="559377">
                  <a:extLst>
                    <a:ext uri="{9D8B030D-6E8A-4147-A177-3AD203B41FA5}">
                      <a16:colId xmlns:a16="http://schemas.microsoft.com/office/drawing/2014/main" val="20008"/>
                    </a:ext>
                  </a:extLst>
                </a:gridCol>
                <a:gridCol w="559377">
                  <a:extLst>
                    <a:ext uri="{9D8B030D-6E8A-4147-A177-3AD203B41FA5}">
                      <a16:colId xmlns:a16="http://schemas.microsoft.com/office/drawing/2014/main" val="20009"/>
                    </a:ext>
                  </a:extLst>
                </a:gridCol>
                <a:gridCol w="559377">
                  <a:extLst>
                    <a:ext uri="{9D8B030D-6E8A-4147-A177-3AD203B41FA5}">
                      <a16:colId xmlns:a16="http://schemas.microsoft.com/office/drawing/2014/main" val="20010"/>
                    </a:ext>
                  </a:extLst>
                </a:gridCol>
                <a:gridCol w="559377">
                  <a:extLst>
                    <a:ext uri="{9D8B030D-6E8A-4147-A177-3AD203B41FA5}">
                      <a16:colId xmlns:a16="http://schemas.microsoft.com/office/drawing/2014/main" val="20011"/>
                    </a:ext>
                  </a:extLst>
                </a:gridCol>
                <a:gridCol w="559377">
                  <a:extLst>
                    <a:ext uri="{9D8B030D-6E8A-4147-A177-3AD203B41FA5}">
                      <a16:colId xmlns:a16="http://schemas.microsoft.com/office/drawing/2014/main" val="20012"/>
                    </a:ext>
                  </a:extLst>
                </a:gridCol>
                <a:gridCol w="559377">
                  <a:extLst>
                    <a:ext uri="{9D8B030D-6E8A-4147-A177-3AD203B41FA5}">
                      <a16:colId xmlns:a16="http://schemas.microsoft.com/office/drawing/2014/main" val="20013"/>
                    </a:ext>
                  </a:extLst>
                </a:gridCol>
              </a:tblGrid>
              <a:tr h="500063">
                <a:tc>
                  <a:txBody>
                    <a:bodyPr/>
                    <a:lstStyle/>
                    <a:p>
                      <a:r>
                        <a:rPr sz="1200" b="1">
                          <a:solidFill>
                            <a:srgbClr val="FFFFFF"/>
                          </a:solidFill>
                          <a:latin typeface="Aptos"/>
                          <a:ea typeface="Aptos"/>
                          <a:cs typeface="Aptos"/>
                        </a:rPr>
                        <a:t>Tâche</a:t>
                      </a:r>
                    </a:p>
                  </a:txBody>
                  <a:tcPr>
                    <a:solidFill>
                      <a:srgbClr val="15304B"/>
                    </a:solidFill>
                  </a:tcPr>
                </a:tc>
                <a:tc>
                  <a:txBody>
                    <a:bodyPr/>
                    <a:lstStyle/>
                    <a:p>
                      <a:r>
                        <a:rPr sz="1200" b="1">
                          <a:solidFill>
                            <a:srgbClr val="FFFFFF"/>
                          </a:solidFill>
                          <a:latin typeface="Aptos"/>
                          <a:ea typeface="Aptos"/>
                          <a:cs typeface="Aptos"/>
                        </a:rPr>
                        <a:t>Jours</a:t>
                      </a:r>
                    </a:p>
                  </a:txBody>
                  <a:tcPr>
                    <a:solidFill>
                      <a:srgbClr val="15304B"/>
                    </a:solidFill>
                  </a:tcPr>
                </a:tc>
                <a:tc>
                  <a:txBody>
                    <a:bodyPr/>
                    <a:lstStyle/>
                    <a:p>
                      <a:r>
                        <a:rPr sz="1200" b="1">
                          <a:solidFill>
                            <a:srgbClr val="FFFFFF"/>
                          </a:solidFill>
                          <a:latin typeface="Aptos"/>
                          <a:ea typeface="Aptos"/>
                          <a:cs typeface="Aptos"/>
                        </a:rPr>
                        <a:t>Après</a:t>
                      </a:r>
                    </a:p>
                  </a:txBody>
                  <a:tcPr>
                    <a:solidFill>
                      <a:srgbClr val="15304B"/>
                    </a:solidFill>
                  </a:tcPr>
                </a:tc>
                <a:tc>
                  <a:txBody>
                    <a:bodyPr/>
                    <a:lstStyle/>
                    <a:p>
                      <a:r>
                        <a:rPr sz="1200" b="1">
                          <a:solidFill>
                            <a:srgbClr val="FFFFFF"/>
                          </a:solidFill>
                          <a:latin typeface="Aptos"/>
                          <a:ea typeface="Aptos"/>
                          <a:cs typeface="Aptos"/>
                        </a:rPr>
                        <a:t>J1</a:t>
                      </a:r>
                    </a:p>
                  </a:txBody>
                  <a:tcPr>
                    <a:solidFill>
                      <a:srgbClr val="15304B"/>
                    </a:solidFill>
                  </a:tcPr>
                </a:tc>
                <a:tc>
                  <a:txBody>
                    <a:bodyPr/>
                    <a:lstStyle/>
                    <a:p>
                      <a:r>
                        <a:rPr sz="1200" b="1">
                          <a:solidFill>
                            <a:srgbClr val="FFFFFF"/>
                          </a:solidFill>
                          <a:latin typeface="Aptos"/>
                          <a:ea typeface="Aptos"/>
                          <a:cs typeface="Aptos"/>
                        </a:rPr>
                        <a:t>J2</a:t>
                      </a:r>
                    </a:p>
                  </a:txBody>
                  <a:tcPr>
                    <a:solidFill>
                      <a:srgbClr val="15304B"/>
                    </a:solidFill>
                  </a:tcPr>
                </a:tc>
                <a:tc>
                  <a:txBody>
                    <a:bodyPr/>
                    <a:lstStyle/>
                    <a:p>
                      <a:r>
                        <a:rPr sz="1200" b="1">
                          <a:solidFill>
                            <a:srgbClr val="FFFFFF"/>
                          </a:solidFill>
                          <a:latin typeface="Aptos"/>
                          <a:ea typeface="Aptos"/>
                          <a:cs typeface="Aptos"/>
                        </a:rPr>
                        <a:t>J3</a:t>
                      </a:r>
                    </a:p>
                  </a:txBody>
                  <a:tcPr>
                    <a:solidFill>
                      <a:srgbClr val="15304B"/>
                    </a:solidFill>
                  </a:tcPr>
                </a:tc>
                <a:tc>
                  <a:txBody>
                    <a:bodyPr/>
                    <a:lstStyle/>
                    <a:p>
                      <a:r>
                        <a:rPr sz="1200" b="1">
                          <a:solidFill>
                            <a:srgbClr val="FFFFFF"/>
                          </a:solidFill>
                          <a:latin typeface="Aptos"/>
                          <a:ea typeface="Aptos"/>
                          <a:cs typeface="Aptos"/>
                        </a:rPr>
                        <a:t>J4</a:t>
                      </a:r>
                    </a:p>
                  </a:txBody>
                  <a:tcPr>
                    <a:solidFill>
                      <a:srgbClr val="15304B"/>
                    </a:solidFill>
                  </a:tcPr>
                </a:tc>
                <a:tc>
                  <a:txBody>
                    <a:bodyPr/>
                    <a:lstStyle/>
                    <a:p>
                      <a:r>
                        <a:rPr sz="1200" b="1">
                          <a:solidFill>
                            <a:srgbClr val="FFFFFF"/>
                          </a:solidFill>
                          <a:latin typeface="Aptos"/>
                          <a:ea typeface="Aptos"/>
                          <a:cs typeface="Aptos"/>
                        </a:rPr>
                        <a:t>J5</a:t>
                      </a:r>
                    </a:p>
                  </a:txBody>
                  <a:tcPr>
                    <a:solidFill>
                      <a:srgbClr val="15304B"/>
                    </a:solidFill>
                  </a:tcPr>
                </a:tc>
                <a:tc>
                  <a:txBody>
                    <a:bodyPr/>
                    <a:lstStyle/>
                    <a:p>
                      <a:r>
                        <a:rPr sz="1200" b="1">
                          <a:solidFill>
                            <a:srgbClr val="FFFFFF"/>
                          </a:solidFill>
                          <a:latin typeface="Aptos"/>
                          <a:ea typeface="Aptos"/>
                          <a:cs typeface="Aptos"/>
                        </a:rPr>
                        <a:t>J6</a:t>
                      </a:r>
                    </a:p>
                  </a:txBody>
                  <a:tcPr>
                    <a:solidFill>
                      <a:srgbClr val="15304B"/>
                    </a:solidFill>
                  </a:tcPr>
                </a:tc>
                <a:tc>
                  <a:txBody>
                    <a:bodyPr/>
                    <a:lstStyle/>
                    <a:p>
                      <a:r>
                        <a:rPr sz="1200" b="1">
                          <a:solidFill>
                            <a:srgbClr val="FFFFFF"/>
                          </a:solidFill>
                          <a:latin typeface="Aptos"/>
                          <a:ea typeface="Aptos"/>
                          <a:cs typeface="Aptos"/>
                        </a:rPr>
                        <a:t>J7</a:t>
                      </a:r>
                    </a:p>
                  </a:txBody>
                  <a:tcPr>
                    <a:solidFill>
                      <a:srgbClr val="15304B"/>
                    </a:solidFill>
                  </a:tcPr>
                </a:tc>
                <a:tc>
                  <a:txBody>
                    <a:bodyPr/>
                    <a:lstStyle/>
                    <a:p>
                      <a:r>
                        <a:rPr sz="1200" b="1">
                          <a:solidFill>
                            <a:srgbClr val="FFFFFF"/>
                          </a:solidFill>
                          <a:latin typeface="Aptos"/>
                          <a:ea typeface="Aptos"/>
                          <a:cs typeface="Aptos"/>
                        </a:rPr>
                        <a:t>J8</a:t>
                      </a:r>
                    </a:p>
                  </a:txBody>
                  <a:tcPr>
                    <a:solidFill>
                      <a:srgbClr val="15304B"/>
                    </a:solidFill>
                  </a:tcPr>
                </a:tc>
                <a:tc>
                  <a:txBody>
                    <a:bodyPr/>
                    <a:lstStyle/>
                    <a:p>
                      <a:r>
                        <a:rPr sz="1200" b="1">
                          <a:solidFill>
                            <a:srgbClr val="FFFFFF"/>
                          </a:solidFill>
                          <a:latin typeface="Aptos"/>
                          <a:ea typeface="Aptos"/>
                          <a:cs typeface="Aptos"/>
                        </a:rPr>
                        <a:t>J9</a:t>
                      </a:r>
                    </a:p>
                  </a:txBody>
                  <a:tcPr>
                    <a:solidFill>
                      <a:srgbClr val="15304B"/>
                    </a:solidFill>
                  </a:tcPr>
                </a:tc>
                <a:tc>
                  <a:txBody>
                    <a:bodyPr/>
                    <a:lstStyle/>
                    <a:p>
                      <a:r>
                        <a:rPr sz="1200" b="1">
                          <a:solidFill>
                            <a:srgbClr val="FFFFFF"/>
                          </a:solidFill>
                          <a:latin typeface="Aptos"/>
                          <a:ea typeface="Aptos"/>
                          <a:cs typeface="Aptos"/>
                        </a:rPr>
                        <a:t>J10</a:t>
                      </a:r>
                    </a:p>
                  </a:txBody>
                  <a:tcPr>
                    <a:solidFill>
                      <a:srgbClr val="15304B"/>
                    </a:solidFill>
                  </a:tcPr>
                </a:tc>
                <a:tc>
                  <a:txBody>
                    <a:bodyPr/>
                    <a:lstStyle/>
                    <a:p>
                      <a:r>
                        <a:rPr sz="1200" b="1">
                          <a:solidFill>
                            <a:srgbClr val="FFFFFF"/>
                          </a:solidFill>
                          <a:latin typeface="Aptos"/>
                          <a:ea typeface="Aptos"/>
                          <a:cs typeface="Aptos"/>
                        </a:rPr>
                        <a:t>J11</a:t>
                      </a:r>
                    </a:p>
                  </a:txBody>
                  <a:tcPr>
                    <a:solidFill>
                      <a:srgbClr val="15304B"/>
                    </a:solidFill>
                  </a:tcPr>
                </a:tc>
                <a:extLst>
                  <a:ext uri="{0D108BD9-81ED-4DB2-BD59-A6C34878D82A}">
                    <a16:rowId xmlns:a16="http://schemas.microsoft.com/office/drawing/2014/main" val="10000"/>
                  </a:ext>
                </a:extLst>
              </a:tr>
              <a:tr h="500063">
                <a:tc>
                  <a:txBody>
                    <a:bodyPr/>
                    <a:lstStyle/>
                    <a:p>
                      <a:r>
                        <a:rPr sz="1275" b="0">
                          <a:solidFill>
                            <a:srgbClr val="173651"/>
                          </a:solidFill>
                          <a:latin typeface="Aptos"/>
                          <a:ea typeface="Aptos"/>
                          <a:cs typeface="Aptos"/>
                        </a:rPr>
                        <a:t>A  Étude du besoin</a:t>
                      </a:r>
                    </a:p>
                  </a:txBody>
                  <a:tcPr>
                    <a:solidFill>
                      <a:srgbClr val="FFFFFF"/>
                    </a:solidFill>
                  </a:tcPr>
                </a:tc>
                <a:tc>
                  <a:txBody>
                    <a:bodyPr/>
                    <a:lstStyle/>
                    <a:p>
                      <a:r>
                        <a:rPr sz="1275" b="0">
                          <a:solidFill>
                            <a:srgbClr val="173651"/>
                          </a:solidFill>
                          <a:latin typeface="Aptos"/>
                          <a:ea typeface="Aptos"/>
                          <a:cs typeface="Aptos"/>
                        </a:rPr>
                        <a:t>1</a:t>
                      </a:r>
                    </a:p>
                  </a:txBody>
                  <a:tcPr>
                    <a:solidFill>
                      <a:srgbClr val="FFFFFF"/>
                    </a:solidFill>
                  </a:tcPr>
                </a:tc>
                <a:tc>
                  <a:txBody>
                    <a:bodyPr/>
                    <a:lstStyle/>
                    <a:p>
                      <a:r>
                        <a:rPr sz="1275" b="0">
                          <a:solidFill>
                            <a:srgbClr val="173651"/>
                          </a:solidFill>
                          <a:latin typeface="Aptos"/>
                          <a:ea typeface="Aptos"/>
                          <a:cs typeface="Aptos"/>
                        </a:rPr>
                        <a:t>—</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1"/>
                  </a:ext>
                </a:extLst>
              </a:tr>
              <a:tr h="500063">
                <a:tc>
                  <a:txBody>
                    <a:bodyPr/>
                    <a:lstStyle/>
                    <a:p>
                      <a:r>
                        <a:rPr sz="1275" b="0">
                          <a:solidFill>
                            <a:srgbClr val="173651"/>
                          </a:solidFill>
                          <a:latin typeface="Aptos"/>
                          <a:ea typeface="Aptos"/>
                          <a:cs typeface="Aptos"/>
                        </a:rPr>
                        <a:t>B  Choix des composants</a:t>
                      </a:r>
                    </a:p>
                  </a:txBody>
                  <a:tcPr>
                    <a:solidFill>
                      <a:srgbClr val="EFF5F8"/>
                    </a:solidFill>
                  </a:tcPr>
                </a:tc>
                <a:tc>
                  <a:txBody>
                    <a:bodyPr/>
                    <a:lstStyle/>
                    <a:p>
                      <a:r>
                        <a:rPr sz="1275" b="0">
                          <a:solidFill>
                            <a:srgbClr val="173651"/>
                          </a:solidFill>
                          <a:latin typeface="Aptos"/>
                          <a:ea typeface="Aptos"/>
                          <a:cs typeface="Aptos"/>
                        </a:rPr>
                        <a:t>2</a:t>
                      </a:r>
                    </a:p>
                  </a:txBody>
                  <a:tcPr>
                    <a:solidFill>
                      <a:srgbClr val="EFF5F8"/>
                    </a:solidFill>
                  </a:tcPr>
                </a:tc>
                <a:tc>
                  <a:txBody>
                    <a:bodyPr/>
                    <a:lstStyle/>
                    <a:p>
                      <a:r>
                        <a:rPr sz="1275" b="0">
                          <a:solidFill>
                            <a:srgbClr val="173651"/>
                          </a:solidFill>
                          <a:latin typeface="Aptos"/>
                          <a:ea typeface="Aptos"/>
                          <a:cs typeface="Aptos"/>
                        </a:rPr>
                        <a:t>A</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2"/>
                  </a:ext>
                </a:extLst>
              </a:tr>
              <a:tr h="500063">
                <a:tc>
                  <a:txBody>
                    <a:bodyPr/>
                    <a:lstStyle/>
                    <a:p>
                      <a:r>
                        <a:rPr sz="1275" b="0">
                          <a:solidFill>
                            <a:srgbClr val="173651"/>
                          </a:solidFill>
                          <a:latin typeface="Aptos"/>
                          <a:ea typeface="Aptos"/>
                          <a:cs typeface="Aptos"/>
                        </a:rPr>
                        <a:t>C  Schéma électrique</a:t>
                      </a:r>
                    </a:p>
                  </a:txBody>
                  <a:tcPr>
                    <a:solidFill>
                      <a:srgbClr val="FFFFFF"/>
                    </a:solidFill>
                  </a:tcPr>
                </a:tc>
                <a:tc>
                  <a:txBody>
                    <a:bodyPr/>
                    <a:lstStyle/>
                    <a:p>
                      <a:r>
                        <a:rPr sz="1275" b="0">
                          <a:solidFill>
                            <a:srgbClr val="173651"/>
                          </a:solidFill>
                          <a:latin typeface="Aptos"/>
                          <a:ea typeface="Aptos"/>
                          <a:cs typeface="Aptos"/>
                        </a:rPr>
                        <a:t>2</a:t>
                      </a:r>
                    </a:p>
                  </a:txBody>
                  <a:tcPr>
                    <a:solidFill>
                      <a:srgbClr val="FFFFFF"/>
                    </a:solidFill>
                  </a:tcPr>
                </a:tc>
                <a:tc>
                  <a:txBody>
                    <a:bodyPr/>
                    <a:lstStyle/>
                    <a:p>
                      <a:r>
                        <a:rPr sz="1275" b="0">
                          <a:solidFill>
                            <a:srgbClr val="173651"/>
                          </a:solidFill>
                          <a:latin typeface="Aptos"/>
                          <a:ea typeface="Aptos"/>
                          <a:cs typeface="Aptos"/>
                        </a:rPr>
                        <a:t>B</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3"/>
                  </a:ext>
                </a:extLst>
              </a:tr>
              <a:tr h="500063">
                <a:tc>
                  <a:txBody>
                    <a:bodyPr/>
                    <a:lstStyle/>
                    <a:p>
                      <a:r>
                        <a:rPr sz="1275" b="0">
                          <a:solidFill>
                            <a:srgbClr val="173651"/>
                          </a:solidFill>
                          <a:latin typeface="Aptos"/>
                          <a:ea typeface="Aptos"/>
                          <a:cs typeface="Aptos"/>
                        </a:rPr>
                        <a:t>D  Modèle du support</a:t>
                      </a:r>
                    </a:p>
                  </a:txBody>
                  <a:tcPr>
                    <a:solidFill>
                      <a:srgbClr val="EFF5F8"/>
                    </a:solidFill>
                  </a:tcPr>
                </a:tc>
                <a:tc>
                  <a:txBody>
                    <a:bodyPr/>
                    <a:lstStyle/>
                    <a:p>
                      <a:r>
                        <a:rPr sz="1275" b="0">
                          <a:solidFill>
                            <a:srgbClr val="173651"/>
                          </a:solidFill>
                          <a:latin typeface="Aptos"/>
                          <a:ea typeface="Aptos"/>
                          <a:cs typeface="Aptos"/>
                        </a:rPr>
                        <a:t>3</a:t>
                      </a:r>
                    </a:p>
                  </a:txBody>
                  <a:tcPr>
                    <a:solidFill>
                      <a:srgbClr val="EFF5F8"/>
                    </a:solidFill>
                  </a:tcPr>
                </a:tc>
                <a:tc>
                  <a:txBody>
                    <a:bodyPr/>
                    <a:lstStyle/>
                    <a:p>
                      <a:r>
                        <a:rPr sz="1275" b="0">
                          <a:solidFill>
                            <a:srgbClr val="173651"/>
                          </a:solidFill>
                          <a:latin typeface="Aptos"/>
                          <a:ea typeface="Aptos"/>
                          <a:cs typeface="Aptos"/>
                        </a:rPr>
                        <a:t>A</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4"/>
                  </a:ext>
                </a:extLst>
              </a:tr>
              <a:tr h="500063">
                <a:tc>
                  <a:txBody>
                    <a:bodyPr/>
                    <a:lstStyle/>
                    <a:p>
                      <a:r>
                        <a:rPr sz="1275" b="0">
                          <a:solidFill>
                            <a:srgbClr val="173651"/>
                          </a:solidFill>
                          <a:latin typeface="Aptos"/>
                          <a:ea typeface="Aptos"/>
                          <a:cs typeface="Aptos"/>
                        </a:rPr>
                        <a:t>E  Assemblage</a:t>
                      </a:r>
                    </a:p>
                  </a:txBody>
                  <a:tcPr>
                    <a:solidFill>
                      <a:srgbClr val="FFFFFF"/>
                    </a:solidFill>
                  </a:tcPr>
                </a:tc>
                <a:tc>
                  <a:txBody>
                    <a:bodyPr/>
                    <a:lstStyle/>
                    <a:p>
                      <a:r>
                        <a:rPr sz="1275" b="0">
                          <a:solidFill>
                            <a:srgbClr val="173651"/>
                          </a:solidFill>
                          <a:latin typeface="Aptos"/>
                          <a:ea typeface="Aptos"/>
                          <a:cs typeface="Aptos"/>
                        </a:rPr>
                        <a:t>2</a:t>
                      </a:r>
                    </a:p>
                  </a:txBody>
                  <a:tcPr>
                    <a:solidFill>
                      <a:srgbClr val="FFFFFF"/>
                    </a:solidFill>
                  </a:tcPr>
                </a:tc>
                <a:tc>
                  <a:txBody>
                    <a:bodyPr/>
                    <a:lstStyle/>
                    <a:p>
                      <a:r>
                        <a:rPr sz="1275" b="0">
                          <a:solidFill>
                            <a:srgbClr val="173651"/>
                          </a:solidFill>
                          <a:latin typeface="Aptos"/>
                          <a:ea typeface="Aptos"/>
                          <a:cs typeface="Aptos"/>
                        </a:rPr>
                        <a:t>C et D</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5"/>
                  </a:ext>
                </a:extLst>
              </a:tr>
              <a:tr h="500063">
                <a:tc>
                  <a:txBody>
                    <a:bodyPr/>
                    <a:lstStyle/>
                    <a:p>
                      <a:r>
                        <a:rPr sz="1275" b="0">
                          <a:solidFill>
                            <a:srgbClr val="173651"/>
                          </a:solidFill>
                          <a:latin typeface="Aptos"/>
                          <a:ea typeface="Aptos"/>
                          <a:cs typeface="Aptos"/>
                        </a:rPr>
                        <a:t>F  Tests et validation</a:t>
                      </a:r>
                    </a:p>
                  </a:txBody>
                  <a:tcPr>
                    <a:solidFill>
                      <a:srgbClr val="EFF5F8"/>
                    </a:solidFill>
                  </a:tcPr>
                </a:tc>
                <a:tc>
                  <a:txBody>
                    <a:bodyPr/>
                    <a:lstStyle/>
                    <a:p>
                      <a:r>
                        <a:rPr sz="1275" b="0">
                          <a:solidFill>
                            <a:srgbClr val="173651"/>
                          </a:solidFill>
                          <a:latin typeface="Aptos"/>
                          <a:ea typeface="Aptos"/>
                          <a:cs typeface="Aptos"/>
                        </a:rPr>
                        <a:t>2</a:t>
                      </a:r>
                    </a:p>
                  </a:txBody>
                  <a:tcPr>
                    <a:solidFill>
                      <a:srgbClr val="EFF5F8"/>
                    </a:solidFill>
                  </a:tcPr>
                </a:tc>
                <a:tc>
                  <a:txBody>
                    <a:bodyPr/>
                    <a:lstStyle/>
                    <a:p>
                      <a:r>
                        <a:rPr sz="1275" b="0">
                          <a:solidFill>
                            <a:srgbClr val="173651"/>
                          </a:solidFill>
                          <a:latin typeface="Aptos"/>
                          <a:ea typeface="Aptos"/>
                          <a:cs typeface="Aptos"/>
                        </a:rPr>
                        <a:t>E</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6"/>
                  </a:ext>
                </a:extLst>
              </a:tr>
              <a:tr h="500063">
                <a:tc>
                  <a:txBody>
                    <a:bodyPr/>
                    <a:lstStyle/>
                    <a:p>
                      <a:r>
                        <a:rPr sz="1275" b="0">
                          <a:solidFill>
                            <a:srgbClr val="173651"/>
                          </a:solidFill>
                          <a:latin typeface="Aptos"/>
                          <a:ea typeface="Aptos"/>
                          <a:cs typeface="Aptos"/>
                        </a:rPr>
                        <a:t>G  Présentation</a:t>
                      </a:r>
                    </a:p>
                  </a:txBody>
                  <a:tcPr>
                    <a:solidFill>
                      <a:srgbClr val="FFFFFF"/>
                    </a:solidFill>
                  </a:tcPr>
                </a:tc>
                <a:tc>
                  <a:txBody>
                    <a:bodyPr/>
                    <a:lstStyle/>
                    <a:p>
                      <a:r>
                        <a:rPr sz="1275" b="0">
                          <a:solidFill>
                            <a:srgbClr val="173651"/>
                          </a:solidFill>
                          <a:latin typeface="Aptos"/>
                          <a:ea typeface="Aptos"/>
                          <a:cs typeface="Aptos"/>
                        </a:rPr>
                        <a:t>1</a:t>
                      </a:r>
                    </a:p>
                  </a:txBody>
                  <a:tcPr>
                    <a:solidFill>
                      <a:srgbClr val="FFFFFF"/>
                    </a:solidFill>
                  </a:tcPr>
                </a:tc>
                <a:tc>
                  <a:txBody>
                    <a:bodyPr/>
                    <a:lstStyle/>
                    <a:p>
                      <a:r>
                        <a:rPr sz="1275" b="0">
                          <a:solidFill>
                            <a:srgbClr val="173651"/>
                          </a:solidFill>
                          <a:latin typeface="Aptos"/>
                          <a:ea typeface="Aptos"/>
                          <a:cs typeface="Aptos"/>
                        </a:rPr>
                        <a:t>F</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35D9AC71-840E-40AC-B8D6-73C49676DF15}"/>
              </a:ext>
            </a:extLst>
          </p:cNvPr>
          <p:cNvSpPr>
            <a:spLocks noGrp="1"/>
          </p:cNvSpPr>
          <p:nvPr/>
        </p:nvSpPr>
        <p:spPr>
          <a:xfrm>
            <a:off x="762000" y="6238875"/>
            <a:ext cx="10287000" cy="304800"/>
          </a:xfrm>
          <a:prstGeom prst="rect">
            <a:avLst/>
          </a:prstGeom>
          <a:noFill/>
          <a:ln w="0">
            <a:noFill/>
          </a:ln>
        </p:spPr>
        <p:txBody>
          <a:bodyPr anchor="t">
            <a:noAutofit/>
          </a:bodyPr>
          <a:lstStyle/>
          <a:p>
            <a:pPr>
              <a:defRPr sz="1425" b="0">
                <a:solidFill>
                  <a:srgbClr val="496577"/>
                </a:solidFill>
                <a:latin typeface="Aptos"/>
                <a:ea typeface="Aptos"/>
                <a:cs typeface="Aptos"/>
              </a:defRPr>
            </a:pPr>
            <a:r>
              <a:rPr sz="1425" b="0">
                <a:solidFill>
                  <a:srgbClr val="496577"/>
                </a:solidFill>
                <a:latin typeface="Aptos"/>
                <a:ea typeface="Aptos"/>
                <a:cs typeface="Aptos"/>
              </a:rPr>
              <a:t>Lecture : E attend C et D avant l’assemblage.</a:t>
            </a:r>
          </a:p>
        </p:txBody>
      </p:sp>
      <p:sp>
        <p:nvSpPr>
          <p:cNvPr id="6" name="Rectangle 5">
            <a:extLst>
              <a:ext uri="{FF2B5EF4-FFF2-40B4-BE49-F238E27FC236}">
                <a16:creationId xmlns:a16="http://schemas.microsoft.com/office/drawing/2014/main" id="{774BC540-B629-4B7F-9438-2005A7AF55C4}"/>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29</a:t>
            </a:r>
          </a:p>
        </p:txBody>
      </p:sp>
    </p:spTree>
    <p:extLst>
      <p:ext uri="{BB962C8B-B14F-4D97-AF65-F5344CB8AC3E}">
        <p14:creationId xmlns:p14="http://schemas.microsoft.com/office/powerpoint/2010/main" val="8459436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0DAC4BB1-01A2-4B4A-B6DA-DD8431D68DB7}"/>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Chemin critique et marge</a:t>
            </a:r>
          </a:p>
        </p:txBody>
      </p:sp>
      <p:sp>
        <p:nvSpPr>
          <p:cNvPr id="4" name="Rectangle 3">
            <a:extLst>
              <a:ext uri="{FF2B5EF4-FFF2-40B4-BE49-F238E27FC236}">
                <a16:creationId xmlns:a16="http://schemas.microsoft.com/office/drawing/2014/main" id="{40B38E7D-3ED7-4972-A483-3D60915CE359}"/>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Quelle chaîne fixe la fin J10 ? ....................................</a:t>
            </a:r>
          </a:p>
          <a:p>
            <a:pPr>
              <a:defRPr sz="1950" b="0">
                <a:solidFill>
                  <a:srgbClr val="173651"/>
                </a:solidFill>
                <a:latin typeface="Aptos"/>
                <a:ea typeface="Aptos"/>
                <a:cs typeface="Aptos"/>
              </a:defRPr>
            </a:pPr>
            <a:r>
              <a:rPr sz="1950" b="0">
                <a:solidFill>
                  <a:srgbClr val="173651"/>
                </a:solidFill>
                <a:latin typeface="Aptos"/>
                <a:ea typeface="Aptos"/>
                <a:cs typeface="Aptos"/>
              </a:rPr>
              <a:t>D finit J4, mais E attend aussi C, qui finit J5.</a:t>
            </a:r>
          </a:p>
          <a:p>
            <a:pPr>
              <a:defRPr sz="1950" b="0">
                <a:solidFill>
                  <a:srgbClr val="173651"/>
                </a:solidFill>
                <a:latin typeface="Aptos"/>
                <a:ea typeface="Aptos"/>
                <a:cs typeface="Aptos"/>
              </a:defRPr>
            </a:pPr>
            <a:r>
              <a:rPr sz="1950" b="0">
                <a:solidFill>
                  <a:srgbClr val="173651"/>
                </a:solidFill>
                <a:latin typeface="Aptos"/>
                <a:ea typeface="Aptos"/>
                <a:cs typeface="Aptos"/>
              </a:rPr>
              <a:t>D peut prendre .... jour de retard sans décaler E : c’est sa ................ .</a:t>
            </a:r>
          </a:p>
        </p:txBody>
      </p:sp>
      <p:sp>
        <p:nvSpPr>
          <p:cNvPr id="5" name="Rectangle 4">
            <a:extLst>
              <a:ext uri="{FF2B5EF4-FFF2-40B4-BE49-F238E27FC236}">
                <a16:creationId xmlns:a16="http://schemas.microsoft.com/office/drawing/2014/main" id="{83B42B7F-B931-4EFA-A606-3A0EFA12CC51}"/>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Question de transfert</a:t>
            </a:r>
          </a:p>
        </p:txBody>
      </p:sp>
      <p:sp>
        <p:nvSpPr>
          <p:cNvPr id="6" name="Rectangle 5">
            <a:extLst>
              <a:ext uri="{FF2B5EF4-FFF2-40B4-BE49-F238E27FC236}">
                <a16:creationId xmlns:a16="http://schemas.microsoft.com/office/drawing/2014/main" id="{F6E80FD4-179A-459B-B2A1-E7A01C0E9199}"/>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Supposez que D prenne un jour de plus. Comparez sa nouvelle fin à celle de C, puis décidez si E doit être décalée. Justifiez le raisonnement avant de répondre.</a:t>
            </a:r>
          </a:p>
        </p:txBody>
      </p:sp>
      <p:sp>
        <p:nvSpPr>
          <p:cNvPr id="7" name="Rectangle 6">
            <a:extLst>
              <a:ext uri="{FF2B5EF4-FFF2-40B4-BE49-F238E27FC236}">
                <a16:creationId xmlns:a16="http://schemas.microsoft.com/office/drawing/2014/main" id="{ADCE2255-73CC-4C3C-8509-77B3B74E864B}"/>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30</a:t>
            </a:r>
          </a:p>
        </p:txBody>
      </p:sp>
    </p:spTree>
    <p:extLst>
      <p:ext uri="{BB962C8B-B14F-4D97-AF65-F5344CB8AC3E}">
        <p14:creationId xmlns:p14="http://schemas.microsoft.com/office/powerpoint/2010/main" val="9557712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FF5F8"/>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6679BC28-A574-4D7B-AEF4-20E984B6103B}"/>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Partie 4 · Utiliser un logiciel</a:t>
            </a:r>
          </a:p>
        </p:txBody>
      </p:sp>
      <p:sp>
        <p:nvSpPr>
          <p:cNvPr id="3" name="Rectangle 2">
            <a:extLst>
              <a:ext uri="{FF2B5EF4-FFF2-40B4-BE49-F238E27FC236}">
                <a16:creationId xmlns:a16="http://schemas.microsoft.com/office/drawing/2014/main" id="{11F61963-2801-427A-9C79-929B15B1ECE6}"/>
              </a:ext>
            </a:extLst>
          </p:cNvPr>
          <p:cNvSpPr>
            <a:spLocks noGrp="1"/>
          </p:cNvSpPr>
          <p:nvPr/>
        </p:nvSpPr>
        <p:spPr>
          <a:xfrm>
            <a:off x="733425" y="1438275"/>
            <a:ext cx="10572750" cy="400050"/>
          </a:xfrm>
          <a:prstGeom prst="rect">
            <a:avLst/>
          </a:prstGeom>
          <a:noFill/>
          <a:ln w="0">
            <a:noFill/>
          </a:ln>
        </p:spPr>
        <p:txBody>
          <a:bodyPr anchor="t">
            <a:noAutofit/>
          </a:bodyPr>
          <a:lstStyle/>
          <a:p>
            <a:pPr>
              <a:defRPr sz="1425" b="1">
                <a:solidFill>
                  <a:srgbClr val="23739A"/>
                </a:solidFill>
                <a:latin typeface="Aptos"/>
                <a:ea typeface="Aptos"/>
                <a:cs typeface="Aptos"/>
              </a:defRPr>
            </a:pPr>
            <a:r>
              <a:rPr sz="1425" b="1" dirty="0" err="1">
                <a:solidFill>
                  <a:srgbClr val="23739A"/>
                </a:solidFill>
                <a:latin typeface="Aptos"/>
                <a:ea typeface="Aptos"/>
                <a:cs typeface="Aptos"/>
              </a:rPr>
              <a:t>Démonstration</a:t>
            </a:r>
            <a:r>
              <a:rPr sz="1425" b="1" dirty="0">
                <a:solidFill>
                  <a:srgbClr val="23739A"/>
                </a:solidFill>
                <a:latin typeface="Aptos"/>
                <a:ea typeface="Aptos"/>
                <a:cs typeface="Aptos"/>
              </a:rPr>
              <a:t> </a:t>
            </a:r>
            <a:r>
              <a:rPr sz="1425" b="1" dirty="0" err="1">
                <a:solidFill>
                  <a:srgbClr val="23739A"/>
                </a:solidFill>
                <a:latin typeface="Aptos"/>
                <a:ea typeface="Aptos"/>
                <a:cs typeface="Aptos"/>
              </a:rPr>
              <a:t>guidée</a:t>
            </a:r>
            <a:r>
              <a:rPr sz="1425" b="1" dirty="0">
                <a:solidFill>
                  <a:srgbClr val="23739A"/>
                </a:solidFill>
                <a:latin typeface="Aptos"/>
                <a:ea typeface="Aptos"/>
                <a:cs typeface="Aptos"/>
              </a:rPr>
              <a:t> avec </a:t>
            </a:r>
            <a:r>
              <a:rPr sz="1425" b="1" dirty="0" err="1">
                <a:solidFill>
                  <a:srgbClr val="23739A"/>
                </a:solidFill>
                <a:latin typeface="Aptos"/>
                <a:ea typeface="Aptos"/>
                <a:cs typeface="Aptos"/>
              </a:rPr>
              <a:t>GanttProject</a:t>
            </a:r>
            <a:endParaRPr sz="1425" b="1" dirty="0">
              <a:solidFill>
                <a:srgbClr val="23739A"/>
              </a:solidFill>
              <a:latin typeface="Aptos"/>
              <a:ea typeface="Aptos"/>
              <a:cs typeface="Aptos"/>
            </a:endParaRPr>
          </a:p>
        </p:txBody>
      </p:sp>
      <p:sp>
        <p:nvSpPr>
          <p:cNvPr id="4" name="Rectangle 3">
            <a:extLst>
              <a:ext uri="{FF2B5EF4-FFF2-40B4-BE49-F238E27FC236}">
                <a16:creationId xmlns:a16="http://schemas.microsoft.com/office/drawing/2014/main" id="{C0E80BF0-5E36-4593-8204-AD3A96F4237F}"/>
              </a:ext>
            </a:extLst>
          </p:cNvPr>
          <p:cNvSpPr>
            <a:spLocks noGrp="1"/>
          </p:cNvSpPr>
          <p:nvPr/>
        </p:nvSpPr>
        <p:spPr>
          <a:xfrm>
            <a:off x="762000" y="2143125"/>
            <a:ext cx="10477500" cy="400050"/>
          </a:xfrm>
          <a:prstGeom prst="rect">
            <a:avLst/>
          </a:prstGeom>
          <a:noFill/>
          <a:ln w="0">
            <a:noFill/>
          </a:ln>
        </p:spPr>
        <p:txBody>
          <a:bodyPr anchor="t">
            <a:noAutofit/>
          </a:bodyPr>
          <a:lstStyle/>
          <a:p>
            <a:pPr>
              <a:defRPr sz="1575" b="1">
                <a:solidFill>
                  <a:srgbClr val="23739A"/>
                </a:solidFill>
                <a:latin typeface="Aptos"/>
                <a:ea typeface="Aptos"/>
                <a:cs typeface="Aptos"/>
              </a:defRPr>
            </a:pPr>
            <a:r>
              <a:rPr sz="1575" b="1">
                <a:solidFill>
                  <a:srgbClr val="23739A"/>
                </a:solidFill>
                <a:latin typeface="Aptos"/>
                <a:ea typeface="Aptos"/>
                <a:cs typeface="Aptos"/>
              </a:rPr>
              <a:t>COURS · 1re STI2D</a:t>
            </a:r>
          </a:p>
        </p:txBody>
      </p:sp>
      <p:sp>
        <p:nvSpPr>
          <p:cNvPr id="5" name="Rectangle 4">
            <a:extLst>
              <a:ext uri="{FF2B5EF4-FFF2-40B4-BE49-F238E27FC236}">
                <a16:creationId xmlns:a16="http://schemas.microsoft.com/office/drawing/2014/main" id="{6110C967-E7CD-490C-9161-074D8F36C2B5}"/>
              </a:ext>
            </a:extLst>
          </p:cNvPr>
          <p:cNvSpPr>
            <a:spLocks noGrp="1"/>
          </p:cNvSpPr>
          <p:nvPr/>
        </p:nvSpPr>
        <p:spPr>
          <a:xfrm>
            <a:off x="762000" y="2905125"/>
            <a:ext cx="10382250" cy="1809750"/>
          </a:xfrm>
          <a:prstGeom prst="rect">
            <a:avLst/>
          </a:prstGeom>
          <a:noFill/>
          <a:ln w="0">
            <a:noFill/>
          </a:ln>
        </p:spPr>
        <p:txBody>
          <a:bodyPr anchor="t">
            <a:noAutofit/>
          </a:bodyPr>
          <a:lstStyle/>
          <a:p>
            <a:pPr>
              <a:defRPr sz="2100" b="0">
                <a:solidFill>
                  <a:srgbClr val="173651"/>
                </a:solidFill>
                <a:latin typeface="Aptos"/>
                <a:ea typeface="Aptos"/>
                <a:cs typeface="Aptos"/>
              </a:defRPr>
            </a:pPr>
            <a:r>
              <a:rPr sz="2100" b="0">
                <a:solidFill>
                  <a:srgbClr val="173651"/>
                </a:solidFill>
                <a:latin typeface="Aptos"/>
                <a:ea typeface="Aptos"/>
                <a:cs typeface="Aptos"/>
              </a:rPr>
              <a:t>Nous reprendrons la borne solaire étudiée en binôme. Nous créerons les tâches, indiquerons leurs durées, ajouterons les liens et vérifierons si la date obtenue correspond à J10.</a:t>
            </a:r>
          </a:p>
        </p:txBody>
      </p:sp>
      <p:sp>
        <p:nvSpPr>
          <p:cNvPr id="6" name="Rectangle 5">
            <a:extLst>
              <a:ext uri="{FF2B5EF4-FFF2-40B4-BE49-F238E27FC236}">
                <a16:creationId xmlns:a16="http://schemas.microsoft.com/office/drawing/2014/main" id="{D3C4FB5E-6D27-47E1-A459-EDAC937B9A86}"/>
              </a:ext>
            </a:extLst>
          </p:cNvPr>
          <p:cNvSpPr>
            <a:spLocks noGrp="1"/>
          </p:cNvSpPr>
          <p:nvPr/>
        </p:nvSpPr>
        <p:spPr>
          <a:xfrm>
            <a:off x="762000" y="5362575"/>
            <a:ext cx="10477500" cy="714375"/>
          </a:xfrm>
          <a:prstGeom prst="rect">
            <a:avLst/>
          </a:prstGeom>
          <a:noFill/>
          <a:ln w="0">
            <a:noFill/>
          </a:ln>
        </p:spPr>
        <p:txBody>
          <a:bodyPr anchor="t">
            <a:noAutofit/>
          </a:bodyPr>
          <a:lstStyle/>
          <a:p>
            <a:pPr>
              <a:defRPr sz="1500" b="0">
                <a:solidFill>
                  <a:srgbClr val="496577"/>
                </a:solidFill>
                <a:latin typeface="Aptos"/>
                <a:ea typeface="Aptos"/>
                <a:cs typeface="Aptos"/>
              </a:defRPr>
            </a:pPr>
            <a:r>
              <a:rPr sz="1500" b="0">
                <a:solidFill>
                  <a:srgbClr val="496577"/>
                </a:solidFill>
                <a:latin typeface="Aptos"/>
                <a:ea typeface="Aptos"/>
                <a:cs typeface="Aptos"/>
              </a:rPr>
              <a:t>À l’issue de cette partie, je pourrai expliquer ou réaliser cette étape du planning.</a:t>
            </a:r>
          </a:p>
        </p:txBody>
      </p:sp>
      <p:sp>
        <p:nvSpPr>
          <p:cNvPr id="7" name="Rectangle 6">
            <a:extLst>
              <a:ext uri="{FF2B5EF4-FFF2-40B4-BE49-F238E27FC236}">
                <a16:creationId xmlns:a16="http://schemas.microsoft.com/office/drawing/2014/main" id="{1BFA0AF7-EB06-4572-BA7F-2663207ACC84}"/>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31</a:t>
            </a:r>
          </a:p>
        </p:txBody>
      </p:sp>
    </p:spTree>
    <p:extLst>
      <p:ext uri="{BB962C8B-B14F-4D97-AF65-F5344CB8AC3E}">
        <p14:creationId xmlns:p14="http://schemas.microsoft.com/office/powerpoint/2010/main" val="12550300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069B78CE-52A7-4B01-8799-67EDC2925CCE}"/>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Pourquoi utiliser GanttProject ?</a:t>
            </a:r>
          </a:p>
        </p:txBody>
      </p:sp>
      <p:sp>
        <p:nvSpPr>
          <p:cNvPr id="4" name="Rectangle 3">
            <a:extLst>
              <a:ext uri="{FF2B5EF4-FFF2-40B4-BE49-F238E27FC236}">
                <a16:creationId xmlns:a16="http://schemas.microsoft.com/office/drawing/2014/main" id="{EBFFBA84-2656-4A10-86A4-4E471077544A}"/>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GanttProject est un logiciel de bureau pour construire un planning. On y saisit les tâches et leur durée, puis on crée leurs liens. Le diagramme permet de relire les dates et de suivre le projet.</a:t>
            </a:r>
          </a:p>
          <a:p>
            <a:pPr>
              <a:defRPr sz="1950" b="0">
                <a:solidFill>
                  <a:srgbClr val="173651"/>
                </a:solidFill>
                <a:latin typeface="Aptos"/>
                <a:ea typeface="Aptos"/>
                <a:cs typeface="Aptos"/>
              </a:defRPr>
            </a:pPr>
            <a:r>
              <a:rPr sz="1950" b="0">
                <a:solidFill>
                  <a:srgbClr val="173651"/>
                </a:solidFill>
                <a:latin typeface="Aptos"/>
                <a:ea typeface="Aptos"/>
                <a:cs typeface="Aptos"/>
              </a:rPr>
              <a:t>L’intérêt pédagogique : modifier une tâche et observer comment son déplacement affecte les tâches qui en dépendent.</a:t>
            </a:r>
          </a:p>
        </p:txBody>
      </p:sp>
      <p:sp>
        <p:nvSpPr>
          <p:cNvPr id="5" name="Rectangle 4">
            <a:extLst>
              <a:ext uri="{FF2B5EF4-FFF2-40B4-BE49-F238E27FC236}">
                <a16:creationId xmlns:a16="http://schemas.microsoft.com/office/drawing/2014/main" id="{E246602F-C13D-459D-9D7B-5AF35D7FA012}"/>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Ce que le logiciel apporte</a:t>
            </a:r>
          </a:p>
        </p:txBody>
      </p:sp>
      <p:sp>
        <p:nvSpPr>
          <p:cNvPr id="6" name="Rectangle 5">
            <a:extLst>
              <a:ext uri="{FF2B5EF4-FFF2-40B4-BE49-F238E27FC236}">
                <a16:creationId xmlns:a16="http://schemas.microsoft.com/office/drawing/2014/main" id="{D91BC2CC-584C-4912-ABAC-1593573DAA79}"/>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La liste des tâches reste associée au calendrier et aux liens. En modifiant la durée d’une tâche, on peut examiner l’effet sur les suivantes. Le calcul automatique ne dispense pas de vérifier les dépendances saisies.</a:t>
            </a:r>
          </a:p>
        </p:txBody>
      </p:sp>
      <p:sp>
        <p:nvSpPr>
          <p:cNvPr id="7" name="Rectangle 6">
            <a:extLst>
              <a:ext uri="{FF2B5EF4-FFF2-40B4-BE49-F238E27FC236}">
                <a16:creationId xmlns:a16="http://schemas.microsoft.com/office/drawing/2014/main" id="{763C7018-129A-48C7-9740-EEAC6278087A}"/>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32</a:t>
            </a:r>
          </a:p>
        </p:txBody>
      </p:sp>
    </p:spTree>
    <p:extLst>
      <p:ext uri="{BB962C8B-B14F-4D97-AF65-F5344CB8AC3E}">
        <p14:creationId xmlns:p14="http://schemas.microsoft.com/office/powerpoint/2010/main" val="2640105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509FE0A9-67AC-4C95-A565-7A3AAA7B6431}"/>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GanttProject : créer un projet</a:t>
            </a:r>
          </a:p>
        </p:txBody>
      </p:sp>
      <p:sp>
        <p:nvSpPr>
          <p:cNvPr id="4" name="Rectangle 3">
            <a:extLst>
              <a:ext uri="{FF2B5EF4-FFF2-40B4-BE49-F238E27FC236}">
                <a16:creationId xmlns:a16="http://schemas.microsoft.com/office/drawing/2014/main" id="{6B807F88-55B1-465D-A656-679E0A9B452B}"/>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Créer « Borne USB solaire » avec une date de départ située un lundi. Vérifier que le calendrier travaille du lundi au vendredi.</a:t>
            </a:r>
          </a:p>
          <a:p>
            <a:pPr>
              <a:defRPr sz="1950" b="0">
                <a:solidFill>
                  <a:srgbClr val="173651"/>
                </a:solidFill>
                <a:latin typeface="Aptos"/>
                <a:ea typeface="Aptos"/>
                <a:cs typeface="Aptos"/>
              </a:defRPr>
            </a:pPr>
            <a:r>
              <a:rPr sz="1950" b="0">
                <a:solidFill>
                  <a:srgbClr val="173651"/>
                </a:solidFill>
                <a:latin typeface="Aptos"/>
                <a:ea typeface="Aptos"/>
                <a:cs typeface="Aptos"/>
              </a:rPr>
              <a:t>Ajouter A à G avec les durées du tableau. Tant qu’aucun lien n’est saisi, le logiciel ne connaît pas l’ordre logique des tâches : vérifier l’affichage avant de continuer.</a:t>
            </a:r>
          </a:p>
        </p:txBody>
      </p:sp>
      <p:sp>
        <p:nvSpPr>
          <p:cNvPr id="5" name="Rectangle 4">
            <a:extLst>
              <a:ext uri="{FF2B5EF4-FFF2-40B4-BE49-F238E27FC236}">
                <a16:creationId xmlns:a16="http://schemas.microsoft.com/office/drawing/2014/main" id="{B53A0A10-9962-471E-A45B-EC7D6993B227}"/>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Point à observer pendant la démonstration</a:t>
            </a:r>
          </a:p>
        </p:txBody>
      </p:sp>
      <p:sp>
        <p:nvSpPr>
          <p:cNvPr id="6" name="Rectangle 5">
            <a:extLst>
              <a:ext uri="{FF2B5EF4-FFF2-40B4-BE49-F238E27FC236}">
                <a16:creationId xmlns:a16="http://schemas.microsoft.com/office/drawing/2014/main" id="{0B6D495C-3949-4D68-AE3C-EA1F5AF77C33}"/>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Sur l’écran, distinguez la liste des tâches à gauche et leur représentation dans le temps à droite. Avant de créer les liens, cherchez pourquoi les barres ne suivent pas encore l’ordre prévu sur papier.</a:t>
            </a:r>
          </a:p>
        </p:txBody>
      </p:sp>
      <p:sp>
        <p:nvSpPr>
          <p:cNvPr id="7" name="Rectangle 6">
            <a:extLst>
              <a:ext uri="{FF2B5EF4-FFF2-40B4-BE49-F238E27FC236}">
                <a16:creationId xmlns:a16="http://schemas.microsoft.com/office/drawing/2014/main" id="{2D30725A-1022-49FD-8A72-C9A44C5F5824}"/>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33</a:t>
            </a:r>
          </a:p>
        </p:txBody>
      </p:sp>
    </p:spTree>
    <p:extLst>
      <p:ext uri="{BB962C8B-B14F-4D97-AF65-F5344CB8AC3E}">
        <p14:creationId xmlns:p14="http://schemas.microsoft.com/office/powerpoint/2010/main" val="2971244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18EDF4F5-A537-4BF0-9E29-1D7FFB91EDC1}"/>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GanttProject : relier les tâches</a:t>
            </a:r>
          </a:p>
        </p:txBody>
      </p:sp>
      <p:sp>
        <p:nvSpPr>
          <p:cNvPr id="4" name="Rectangle 3">
            <a:extLst>
              <a:ext uri="{FF2B5EF4-FFF2-40B4-BE49-F238E27FC236}">
                <a16:creationId xmlns:a16="http://schemas.microsoft.com/office/drawing/2014/main" id="{4DCE7E2E-A8AE-49E2-A0F5-7F618F942B2E}"/>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Créer les liens « fin puis début » : A avant B et D ; B avant C ; C et D avant E ; E avant F ; F avant G.</a:t>
            </a:r>
          </a:p>
          <a:p>
            <a:pPr>
              <a:defRPr sz="1950" b="0">
                <a:solidFill>
                  <a:srgbClr val="173651"/>
                </a:solidFill>
                <a:latin typeface="Aptos"/>
                <a:ea typeface="Aptos"/>
                <a:cs typeface="Aptos"/>
              </a:defRPr>
            </a:pPr>
            <a:r>
              <a:rPr sz="1950" b="0">
                <a:solidFill>
                  <a:srgbClr val="173651"/>
                </a:solidFill>
                <a:latin typeface="Aptos"/>
                <a:ea typeface="Aptos"/>
                <a:cs typeface="Aptos"/>
              </a:rPr>
              <a:t>Observer particulièrement E : elle attend la fin des deux branches. Vérifier la date finale et comparer avec le calcul manuel de J10.</a:t>
            </a:r>
          </a:p>
        </p:txBody>
      </p:sp>
      <p:sp>
        <p:nvSpPr>
          <p:cNvPr id="5" name="Rectangle 4">
            <a:extLst>
              <a:ext uri="{FF2B5EF4-FFF2-40B4-BE49-F238E27FC236}">
                <a16:creationId xmlns:a16="http://schemas.microsoft.com/office/drawing/2014/main" id="{293BE426-6D0E-4948-A3E1-93EFD094DF8C}"/>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Vérification indispensable</a:t>
            </a:r>
          </a:p>
        </p:txBody>
      </p:sp>
      <p:sp>
        <p:nvSpPr>
          <p:cNvPr id="6" name="Rectangle 5">
            <a:extLst>
              <a:ext uri="{FF2B5EF4-FFF2-40B4-BE49-F238E27FC236}">
                <a16:creationId xmlns:a16="http://schemas.microsoft.com/office/drawing/2014/main" id="{6D7EE441-0B3A-4B33-8A58-6CFE6A67EF52}"/>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L’assemblage E ne doit pas démarrer quand le seul schéma C est terminé si le support D manque encore. Créez les deux liens vers E puis relisez la position de sa barre.</a:t>
            </a:r>
          </a:p>
        </p:txBody>
      </p:sp>
      <p:sp>
        <p:nvSpPr>
          <p:cNvPr id="7" name="Rectangle 6">
            <a:extLst>
              <a:ext uri="{FF2B5EF4-FFF2-40B4-BE49-F238E27FC236}">
                <a16:creationId xmlns:a16="http://schemas.microsoft.com/office/drawing/2014/main" id="{13355567-89B1-4A35-BA09-BCF3ACC94AD2}"/>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34</a:t>
            </a:r>
          </a:p>
        </p:txBody>
      </p:sp>
    </p:spTree>
    <p:extLst>
      <p:ext uri="{BB962C8B-B14F-4D97-AF65-F5344CB8AC3E}">
        <p14:creationId xmlns:p14="http://schemas.microsoft.com/office/powerpoint/2010/main" val="7624239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1D3513B3-01BF-4394-A683-385F8B422E81}"/>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GanttProject : vérifier et enregistrer</a:t>
            </a:r>
          </a:p>
        </p:txBody>
      </p:sp>
      <p:sp>
        <p:nvSpPr>
          <p:cNvPr id="4" name="Rectangle 3">
            <a:extLst>
              <a:ext uri="{FF2B5EF4-FFF2-40B4-BE49-F238E27FC236}">
                <a16:creationId xmlns:a16="http://schemas.microsoft.com/office/drawing/2014/main" id="{5CBD1B99-DD70-4EA2-827F-039FA88B7E6E}"/>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Contrôler les noms, les durées, les précédents et les jours non travaillés. Enregistrer le fichier sous « Borne_USB_solaire ».</a:t>
            </a:r>
          </a:p>
          <a:p>
            <a:pPr>
              <a:defRPr sz="1950" b="0">
                <a:solidFill>
                  <a:srgbClr val="173651"/>
                </a:solidFill>
                <a:latin typeface="Aptos"/>
                <a:ea typeface="Aptos"/>
                <a:cs typeface="Aptos"/>
              </a:defRPr>
            </a:pPr>
            <a:r>
              <a:rPr sz="1950" b="0">
                <a:solidFill>
                  <a:srgbClr val="173651"/>
                </a:solidFill>
                <a:latin typeface="Aptos"/>
                <a:ea typeface="Aptos"/>
                <a:cs typeface="Aptos"/>
              </a:rPr>
              <a:t>Si le temps le permet, ajouter un jalon « Démonstration terminée » après la présentation : sa durée est nulle et il ne rajoute pas une journée de travail.</a:t>
            </a:r>
          </a:p>
        </p:txBody>
      </p:sp>
      <p:sp>
        <p:nvSpPr>
          <p:cNvPr id="5" name="Rectangle 4">
            <a:extLst>
              <a:ext uri="{FF2B5EF4-FFF2-40B4-BE49-F238E27FC236}">
                <a16:creationId xmlns:a16="http://schemas.microsoft.com/office/drawing/2014/main" id="{1B12EE21-2125-458B-972C-D52CBBFC8F4C}"/>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Contrôle final du fichier</a:t>
            </a:r>
          </a:p>
        </p:txBody>
      </p:sp>
      <p:sp>
        <p:nvSpPr>
          <p:cNvPr id="6" name="Rectangle 5">
            <a:extLst>
              <a:ext uri="{FF2B5EF4-FFF2-40B4-BE49-F238E27FC236}">
                <a16:creationId xmlns:a16="http://schemas.microsoft.com/office/drawing/2014/main" id="{291E49DF-8A00-4952-9B8D-C51ABA11A02D}"/>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Comparez les dates calculées par le logiciel à la grille J1–J10. En cas de différence, cherchez d’abord le calendrier utilisé et les liens manquants ; une date affichée n’est fiable que si les données du projet sont correctes.</a:t>
            </a:r>
          </a:p>
        </p:txBody>
      </p:sp>
      <p:sp>
        <p:nvSpPr>
          <p:cNvPr id="7" name="Rectangle 6">
            <a:extLst>
              <a:ext uri="{FF2B5EF4-FFF2-40B4-BE49-F238E27FC236}">
                <a16:creationId xmlns:a16="http://schemas.microsoft.com/office/drawing/2014/main" id="{65D5F618-6AF5-4725-8E4A-DD8133F09E8E}"/>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35</a:t>
            </a:r>
          </a:p>
        </p:txBody>
      </p:sp>
    </p:spTree>
    <p:extLst>
      <p:ext uri="{BB962C8B-B14F-4D97-AF65-F5344CB8AC3E}">
        <p14:creationId xmlns:p14="http://schemas.microsoft.com/office/powerpoint/2010/main" val="6165082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FF5F8"/>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9E8A9E86-3F17-4DD9-9709-AC94F5B8DE3F}"/>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Partie 5 · Suivre le projet</a:t>
            </a:r>
          </a:p>
        </p:txBody>
      </p:sp>
      <p:sp>
        <p:nvSpPr>
          <p:cNvPr id="3" name="Rectangle 2">
            <a:extLst>
              <a:ext uri="{FF2B5EF4-FFF2-40B4-BE49-F238E27FC236}">
                <a16:creationId xmlns:a16="http://schemas.microsoft.com/office/drawing/2014/main" id="{7EA3F4E7-3D8C-4F32-839E-06158F38721B}"/>
              </a:ext>
            </a:extLst>
          </p:cNvPr>
          <p:cNvSpPr>
            <a:spLocks noGrp="1"/>
          </p:cNvSpPr>
          <p:nvPr/>
        </p:nvSpPr>
        <p:spPr>
          <a:xfrm>
            <a:off x="733425" y="1438275"/>
            <a:ext cx="10572750" cy="400050"/>
          </a:xfrm>
          <a:prstGeom prst="rect">
            <a:avLst/>
          </a:prstGeom>
          <a:noFill/>
          <a:ln w="0">
            <a:noFill/>
          </a:ln>
        </p:spPr>
        <p:txBody>
          <a:bodyPr anchor="t">
            <a:noAutofit/>
          </a:bodyPr>
          <a:lstStyle/>
          <a:p>
            <a:pPr>
              <a:defRPr sz="1425" b="1">
                <a:solidFill>
                  <a:srgbClr val="23739A"/>
                </a:solidFill>
                <a:latin typeface="Aptos"/>
                <a:ea typeface="Aptos"/>
                <a:cs typeface="Aptos"/>
              </a:defRPr>
            </a:pPr>
            <a:r>
              <a:rPr sz="1425" b="1">
                <a:solidFill>
                  <a:srgbClr val="23739A"/>
                </a:solidFill>
                <a:latin typeface="Aptos"/>
                <a:ea typeface="Aptos"/>
                <a:cs typeface="Aptos"/>
              </a:rPr>
              <a:t>Une modification peut déplacer plusieurs tâches</a:t>
            </a:r>
          </a:p>
        </p:txBody>
      </p:sp>
      <p:sp>
        <p:nvSpPr>
          <p:cNvPr id="5" name="Rectangle 4">
            <a:extLst>
              <a:ext uri="{FF2B5EF4-FFF2-40B4-BE49-F238E27FC236}">
                <a16:creationId xmlns:a16="http://schemas.microsoft.com/office/drawing/2014/main" id="{1410A1C1-9CA3-44C8-A40F-7BCB141D2002}"/>
              </a:ext>
            </a:extLst>
          </p:cNvPr>
          <p:cNvSpPr>
            <a:spLocks noGrp="1"/>
          </p:cNvSpPr>
          <p:nvPr/>
        </p:nvSpPr>
        <p:spPr>
          <a:xfrm>
            <a:off x="762000" y="2905125"/>
            <a:ext cx="10382250" cy="1809750"/>
          </a:xfrm>
          <a:prstGeom prst="rect">
            <a:avLst/>
          </a:prstGeom>
          <a:noFill/>
          <a:ln w="0">
            <a:noFill/>
          </a:ln>
        </p:spPr>
        <p:txBody>
          <a:bodyPr anchor="t">
            <a:noAutofit/>
          </a:bodyPr>
          <a:lstStyle/>
          <a:p>
            <a:pPr>
              <a:defRPr sz="2100" b="0">
                <a:solidFill>
                  <a:srgbClr val="173651"/>
                </a:solidFill>
                <a:latin typeface="Aptos"/>
                <a:ea typeface="Aptos"/>
                <a:cs typeface="Aptos"/>
              </a:defRPr>
            </a:pPr>
            <a:r>
              <a:rPr sz="2100" b="0">
                <a:solidFill>
                  <a:srgbClr val="173651"/>
                </a:solidFill>
                <a:latin typeface="Aptos"/>
                <a:ea typeface="Aptos"/>
                <a:cs typeface="Aptos"/>
              </a:rPr>
              <a:t>Un retard sur une tâche ne repousse pas toujours la fin du projet d’autant. Nous modifierons la durée du support D, recalculerons la date finale sur papier, puis vérifierons dans le logiciel.</a:t>
            </a:r>
          </a:p>
        </p:txBody>
      </p:sp>
      <p:sp>
        <p:nvSpPr>
          <p:cNvPr id="7" name="Rectangle 6">
            <a:extLst>
              <a:ext uri="{FF2B5EF4-FFF2-40B4-BE49-F238E27FC236}">
                <a16:creationId xmlns:a16="http://schemas.microsoft.com/office/drawing/2014/main" id="{EE0518CB-A9EA-431D-8BB9-38763C52A69F}"/>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36</a:t>
            </a:r>
          </a:p>
        </p:txBody>
      </p:sp>
    </p:spTree>
    <p:extLst>
      <p:ext uri="{BB962C8B-B14F-4D97-AF65-F5344CB8AC3E}">
        <p14:creationId xmlns:p14="http://schemas.microsoft.com/office/powerpoint/2010/main" val="199897497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DE128996-895E-4CFA-A2B0-DD1883687607}"/>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Binôme 2 : un retard</a:t>
            </a:r>
          </a:p>
        </p:txBody>
      </p:sp>
      <p:sp>
        <p:nvSpPr>
          <p:cNvPr id="3" name="Rectangle 2">
            <a:extLst>
              <a:ext uri="{FF2B5EF4-FFF2-40B4-BE49-F238E27FC236}">
                <a16:creationId xmlns:a16="http://schemas.microsoft.com/office/drawing/2014/main" id="{F0D8750F-2A84-4DCD-9846-C04B9B3809A3}"/>
              </a:ext>
            </a:extLst>
          </p:cNvPr>
          <p:cNvSpPr>
            <a:spLocks noGrp="1"/>
          </p:cNvSpPr>
          <p:nvPr/>
        </p:nvSpPr>
        <p:spPr>
          <a:xfrm>
            <a:off x="733425" y="1438275"/>
            <a:ext cx="10572750" cy="400050"/>
          </a:xfrm>
          <a:prstGeom prst="rect">
            <a:avLst/>
          </a:prstGeom>
          <a:noFill/>
          <a:ln w="0">
            <a:noFill/>
          </a:ln>
        </p:spPr>
        <p:txBody>
          <a:bodyPr anchor="t">
            <a:noAutofit/>
          </a:bodyPr>
          <a:lstStyle/>
          <a:p>
            <a:pPr>
              <a:defRPr sz="1425" b="1">
                <a:solidFill>
                  <a:srgbClr val="23739A"/>
                </a:solidFill>
                <a:latin typeface="Aptos"/>
                <a:ea typeface="Aptos"/>
                <a:cs typeface="Aptos"/>
              </a:defRPr>
            </a:pPr>
            <a:r>
              <a:rPr sz="1425" b="1">
                <a:solidFill>
                  <a:srgbClr val="23739A"/>
                </a:solidFill>
                <a:latin typeface="Aptos"/>
                <a:ea typeface="Aptos"/>
                <a:cs typeface="Aptos"/>
              </a:rPr>
              <a:t>103–115 min · Replanification</a:t>
            </a:r>
          </a:p>
        </p:txBody>
      </p:sp>
      <p:sp>
        <p:nvSpPr>
          <p:cNvPr id="4" name="Rectangle 3">
            <a:extLst>
              <a:ext uri="{FF2B5EF4-FFF2-40B4-BE49-F238E27FC236}">
                <a16:creationId xmlns:a16="http://schemas.microsoft.com/office/drawing/2014/main" id="{51513D69-5182-4E3D-A08D-0DD0B19E7258}"/>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Le modèle du support D passe de 3 à 5 jours.</a:t>
            </a:r>
          </a:p>
          <a:p>
            <a:pPr>
              <a:defRPr sz="1950" b="0">
                <a:solidFill>
                  <a:srgbClr val="173651"/>
                </a:solidFill>
                <a:latin typeface="Aptos"/>
                <a:ea typeface="Aptos"/>
                <a:cs typeface="Aptos"/>
              </a:defRPr>
            </a:pPr>
            <a:r>
              <a:rPr sz="1950" b="0">
                <a:solidFill>
                  <a:srgbClr val="173651"/>
                </a:solidFill>
                <a:latin typeface="Aptos"/>
                <a:ea typeface="Aptos"/>
                <a:cs typeface="Aptos"/>
              </a:rPr>
              <a:t>Fin de D : J.... ; début de E : J.... ; début des tests F : J.... ; présentation G : J.....</a:t>
            </a:r>
          </a:p>
          <a:p>
            <a:pPr>
              <a:defRPr sz="1950" b="0">
                <a:solidFill>
                  <a:srgbClr val="173651"/>
                </a:solidFill>
                <a:latin typeface="Aptos"/>
                <a:ea typeface="Aptos"/>
                <a:cs typeface="Aptos"/>
              </a:defRPr>
            </a:pPr>
            <a:r>
              <a:rPr sz="1950" b="0">
                <a:solidFill>
                  <a:srgbClr val="173651"/>
                </a:solidFill>
                <a:latin typeface="Aptos"/>
                <a:ea typeface="Aptos"/>
                <a:cs typeface="Aptos"/>
              </a:rPr>
              <a:t>Recalculez sur papier, puis vérifiez dans GanttProject.</a:t>
            </a:r>
          </a:p>
        </p:txBody>
      </p:sp>
      <p:sp>
        <p:nvSpPr>
          <p:cNvPr id="5" name="Rectangle 4">
            <a:extLst>
              <a:ext uri="{FF2B5EF4-FFF2-40B4-BE49-F238E27FC236}">
                <a16:creationId xmlns:a16="http://schemas.microsoft.com/office/drawing/2014/main" id="{DA8D5D17-73F1-4E0D-B15B-DDF8F221165D}"/>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Question à résoudre</a:t>
            </a:r>
          </a:p>
        </p:txBody>
      </p:sp>
      <p:sp>
        <p:nvSpPr>
          <p:cNvPr id="6" name="Rectangle 5">
            <a:extLst>
              <a:ext uri="{FF2B5EF4-FFF2-40B4-BE49-F238E27FC236}">
                <a16:creationId xmlns:a16="http://schemas.microsoft.com/office/drawing/2014/main" id="{B7DEA571-C454-42DE-83BF-CAD1CEFEA040}"/>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Le retard de D vaut deux jours. Le retard du projet vaut-il nécessairement deux jours ? Appuyez votre réponse sur la date à laquelle l’assemblage E peut réellement commencer.</a:t>
            </a:r>
          </a:p>
        </p:txBody>
      </p:sp>
      <p:sp>
        <p:nvSpPr>
          <p:cNvPr id="7" name="Rectangle 6">
            <a:extLst>
              <a:ext uri="{FF2B5EF4-FFF2-40B4-BE49-F238E27FC236}">
                <a16:creationId xmlns:a16="http://schemas.microsoft.com/office/drawing/2014/main" id="{56A9BC07-359B-4E04-B308-E2021A26A931}"/>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37</a:t>
            </a:r>
          </a:p>
        </p:txBody>
      </p:sp>
    </p:spTree>
    <p:extLst>
      <p:ext uri="{BB962C8B-B14F-4D97-AF65-F5344CB8AC3E}">
        <p14:creationId xmlns:p14="http://schemas.microsoft.com/office/powerpoint/2010/main" val="89599201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7" name="Image 6"/>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5CE86A45-DCC0-4F20-81A6-B3CD9E153AF2}"/>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Après le retard : diagramme à compléter</a:t>
            </a:r>
          </a:p>
        </p:txBody>
      </p:sp>
      <p:graphicFrame>
        <p:nvGraphicFramePr>
          <p:cNvPr id="10" name="Tableau 9"/>
          <p:cNvGraphicFramePr/>
          <p:nvPr/>
        </p:nvGraphicFramePr>
        <p:xfrm>
          <a:off x="742950" y="2114550"/>
          <a:ext cx="10706097" cy="4000504"/>
        </p:xfrm>
        <a:graphic>
          <a:graphicData uri="http://schemas.openxmlformats.org/drawingml/2006/table">
            <a:tbl>
              <a:tblPr/>
              <a:tblGrid>
                <a:gridCol w="295275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559377">
                  <a:extLst>
                    <a:ext uri="{9D8B030D-6E8A-4147-A177-3AD203B41FA5}">
                      <a16:colId xmlns:a16="http://schemas.microsoft.com/office/drawing/2014/main" val="20003"/>
                    </a:ext>
                  </a:extLst>
                </a:gridCol>
                <a:gridCol w="559377">
                  <a:extLst>
                    <a:ext uri="{9D8B030D-6E8A-4147-A177-3AD203B41FA5}">
                      <a16:colId xmlns:a16="http://schemas.microsoft.com/office/drawing/2014/main" val="20004"/>
                    </a:ext>
                  </a:extLst>
                </a:gridCol>
                <a:gridCol w="559377">
                  <a:extLst>
                    <a:ext uri="{9D8B030D-6E8A-4147-A177-3AD203B41FA5}">
                      <a16:colId xmlns:a16="http://schemas.microsoft.com/office/drawing/2014/main" val="20005"/>
                    </a:ext>
                  </a:extLst>
                </a:gridCol>
                <a:gridCol w="559377">
                  <a:extLst>
                    <a:ext uri="{9D8B030D-6E8A-4147-A177-3AD203B41FA5}">
                      <a16:colId xmlns:a16="http://schemas.microsoft.com/office/drawing/2014/main" val="20006"/>
                    </a:ext>
                  </a:extLst>
                </a:gridCol>
                <a:gridCol w="559377">
                  <a:extLst>
                    <a:ext uri="{9D8B030D-6E8A-4147-A177-3AD203B41FA5}">
                      <a16:colId xmlns:a16="http://schemas.microsoft.com/office/drawing/2014/main" val="20007"/>
                    </a:ext>
                  </a:extLst>
                </a:gridCol>
                <a:gridCol w="559377">
                  <a:extLst>
                    <a:ext uri="{9D8B030D-6E8A-4147-A177-3AD203B41FA5}">
                      <a16:colId xmlns:a16="http://schemas.microsoft.com/office/drawing/2014/main" val="20008"/>
                    </a:ext>
                  </a:extLst>
                </a:gridCol>
                <a:gridCol w="559377">
                  <a:extLst>
                    <a:ext uri="{9D8B030D-6E8A-4147-A177-3AD203B41FA5}">
                      <a16:colId xmlns:a16="http://schemas.microsoft.com/office/drawing/2014/main" val="20009"/>
                    </a:ext>
                  </a:extLst>
                </a:gridCol>
                <a:gridCol w="559377">
                  <a:extLst>
                    <a:ext uri="{9D8B030D-6E8A-4147-A177-3AD203B41FA5}">
                      <a16:colId xmlns:a16="http://schemas.microsoft.com/office/drawing/2014/main" val="20010"/>
                    </a:ext>
                  </a:extLst>
                </a:gridCol>
                <a:gridCol w="559377">
                  <a:extLst>
                    <a:ext uri="{9D8B030D-6E8A-4147-A177-3AD203B41FA5}">
                      <a16:colId xmlns:a16="http://schemas.microsoft.com/office/drawing/2014/main" val="20011"/>
                    </a:ext>
                  </a:extLst>
                </a:gridCol>
                <a:gridCol w="559377">
                  <a:extLst>
                    <a:ext uri="{9D8B030D-6E8A-4147-A177-3AD203B41FA5}">
                      <a16:colId xmlns:a16="http://schemas.microsoft.com/office/drawing/2014/main" val="20012"/>
                    </a:ext>
                  </a:extLst>
                </a:gridCol>
                <a:gridCol w="559377">
                  <a:extLst>
                    <a:ext uri="{9D8B030D-6E8A-4147-A177-3AD203B41FA5}">
                      <a16:colId xmlns:a16="http://schemas.microsoft.com/office/drawing/2014/main" val="20013"/>
                    </a:ext>
                  </a:extLst>
                </a:gridCol>
              </a:tblGrid>
              <a:tr h="500063">
                <a:tc>
                  <a:txBody>
                    <a:bodyPr/>
                    <a:lstStyle/>
                    <a:p>
                      <a:r>
                        <a:rPr sz="1200" b="1">
                          <a:solidFill>
                            <a:srgbClr val="FFFFFF"/>
                          </a:solidFill>
                          <a:latin typeface="Aptos"/>
                          <a:ea typeface="Aptos"/>
                          <a:cs typeface="Aptos"/>
                        </a:rPr>
                        <a:t>Tâche</a:t>
                      </a:r>
                    </a:p>
                  </a:txBody>
                  <a:tcPr>
                    <a:solidFill>
                      <a:srgbClr val="15304B"/>
                    </a:solidFill>
                  </a:tcPr>
                </a:tc>
                <a:tc>
                  <a:txBody>
                    <a:bodyPr/>
                    <a:lstStyle/>
                    <a:p>
                      <a:r>
                        <a:rPr sz="1200" b="1">
                          <a:solidFill>
                            <a:srgbClr val="FFFFFF"/>
                          </a:solidFill>
                          <a:latin typeface="Aptos"/>
                          <a:ea typeface="Aptos"/>
                          <a:cs typeface="Aptos"/>
                        </a:rPr>
                        <a:t>Jours</a:t>
                      </a:r>
                    </a:p>
                  </a:txBody>
                  <a:tcPr>
                    <a:solidFill>
                      <a:srgbClr val="15304B"/>
                    </a:solidFill>
                  </a:tcPr>
                </a:tc>
                <a:tc>
                  <a:txBody>
                    <a:bodyPr/>
                    <a:lstStyle/>
                    <a:p>
                      <a:r>
                        <a:rPr sz="1200" b="1">
                          <a:solidFill>
                            <a:srgbClr val="FFFFFF"/>
                          </a:solidFill>
                          <a:latin typeface="Aptos"/>
                          <a:ea typeface="Aptos"/>
                          <a:cs typeface="Aptos"/>
                        </a:rPr>
                        <a:t>Après</a:t>
                      </a:r>
                    </a:p>
                  </a:txBody>
                  <a:tcPr>
                    <a:solidFill>
                      <a:srgbClr val="15304B"/>
                    </a:solidFill>
                  </a:tcPr>
                </a:tc>
                <a:tc>
                  <a:txBody>
                    <a:bodyPr/>
                    <a:lstStyle/>
                    <a:p>
                      <a:r>
                        <a:rPr sz="1200" b="1">
                          <a:solidFill>
                            <a:srgbClr val="FFFFFF"/>
                          </a:solidFill>
                          <a:latin typeface="Aptos"/>
                          <a:ea typeface="Aptos"/>
                          <a:cs typeface="Aptos"/>
                        </a:rPr>
                        <a:t>J1</a:t>
                      </a:r>
                    </a:p>
                  </a:txBody>
                  <a:tcPr>
                    <a:solidFill>
                      <a:srgbClr val="15304B"/>
                    </a:solidFill>
                  </a:tcPr>
                </a:tc>
                <a:tc>
                  <a:txBody>
                    <a:bodyPr/>
                    <a:lstStyle/>
                    <a:p>
                      <a:r>
                        <a:rPr sz="1200" b="1">
                          <a:solidFill>
                            <a:srgbClr val="FFFFFF"/>
                          </a:solidFill>
                          <a:latin typeface="Aptos"/>
                          <a:ea typeface="Aptos"/>
                          <a:cs typeface="Aptos"/>
                        </a:rPr>
                        <a:t>J2</a:t>
                      </a:r>
                    </a:p>
                  </a:txBody>
                  <a:tcPr>
                    <a:solidFill>
                      <a:srgbClr val="15304B"/>
                    </a:solidFill>
                  </a:tcPr>
                </a:tc>
                <a:tc>
                  <a:txBody>
                    <a:bodyPr/>
                    <a:lstStyle/>
                    <a:p>
                      <a:r>
                        <a:rPr sz="1200" b="1">
                          <a:solidFill>
                            <a:srgbClr val="FFFFFF"/>
                          </a:solidFill>
                          <a:latin typeface="Aptos"/>
                          <a:ea typeface="Aptos"/>
                          <a:cs typeface="Aptos"/>
                        </a:rPr>
                        <a:t>J3</a:t>
                      </a:r>
                    </a:p>
                  </a:txBody>
                  <a:tcPr>
                    <a:solidFill>
                      <a:srgbClr val="15304B"/>
                    </a:solidFill>
                  </a:tcPr>
                </a:tc>
                <a:tc>
                  <a:txBody>
                    <a:bodyPr/>
                    <a:lstStyle/>
                    <a:p>
                      <a:r>
                        <a:rPr sz="1200" b="1">
                          <a:solidFill>
                            <a:srgbClr val="FFFFFF"/>
                          </a:solidFill>
                          <a:latin typeface="Aptos"/>
                          <a:ea typeface="Aptos"/>
                          <a:cs typeface="Aptos"/>
                        </a:rPr>
                        <a:t>J4</a:t>
                      </a:r>
                    </a:p>
                  </a:txBody>
                  <a:tcPr>
                    <a:solidFill>
                      <a:srgbClr val="15304B"/>
                    </a:solidFill>
                  </a:tcPr>
                </a:tc>
                <a:tc>
                  <a:txBody>
                    <a:bodyPr/>
                    <a:lstStyle/>
                    <a:p>
                      <a:r>
                        <a:rPr sz="1200" b="1">
                          <a:solidFill>
                            <a:srgbClr val="FFFFFF"/>
                          </a:solidFill>
                          <a:latin typeface="Aptos"/>
                          <a:ea typeface="Aptos"/>
                          <a:cs typeface="Aptos"/>
                        </a:rPr>
                        <a:t>J5</a:t>
                      </a:r>
                    </a:p>
                  </a:txBody>
                  <a:tcPr>
                    <a:solidFill>
                      <a:srgbClr val="15304B"/>
                    </a:solidFill>
                  </a:tcPr>
                </a:tc>
                <a:tc>
                  <a:txBody>
                    <a:bodyPr/>
                    <a:lstStyle/>
                    <a:p>
                      <a:r>
                        <a:rPr sz="1200" b="1">
                          <a:solidFill>
                            <a:srgbClr val="FFFFFF"/>
                          </a:solidFill>
                          <a:latin typeface="Aptos"/>
                          <a:ea typeface="Aptos"/>
                          <a:cs typeface="Aptos"/>
                        </a:rPr>
                        <a:t>J6</a:t>
                      </a:r>
                    </a:p>
                  </a:txBody>
                  <a:tcPr>
                    <a:solidFill>
                      <a:srgbClr val="15304B"/>
                    </a:solidFill>
                  </a:tcPr>
                </a:tc>
                <a:tc>
                  <a:txBody>
                    <a:bodyPr/>
                    <a:lstStyle/>
                    <a:p>
                      <a:r>
                        <a:rPr sz="1200" b="1">
                          <a:solidFill>
                            <a:srgbClr val="FFFFFF"/>
                          </a:solidFill>
                          <a:latin typeface="Aptos"/>
                          <a:ea typeface="Aptos"/>
                          <a:cs typeface="Aptos"/>
                        </a:rPr>
                        <a:t>J7</a:t>
                      </a:r>
                    </a:p>
                  </a:txBody>
                  <a:tcPr>
                    <a:solidFill>
                      <a:srgbClr val="15304B"/>
                    </a:solidFill>
                  </a:tcPr>
                </a:tc>
                <a:tc>
                  <a:txBody>
                    <a:bodyPr/>
                    <a:lstStyle/>
                    <a:p>
                      <a:r>
                        <a:rPr sz="1200" b="1">
                          <a:solidFill>
                            <a:srgbClr val="FFFFFF"/>
                          </a:solidFill>
                          <a:latin typeface="Aptos"/>
                          <a:ea typeface="Aptos"/>
                          <a:cs typeface="Aptos"/>
                        </a:rPr>
                        <a:t>J8</a:t>
                      </a:r>
                    </a:p>
                  </a:txBody>
                  <a:tcPr>
                    <a:solidFill>
                      <a:srgbClr val="15304B"/>
                    </a:solidFill>
                  </a:tcPr>
                </a:tc>
                <a:tc>
                  <a:txBody>
                    <a:bodyPr/>
                    <a:lstStyle/>
                    <a:p>
                      <a:r>
                        <a:rPr sz="1200" b="1">
                          <a:solidFill>
                            <a:srgbClr val="FFFFFF"/>
                          </a:solidFill>
                          <a:latin typeface="Aptos"/>
                          <a:ea typeface="Aptos"/>
                          <a:cs typeface="Aptos"/>
                        </a:rPr>
                        <a:t>J9</a:t>
                      </a:r>
                    </a:p>
                  </a:txBody>
                  <a:tcPr>
                    <a:solidFill>
                      <a:srgbClr val="15304B"/>
                    </a:solidFill>
                  </a:tcPr>
                </a:tc>
                <a:tc>
                  <a:txBody>
                    <a:bodyPr/>
                    <a:lstStyle/>
                    <a:p>
                      <a:r>
                        <a:rPr sz="1200" b="1">
                          <a:solidFill>
                            <a:srgbClr val="FFFFFF"/>
                          </a:solidFill>
                          <a:latin typeface="Aptos"/>
                          <a:ea typeface="Aptos"/>
                          <a:cs typeface="Aptos"/>
                        </a:rPr>
                        <a:t>J10</a:t>
                      </a:r>
                    </a:p>
                  </a:txBody>
                  <a:tcPr>
                    <a:solidFill>
                      <a:srgbClr val="15304B"/>
                    </a:solidFill>
                  </a:tcPr>
                </a:tc>
                <a:tc>
                  <a:txBody>
                    <a:bodyPr/>
                    <a:lstStyle/>
                    <a:p>
                      <a:r>
                        <a:rPr sz="1200" b="1">
                          <a:solidFill>
                            <a:srgbClr val="FFFFFF"/>
                          </a:solidFill>
                          <a:latin typeface="Aptos"/>
                          <a:ea typeface="Aptos"/>
                          <a:cs typeface="Aptos"/>
                        </a:rPr>
                        <a:t>J11</a:t>
                      </a:r>
                    </a:p>
                  </a:txBody>
                  <a:tcPr>
                    <a:solidFill>
                      <a:srgbClr val="15304B"/>
                    </a:solidFill>
                  </a:tcPr>
                </a:tc>
                <a:extLst>
                  <a:ext uri="{0D108BD9-81ED-4DB2-BD59-A6C34878D82A}">
                    <a16:rowId xmlns:a16="http://schemas.microsoft.com/office/drawing/2014/main" val="10000"/>
                  </a:ext>
                </a:extLst>
              </a:tr>
              <a:tr h="500063">
                <a:tc>
                  <a:txBody>
                    <a:bodyPr/>
                    <a:lstStyle/>
                    <a:p>
                      <a:r>
                        <a:rPr sz="1275" b="0">
                          <a:solidFill>
                            <a:srgbClr val="173651"/>
                          </a:solidFill>
                          <a:latin typeface="Aptos"/>
                          <a:ea typeface="Aptos"/>
                          <a:cs typeface="Aptos"/>
                        </a:rPr>
                        <a:t>A  Étude du besoin</a:t>
                      </a:r>
                    </a:p>
                  </a:txBody>
                  <a:tcPr>
                    <a:solidFill>
                      <a:srgbClr val="FFFFFF"/>
                    </a:solidFill>
                  </a:tcPr>
                </a:tc>
                <a:tc>
                  <a:txBody>
                    <a:bodyPr/>
                    <a:lstStyle/>
                    <a:p>
                      <a:r>
                        <a:rPr sz="1275" b="0">
                          <a:solidFill>
                            <a:srgbClr val="173651"/>
                          </a:solidFill>
                          <a:latin typeface="Aptos"/>
                          <a:ea typeface="Aptos"/>
                          <a:cs typeface="Aptos"/>
                        </a:rPr>
                        <a:t>1</a:t>
                      </a:r>
                    </a:p>
                  </a:txBody>
                  <a:tcPr>
                    <a:solidFill>
                      <a:srgbClr val="FFFFFF"/>
                    </a:solidFill>
                  </a:tcPr>
                </a:tc>
                <a:tc>
                  <a:txBody>
                    <a:bodyPr/>
                    <a:lstStyle/>
                    <a:p>
                      <a:r>
                        <a:rPr sz="1275" b="0">
                          <a:solidFill>
                            <a:srgbClr val="173651"/>
                          </a:solidFill>
                          <a:latin typeface="Aptos"/>
                          <a:ea typeface="Aptos"/>
                          <a:cs typeface="Aptos"/>
                        </a:rPr>
                        <a:t>—</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1"/>
                  </a:ext>
                </a:extLst>
              </a:tr>
              <a:tr h="500063">
                <a:tc>
                  <a:txBody>
                    <a:bodyPr/>
                    <a:lstStyle/>
                    <a:p>
                      <a:r>
                        <a:rPr sz="1275" b="0">
                          <a:solidFill>
                            <a:srgbClr val="173651"/>
                          </a:solidFill>
                          <a:latin typeface="Aptos"/>
                          <a:ea typeface="Aptos"/>
                          <a:cs typeface="Aptos"/>
                        </a:rPr>
                        <a:t>B  Choix des composants</a:t>
                      </a:r>
                    </a:p>
                  </a:txBody>
                  <a:tcPr>
                    <a:solidFill>
                      <a:srgbClr val="EFF5F8"/>
                    </a:solidFill>
                  </a:tcPr>
                </a:tc>
                <a:tc>
                  <a:txBody>
                    <a:bodyPr/>
                    <a:lstStyle/>
                    <a:p>
                      <a:r>
                        <a:rPr sz="1275" b="0">
                          <a:solidFill>
                            <a:srgbClr val="173651"/>
                          </a:solidFill>
                          <a:latin typeface="Aptos"/>
                          <a:ea typeface="Aptos"/>
                          <a:cs typeface="Aptos"/>
                        </a:rPr>
                        <a:t>2</a:t>
                      </a:r>
                    </a:p>
                  </a:txBody>
                  <a:tcPr>
                    <a:solidFill>
                      <a:srgbClr val="EFF5F8"/>
                    </a:solidFill>
                  </a:tcPr>
                </a:tc>
                <a:tc>
                  <a:txBody>
                    <a:bodyPr/>
                    <a:lstStyle/>
                    <a:p>
                      <a:r>
                        <a:rPr sz="1275" b="0">
                          <a:solidFill>
                            <a:srgbClr val="173651"/>
                          </a:solidFill>
                          <a:latin typeface="Aptos"/>
                          <a:ea typeface="Aptos"/>
                          <a:cs typeface="Aptos"/>
                        </a:rPr>
                        <a:t>A</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2"/>
                  </a:ext>
                </a:extLst>
              </a:tr>
              <a:tr h="500063">
                <a:tc>
                  <a:txBody>
                    <a:bodyPr/>
                    <a:lstStyle/>
                    <a:p>
                      <a:r>
                        <a:rPr sz="1275" b="0">
                          <a:solidFill>
                            <a:srgbClr val="173651"/>
                          </a:solidFill>
                          <a:latin typeface="Aptos"/>
                          <a:ea typeface="Aptos"/>
                          <a:cs typeface="Aptos"/>
                        </a:rPr>
                        <a:t>C  Schéma électrique</a:t>
                      </a:r>
                    </a:p>
                  </a:txBody>
                  <a:tcPr>
                    <a:solidFill>
                      <a:srgbClr val="FFFFFF"/>
                    </a:solidFill>
                  </a:tcPr>
                </a:tc>
                <a:tc>
                  <a:txBody>
                    <a:bodyPr/>
                    <a:lstStyle/>
                    <a:p>
                      <a:r>
                        <a:rPr sz="1275" b="0">
                          <a:solidFill>
                            <a:srgbClr val="173651"/>
                          </a:solidFill>
                          <a:latin typeface="Aptos"/>
                          <a:ea typeface="Aptos"/>
                          <a:cs typeface="Aptos"/>
                        </a:rPr>
                        <a:t>2</a:t>
                      </a:r>
                    </a:p>
                  </a:txBody>
                  <a:tcPr>
                    <a:solidFill>
                      <a:srgbClr val="FFFFFF"/>
                    </a:solidFill>
                  </a:tcPr>
                </a:tc>
                <a:tc>
                  <a:txBody>
                    <a:bodyPr/>
                    <a:lstStyle/>
                    <a:p>
                      <a:r>
                        <a:rPr sz="1275" b="0">
                          <a:solidFill>
                            <a:srgbClr val="173651"/>
                          </a:solidFill>
                          <a:latin typeface="Aptos"/>
                          <a:ea typeface="Aptos"/>
                          <a:cs typeface="Aptos"/>
                        </a:rPr>
                        <a:t>B</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3"/>
                  </a:ext>
                </a:extLst>
              </a:tr>
              <a:tr h="500063">
                <a:tc>
                  <a:txBody>
                    <a:bodyPr/>
                    <a:lstStyle/>
                    <a:p>
                      <a:r>
                        <a:rPr sz="1275" b="0">
                          <a:solidFill>
                            <a:srgbClr val="173651"/>
                          </a:solidFill>
                          <a:latin typeface="Aptos"/>
                          <a:ea typeface="Aptos"/>
                          <a:cs typeface="Aptos"/>
                        </a:rPr>
                        <a:t>D  Modèle du support</a:t>
                      </a:r>
                    </a:p>
                  </a:txBody>
                  <a:tcPr>
                    <a:solidFill>
                      <a:srgbClr val="EFF5F8"/>
                    </a:solidFill>
                  </a:tcPr>
                </a:tc>
                <a:tc>
                  <a:txBody>
                    <a:bodyPr/>
                    <a:lstStyle/>
                    <a:p>
                      <a:r>
                        <a:rPr sz="1275" b="0">
                          <a:solidFill>
                            <a:srgbClr val="173651"/>
                          </a:solidFill>
                          <a:latin typeface="Aptos"/>
                          <a:ea typeface="Aptos"/>
                          <a:cs typeface="Aptos"/>
                        </a:rPr>
                        <a:t>5</a:t>
                      </a:r>
                    </a:p>
                  </a:txBody>
                  <a:tcPr>
                    <a:solidFill>
                      <a:srgbClr val="EFF5F8"/>
                    </a:solidFill>
                  </a:tcPr>
                </a:tc>
                <a:tc>
                  <a:txBody>
                    <a:bodyPr/>
                    <a:lstStyle/>
                    <a:p>
                      <a:r>
                        <a:rPr sz="1275" b="0">
                          <a:solidFill>
                            <a:srgbClr val="173651"/>
                          </a:solidFill>
                          <a:latin typeface="Aptos"/>
                          <a:ea typeface="Aptos"/>
                          <a:cs typeface="Aptos"/>
                        </a:rPr>
                        <a:t>A</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4"/>
                  </a:ext>
                </a:extLst>
              </a:tr>
              <a:tr h="500063">
                <a:tc>
                  <a:txBody>
                    <a:bodyPr/>
                    <a:lstStyle/>
                    <a:p>
                      <a:r>
                        <a:rPr sz="1275" b="0">
                          <a:solidFill>
                            <a:srgbClr val="173651"/>
                          </a:solidFill>
                          <a:latin typeface="Aptos"/>
                          <a:ea typeface="Aptos"/>
                          <a:cs typeface="Aptos"/>
                        </a:rPr>
                        <a:t>E  Assemblage</a:t>
                      </a:r>
                    </a:p>
                  </a:txBody>
                  <a:tcPr>
                    <a:solidFill>
                      <a:srgbClr val="FFFFFF"/>
                    </a:solidFill>
                  </a:tcPr>
                </a:tc>
                <a:tc>
                  <a:txBody>
                    <a:bodyPr/>
                    <a:lstStyle/>
                    <a:p>
                      <a:r>
                        <a:rPr sz="1275" b="0">
                          <a:solidFill>
                            <a:srgbClr val="173651"/>
                          </a:solidFill>
                          <a:latin typeface="Aptos"/>
                          <a:ea typeface="Aptos"/>
                          <a:cs typeface="Aptos"/>
                        </a:rPr>
                        <a:t>2</a:t>
                      </a:r>
                    </a:p>
                  </a:txBody>
                  <a:tcPr>
                    <a:solidFill>
                      <a:srgbClr val="FFFFFF"/>
                    </a:solidFill>
                  </a:tcPr>
                </a:tc>
                <a:tc>
                  <a:txBody>
                    <a:bodyPr/>
                    <a:lstStyle/>
                    <a:p>
                      <a:r>
                        <a:rPr sz="1275" b="0">
                          <a:solidFill>
                            <a:srgbClr val="173651"/>
                          </a:solidFill>
                          <a:latin typeface="Aptos"/>
                          <a:ea typeface="Aptos"/>
                          <a:cs typeface="Aptos"/>
                        </a:rPr>
                        <a:t>C et D</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5"/>
                  </a:ext>
                </a:extLst>
              </a:tr>
              <a:tr h="500063">
                <a:tc>
                  <a:txBody>
                    <a:bodyPr/>
                    <a:lstStyle/>
                    <a:p>
                      <a:r>
                        <a:rPr sz="1275" b="0">
                          <a:solidFill>
                            <a:srgbClr val="173651"/>
                          </a:solidFill>
                          <a:latin typeface="Aptos"/>
                          <a:ea typeface="Aptos"/>
                          <a:cs typeface="Aptos"/>
                        </a:rPr>
                        <a:t>F  Tests et validation</a:t>
                      </a:r>
                    </a:p>
                  </a:txBody>
                  <a:tcPr>
                    <a:solidFill>
                      <a:srgbClr val="EFF5F8"/>
                    </a:solidFill>
                  </a:tcPr>
                </a:tc>
                <a:tc>
                  <a:txBody>
                    <a:bodyPr/>
                    <a:lstStyle/>
                    <a:p>
                      <a:r>
                        <a:rPr sz="1275" b="0">
                          <a:solidFill>
                            <a:srgbClr val="173651"/>
                          </a:solidFill>
                          <a:latin typeface="Aptos"/>
                          <a:ea typeface="Aptos"/>
                          <a:cs typeface="Aptos"/>
                        </a:rPr>
                        <a:t>2</a:t>
                      </a:r>
                    </a:p>
                  </a:txBody>
                  <a:tcPr>
                    <a:solidFill>
                      <a:srgbClr val="EFF5F8"/>
                    </a:solidFill>
                  </a:tcPr>
                </a:tc>
                <a:tc>
                  <a:txBody>
                    <a:bodyPr/>
                    <a:lstStyle/>
                    <a:p>
                      <a:r>
                        <a:rPr sz="1275" b="0">
                          <a:solidFill>
                            <a:srgbClr val="173651"/>
                          </a:solidFill>
                          <a:latin typeface="Aptos"/>
                          <a:ea typeface="Aptos"/>
                          <a:cs typeface="Aptos"/>
                        </a:rPr>
                        <a:t>E</a:t>
                      </a: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tc>
                  <a:txBody>
                    <a:bodyPr/>
                    <a:lstStyle/>
                    <a:p>
                      <a:endParaRPr/>
                    </a:p>
                  </a:txBody>
                  <a:tcPr>
                    <a:solidFill>
                      <a:srgbClr val="EFF5F8"/>
                    </a:solidFill>
                  </a:tcPr>
                </a:tc>
                <a:extLst>
                  <a:ext uri="{0D108BD9-81ED-4DB2-BD59-A6C34878D82A}">
                    <a16:rowId xmlns:a16="http://schemas.microsoft.com/office/drawing/2014/main" val="10006"/>
                  </a:ext>
                </a:extLst>
              </a:tr>
              <a:tr h="500063">
                <a:tc>
                  <a:txBody>
                    <a:bodyPr/>
                    <a:lstStyle/>
                    <a:p>
                      <a:r>
                        <a:rPr sz="1275" b="0">
                          <a:solidFill>
                            <a:srgbClr val="173651"/>
                          </a:solidFill>
                          <a:latin typeface="Aptos"/>
                          <a:ea typeface="Aptos"/>
                          <a:cs typeface="Aptos"/>
                        </a:rPr>
                        <a:t>G  Présentation</a:t>
                      </a:r>
                    </a:p>
                  </a:txBody>
                  <a:tcPr>
                    <a:solidFill>
                      <a:srgbClr val="FFFFFF"/>
                    </a:solidFill>
                  </a:tcPr>
                </a:tc>
                <a:tc>
                  <a:txBody>
                    <a:bodyPr/>
                    <a:lstStyle/>
                    <a:p>
                      <a:r>
                        <a:rPr sz="1275" b="0">
                          <a:solidFill>
                            <a:srgbClr val="173651"/>
                          </a:solidFill>
                          <a:latin typeface="Aptos"/>
                          <a:ea typeface="Aptos"/>
                          <a:cs typeface="Aptos"/>
                        </a:rPr>
                        <a:t>1</a:t>
                      </a:r>
                    </a:p>
                  </a:txBody>
                  <a:tcPr>
                    <a:solidFill>
                      <a:srgbClr val="FFFFFF"/>
                    </a:solidFill>
                  </a:tcPr>
                </a:tc>
                <a:tc>
                  <a:txBody>
                    <a:bodyPr/>
                    <a:lstStyle/>
                    <a:p>
                      <a:r>
                        <a:rPr sz="1275" b="0">
                          <a:solidFill>
                            <a:srgbClr val="173651"/>
                          </a:solidFill>
                          <a:latin typeface="Aptos"/>
                          <a:ea typeface="Aptos"/>
                          <a:cs typeface="Aptos"/>
                        </a:rPr>
                        <a:t>F</a:t>
                      </a: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tc>
                  <a:txBody>
                    <a:bodyPr/>
                    <a:lstStyle/>
                    <a:p>
                      <a:endParaRPr/>
                    </a:p>
                  </a:txBody>
                  <a:tcPr>
                    <a:solidFill>
                      <a:srgbClr val="FFFFFF"/>
                    </a:solidFill>
                  </a:tcPr>
                </a:tc>
                <a:extLst>
                  <a:ext uri="{0D108BD9-81ED-4DB2-BD59-A6C34878D82A}">
                    <a16:rowId xmlns:a16="http://schemas.microsoft.com/office/drawing/2014/main" val="10007"/>
                  </a:ext>
                </a:extLst>
              </a:tr>
            </a:tbl>
          </a:graphicData>
        </a:graphic>
      </p:graphicFrame>
      <p:sp>
        <p:nvSpPr>
          <p:cNvPr id="5" name="Rectangle 4">
            <a:extLst>
              <a:ext uri="{FF2B5EF4-FFF2-40B4-BE49-F238E27FC236}">
                <a16:creationId xmlns:a16="http://schemas.microsoft.com/office/drawing/2014/main" id="{7D0FF66D-BC77-4A67-8C27-14B9B13CAAF1}"/>
              </a:ext>
            </a:extLst>
          </p:cNvPr>
          <p:cNvSpPr>
            <a:spLocks noGrp="1"/>
          </p:cNvSpPr>
          <p:nvPr/>
        </p:nvSpPr>
        <p:spPr>
          <a:xfrm>
            <a:off x="762000" y="6238875"/>
            <a:ext cx="10287000" cy="304800"/>
          </a:xfrm>
          <a:prstGeom prst="rect">
            <a:avLst/>
          </a:prstGeom>
          <a:noFill/>
          <a:ln w="0">
            <a:noFill/>
          </a:ln>
        </p:spPr>
        <p:txBody>
          <a:bodyPr anchor="t">
            <a:noAutofit/>
          </a:bodyPr>
          <a:lstStyle/>
          <a:p>
            <a:pPr>
              <a:defRPr sz="1425" b="0">
                <a:solidFill>
                  <a:srgbClr val="496577"/>
                </a:solidFill>
                <a:latin typeface="Aptos"/>
                <a:ea typeface="Aptos"/>
                <a:cs typeface="Aptos"/>
              </a:defRPr>
            </a:pPr>
            <a:r>
              <a:rPr sz="1425" b="0">
                <a:solidFill>
                  <a:srgbClr val="496577"/>
                </a:solidFill>
                <a:latin typeface="Aptos"/>
                <a:ea typeface="Aptos"/>
                <a:cs typeface="Aptos"/>
              </a:rPr>
              <a:t>Lecture : E attend C et D avant l’assemblage.</a:t>
            </a:r>
          </a:p>
        </p:txBody>
      </p:sp>
      <p:sp>
        <p:nvSpPr>
          <p:cNvPr id="6" name="Rectangle 5">
            <a:extLst>
              <a:ext uri="{FF2B5EF4-FFF2-40B4-BE49-F238E27FC236}">
                <a16:creationId xmlns:a16="http://schemas.microsoft.com/office/drawing/2014/main" id="{3E10D81D-1C64-4ACE-A783-645EC5916755}"/>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38</a:t>
            </a:r>
          </a:p>
        </p:txBody>
      </p:sp>
    </p:spTree>
    <p:extLst>
      <p:ext uri="{BB962C8B-B14F-4D97-AF65-F5344CB8AC3E}">
        <p14:creationId xmlns:p14="http://schemas.microsoft.com/office/powerpoint/2010/main" val="6756519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16DA0387-A77D-4658-B54E-FAB1C93F03AA}"/>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Ce que je dois retenir</a:t>
            </a:r>
          </a:p>
        </p:txBody>
      </p:sp>
      <p:sp>
        <p:nvSpPr>
          <p:cNvPr id="4" name="Rectangle 3">
            <a:extLst>
              <a:ext uri="{FF2B5EF4-FFF2-40B4-BE49-F238E27FC236}">
                <a16:creationId xmlns:a16="http://schemas.microsoft.com/office/drawing/2014/main" id="{BE0A3962-00A7-411D-994C-D0314677B258}"/>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Un Gantt représente les ............ d’un projet sur une échelle de ............ . Une barre indique le début, la ............ et la fin.</a:t>
            </a:r>
          </a:p>
          <a:p>
            <a:pPr>
              <a:defRPr sz="1950" b="0">
                <a:solidFill>
                  <a:srgbClr val="173651"/>
                </a:solidFill>
                <a:latin typeface="Aptos"/>
                <a:ea typeface="Aptos"/>
                <a:cs typeface="Aptos"/>
              </a:defRPr>
            </a:pPr>
            <a:r>
              <a:rPr sz="1950" b="0">
                <a:solidFill>
                  <a:srgbClr val="173651"/>
                </a:solidFill>
                <a:latin typeface="Aptos"/>
                <a:ea typeface="Aptos"/>
                <a:cs typeface="Aptos"/>
              </a:rPr>
              <a:t>Après un retard, je vérifie les ............ et la ............ de la tâche pour connaître son effet sur la date finale.</a:t>
            </a:r>
          </a:p>
        </p:txBody>
      </p:sp>
      <p:sp>
        <p:nvSpPr>
          <p:cNvPr id="5" name="Rectangle 4">
            <a:extLst>
              <a:ext uri="{FF2B5EF4-FFF2-40B4-BE49-F238E27FC236}">
                <a16:creationId xmlns:a16="http://schemas.microsoft.com/office/drawing/2014/main" id="{53744325-ACFB-4425-9174-1B7507E8B85F}"/>
              </a:ext>
            </a:extLst>
          </p:cNvPr>
          <p:cNvSpPr>
            <a:spLocks noGrp="1"/>
          </p:cNvSpPr>
          <p:nvPr/>
        </p:nvSpPr>
        <p:spPr>
          <a:xfrm>
            <a:off x="762000" y="4619625"/>
            <a:ext cx="10477500" cy="342900"/>
          </a:xfrm>
          <a:prstGeom prst="rect">
            <a:avLst/>
          </a:prstGeom>
          <a:noFill/>
          <a:ln w="0">
            <a:noFill/>
          </a:ln>
        </p:spPr>
        <p:txBody>
          <a:bodyPr anchor="t">
            <a:noAutofit/>
          </a:bodyPr>
          <a:lstStyle/>
          <a:p>
            <a:pPr>
              <a:defRPr sz="1500" b="1">
                <a:solidFill>
                  <a:srgbClr val="23739A"/>
                </a:solidFill>
                <a:latin typeface="Aptos"/>
                <a:ea typeface="Aptos"/>
                <a:cs typeface="Aptos"/>
              </a:defRPr>
            </a:pPr>
            <a:r>
              <a:rPr sz="1500" b="1">
                <a:solidFill>
                  <a:srgbClr val="23739A"/>
                </a:solidFill>
                <a:latin typeface="Aptos"/>
                <a:ea typeface="Aptos"/>
                <a:cs typeface="Aptos"/>
              </a:rPr>
              <a:t>Test de compréhension</a:t>
            </a:r>
          </a:p>
        </p:txBody>
      </p:sp>
      <p:sp>
        <p:nvSpPr>
          <p:cNvPr id="6" name="Rectangle 5">
            <a:extLst>
              <a:ext uri="{FF2B5EF4-FFF2-40B4-BE49-F238E27FC236}">
                <a16:creationId xmlns:a16="http://schemas.microsoft.com/office/drawing/2014/main" id="{DE3E198C-CD3A-4309-B1AD-9D0BBBCB0E66}"/>
              </a:ext>
            </a:extLst>
          </p:cNvPr>
          <p:cNvSpPr>
            <a:spLocks noGrp="1"/>
          </p:cNvSpPr>
          <p:nvPr/>
        </p:nvSpPr>
        <p:spPr>
          <a:xfrm>
            <a:off x="762000" y="5000625"/>
            <a:ext cx="10477500" cy="1257300"/>
          </a:xfrm>
          <a:prstGeom prst="rect">
            <a:avLst/>
          </a:prstGeom>
          <a:noFill/>
          <a:ln w="0">
            <a:noFill/>
          </a:ln>
        </p:spPr>
        <p:txBody>
          <a:bodyPr anchor="t">
            <a:noAutofit/>
          </a:bodyPr>
          <a:lstStyle/>
          <a:p>
            <a:pPr>
              <a:defRPr sz="1575" b="0">
                <a:solidFill>
                  <a:srgbClr val="173651"/>
                </a:solidFill>
                <a:latin typeface="Aptos"/>
                <a:ea typeface="Aptos"/>
                <a:cs typeface="Aptos"/>
              </a:defRPr>
            </a:pPr>
            <a:r>
              <a:rPr sz="1575" b="0">
                <a:solidFill>
                  <a:srgbClr val="173651"/>
                </a:solidFill>
                <a:latin typeface="Aptos"/>
                <a:ea typeface="Aptos"/>
                <a:cs typeface="Aptos"/>
              </a:rPr>
              <a:t>Pour expliquer un Gantt à quelqu’un d’autre, je dois pouvoir lire une barre, justifier un lien entre deux tâches, repérer un chevauchement et calculer l’effet d’un retard.</a:t>
            </a:r>
          </a:p>
        </p:txBody>
      </p:sp>
      <p:sp>
        <p:nvSpPr>
          <p:cNvPr id="7" name="Rectangle 6">
            <a:extLst>
              <a:ext uri="{FF2B5EF4-FFF2-40B4-BE49-F238E27FC236}">
                <a16:creationId xmlns:a16="http://schemas.microsoft.com/office/drawing/2014/main" id="{2F36FB83-1607-4E97-B5AB-21BDFD58C870}"/>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39</a:t>
            </a:r>
          </a:p>
        </p:txBody>
      </p:sp>
    </p:spTree>
    <p:extLst>
      <p:ext uri="{BB962C8B-B14F-4D97-AF65-F5344CB8AC3E}">
        <p14:creationId xmlns:p14="http://schemas.microsoft.com/office/powerpoint/2010/main" val="4903304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6" name="Image 5"/>
          <p:cNvPicPr>
            <a:picLocks noChangeAspect="1"/>
          </p:cNvPicPr>
          <p:nvPr/>
        </p:nvPicPr>
        <p:blipFill>
          <a:blip r:embed="rId3"/>
          <a:stretch/>
        </p:blipFill>
        <p:spPr>
          <a:xfrm>
            <a:off x="9867900" y="303693"/>
            <a:ext cx="1771650" cy="392739"/>
          </a:xfrm>
          <a:prstGeom prst="rect">
            <a:avLst/>
          </a:prstGeom>
        </p:spPr>
      </p:pic>
      <p:sp>
        <p:nvSpPr>
          <p:cNvPr id="2" name="Rectangle 1">
            <a:extLst>
              <a:ext uri="{FF2B5EF4-FFF2-40B4-BE49-F238E27FC236}">
                <a16:creationId xmlns:a16="http://schemas.microsoft.com/office/drawing/2014/main" id="{57F5AFE1-3C77-4116-9B68-9CD4EEE5818F}"/>
              </a:ext>
            </a:extLst>
          </p:cNvPr>
          <p:cNvSpPr>
            <a:spLocks noGrp="1"/>
          </p:cNvSpPr>
          <p:nvPr/>
        </p:nvSpPr>
        <p:spPr>
          <a:xfrm>
            <a:off x="704850" y="609600"/>
            <a:ext cx="10572750" cy="714375"/>
          </a:xfrm>
          <a:prstGeom prst="rect">
            <a:avLst/>
          </a:prstGeom>
          <a:noFill/>
          <a:ln w="0">
            <a:noFill/>
          </a:ln>
        </p:spPr>
        <p:txBody>
          <a:bodyPr anchor="t">
            <a:noAutofit/>
          </a:bodyPr>
          <a:lstStyle/>
          <a:p>
            <a:pPr>
              <a:defRPr sz="2700" b="1">
                <a:solidFill>
                  <a:srgbClr val="15304B"/>
                </a:solidFill>
                <a:latin typeface="Aptos"/>
                <a:ea typeface="Aptos"/>
                <a:cs typeface="Aptos"/>
              </a:defRPr>
            </a:pPr>
            <a:r>
              <a:rPr sz="2700" b="1">
                <a:solidFill>
                  <a:srgbClr val="15304B"/>
                </a:solidFill>
                <a:latin typeface="Aptos"/>
                <a:ea typeface="Aptos"/>
                <a:cs typeface="Aptos"/>
              </a:rPr>
              <a:t>Vérification rapide</a:t>
            </a:r>
          </a:p>
        </p:txBody>
      </p:sp>
      <p:sp>
        <p:nvSpPr>
          <p:cNvPr id="4" name="Rectangle 3">
            <a:extLst>
              <a:ext uri="{FF2B5EF4-FFF2-40B4-BE49-F238E27FC236}">
                <a16:creationId xmlns:a16="http://schemas.microsoft.com/office/drawing/2014/main" id="{E5610AF1-C42E-47AE-A4B4-A95E4BE8988D}"/>
              </a:ext>
            </a:extLst>
          </p:cNvPr>
          <p:cNvSpPr>
            <a:spLocks noGrp="1"/>
          </p:cNvSpPr>
          <p:nvPr/>
        </p:nvSpPr>
        <p:spPr>
          <a:xfrm>
            <a:off x="762000" y="2143125"/>
            <a:ext cx="10477500" cy="3762375"/>
          </a:xfrm>
          <a:prstGeom prst="rect">
            <a:avLst/>
          </a:prstGeom>
          <a:noFill/>
          <a:ln w="0">
            <a:noFill/>
          </a:ln>
        </p:spPr>
        <p:txBody>
          <a:bodyPr anchor="t">
            <a:noAutofit/>
          </a:bodyPr>
          <a:lstStyle/>
          <a:p>
            <a:pPr>
              <a:defRPr sz="1950" b="0">
                <a:solidFill>
                  <a:srgbClr val="173651"/>
                </a:solidFill>
                <a:latin typeface="Aptos"/>
                <a:ea typeface="Aptos"/>
                <a:cs typeface="Aptos"/>
              </a:defRPr>
            </a:pPr>
            <a:r>
              <a:rPr sz="1950" b="0">
                <a:solidFill>
                  <a:srgbClr val="173651"/>
                </a:solidFill>
                <a:latin typeface="Aptos"/>
                <a:ea typeface="Aptos"/>
                <a:cs typeface="Aptos"/>
              </a:rPr>
              <a:t>Si D finit J5 au lieu de J4, la présentation est-elle reportée ?</a:t>
            </a:r>
          </a:p>
          <a:p>
            <a:pPr>
              <a:defRPr sz="1950" b="0">
                <a:solidFill>
                  <a:srgbClr val="173651"/>
                </a:solidFill>
                <a:latin typeface="Aptos"/>
                <a:ea typeface="Aptos"/>
                <a:cs typeface="Aptos"/>
              </a:defRPr>
            </a:pPr>
            <a:r>
              <a:rPr sz="1950" b="0">
                <a:solidFill>
                  <a:srgbClr val="173651"/>
                </a:solidFill>
                <a:latin typeface="Aptos"/>
                <a:ea typeface="Aptos"/>
                <a:cs typeface="Aptos"/>
              </a:rPr>
              <a:t>Répondez en une phrase en citant la fin de C et le début de E : ........................................................</a:t>
            </a:r>
          </a:p>
        </p:txBody>
      </p:sp>
      <p:sp>
        <p:nvSpPr>
          <p:cNvPr id="5" name="Rectangle 4">
            <a:extLst>
              <a:ext uri="{FF2B5EF4-FFF2-40B4-BE49-F238E27FC236}">
                <a16:creationId xmlns:a16="http://schemas.microsoft.com/office/drawing/2014/main" id="{B8A66CFD-1845-4E7B-8B83-F2A6CD98A18C}"/>
              </a:ext>
            </a:extLst>
          </p:cNvPr>
          <p:cNvSpPr>
            <a:spLocks noGrp="1"/>
          </p:cNvSpPr>
          <p:nvPr/>
        </p:nvSpPr>
        <p:spPr>
          <a:xfrm>
            <a:off x="11430000" y="6419850"/>
            <a:ext cx="428625" cy="228600"/>
          </a:xfrm>
          <a:prstGeom prst="rect">
            <a:avLst/>
          </a:prstGeom>
          <a:noFill/>
          <a:ln w="0">
            <a:noFill/>
          </a:ln>
        </p:spPr>
        <p:txBody>
          <a:bodyPr anchor="t">
            <a:noAutofit/>
          </a:bodyPr>
          <a:lstStyle/>
          <a:p>
            <a:pPr>
              <a:defRPr sz="1050" b="0">
                <a:solidFill>
                  <a:srgbClr val="496577"/>
                </a:solidFill>
                <a:latin typeface="Aptos"/>
                <a:ea typeface="Aptos"/>
                <a:cs typeface="Aptos"/>
              </a:defRPr>
            </a:pPr>
            <a:r>
              <a:rPr sz="1050" b="0">
                <a:solidFill>
                  <a:srgbClr val="496577"/>
                </a:solidFill>
                <a:latin typeface="Aptos"/>
                <a:ea typeface="Aptos"/>
                <a:cs typeface="Aptos"/>
              </a:rPr>
              <a:t>40</a:t>
            </a:r>
          </a:p>
        </p:txBody>
      </p:sp>
    </p:spTree>
    <p:extLst>
      <p:ext uri="{BB962C8B-B14F-4D97-AF65-F5344CB8AC3E}">
        <p14:creationId xmlns:p14="http://schemas.microsoft.com/office/powerpoint/2010/main" val="84765697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3021</Words>
  <Application>Microsoft Office PowerPoint</Application>
  <DocSecurity>0</DocSecurity>
  <PresentationFormat>Grand écran</PresentationFormat>
  <Paragraphs>440</Paragraphs>
  <Slides>39</Slides>
  <Notes>39</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39</vt:i4>
      </vt:variant>
    </vt:vector>
  </HeadingPairs>
  <TitlesOfParts>
    <vt:vector size="42" baseType="lpstr">
      <vt:lpstr>Aptos</vt:lpstr>
      <vt:lpstr>Calibri</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Kristof</cp:lastModifiedBy>
  <cp:revision>2</cp:revision>
  <dcterms:created xsi:type="dcterms:W3CDTF">2026-09-20T09:07:45Z</dcterms:created>
  <dcterms:modified xsi:type="dcterms:W3CDTF">2026-09-20T09:18:06Z</dcterms:modified>
</cp:coreProperties>
</file>